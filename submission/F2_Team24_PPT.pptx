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and the central claim: HOPTRACE estimates where along an observed network path an application's degradation appears to begin. Mention up front that it is a research prototype and that the current detector has not been independently validated.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when an application slows down, ping and traceroute describe the path but not what the application experienced, and application monitoring sees the symptom but not the path. HOPTRACE puts both on one clock. Stress the boundary of the claim: when changes appear, not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on the left. On the right, what is in scope and, just as importantly, what is explicitly out of scope and not claimed: real networks, calibrated confidence, and reliable localization of loss and bandwidth faults.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four-step loop. Measure on one monotonic clock; detect an onset per series using median plus five MAD, requiring three buckets in a row; align the application onset with hop onsets inside a 1.5 second window, requiring downstream persistence; report using a locked, evidence-bounded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kept apart on purpose. Top: observation and analysis, which reads no ground truth. Bottom: experiment control and evaluation. The fault controller injects real impairments into the testbed and records labels in a permission-isolated store; the evaluation joins results to labels only afterwards. The dashboard shows stored bundles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Linux network namespaces in a line: client, four routers, server, joined by veth pairs on /30 subnets. The prober and the application client both run in the client namespace so they read the same monotonic clock. Faults are injected on a router's egress link, so the first hop that can show the fault is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of both measurement streams. Both processes run in the client namespace and call the same monotonic clock function, so their timestamps can be compared directly with no clock synchronisation. Unanswered probes are recorded as not responded and never interpolated.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three operations. Bucket both streams into 500 millisecond buckets; threshold is median plus five MAD of the whole series and an onset needs three consecutive buckets above it; then align the application onset with hop onsets inside 1.5 seconds and require every deeper hop to agree. Right: the recorded demo run, recomputed with the project's own code. Hop 2 has one noisy bucket that the three-in-a-row rule ignores. Limitations: the baseline is global, so a fault that covers most of the window can hide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claim carries exactly one of five tags. Confidence is a fixed heuristic: corroborating fraction times one minus unknown hops over five. Because persistence already requires all downstream hops to agree, the fraction is one whenever a range is reported, so the level depends only on how many hops were unknown. It is not a probability and it is not calibrated. Unknown is not healthy.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actually used. Python code is standard library only, with no third-party packages. The testbed runs on WSL2 Ubuntu 24.04. The dashboard is React, TypeScript, Vite, Tailwind, Zod and Motion. Required versus optional tools are separated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Genuine screenshots of the production build, demo-run-01. Left: the application's own RTT, the symptom, with the stored before and after means and the detected onset. Right: the path with a stored status per hop, and the hop inspector for Hop 3. The moving packets are illustrative only; the data contain no packet-level observations. The dashboard displays stored results and never recomputes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 held-out trial where Hops 1 and 2 returned too few responses; they are shown as unknown, not healthy. Middle: evidence kept apart by kind, with the confidence panel stating it is a heuristic and not a probability. Right: the optional guided explanation, off by default, built only from the selected bundle.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checks were actually run for this submission. Unit tests are separate from integration or browser checks and from the experimental evaluation. The right-hand card lists what was deliberately not run: the live demo overwrites a recorded trial, the evaluation scripts overwrite result files, and offline, cross-browser and clean-clone tests have not been done.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this plainly. Phase 4 was the only independent held-out run and it missed the false-attribution target: 3 of 12, 25 percent, against at most 10 percent. Phase 4b scored 1 of 12 on the same held-out set after its traces had been inspected during design, so it is a historical record, not independent validation. The table compares both. All samples are tiny: 12 trials, 8 faults and 4 clean controls.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Per-trial outcomes on the held-out set. Latency and jitter were localized when a claim was made. Loss and bandwidth: no claim in any of the four trials, under either detector, and none on the Phase 4b tuning set. The remaining false attribution, trial 12, occurred where the first affected hop was itself unknown. Four clean controls cannot separate zero from nearly fifty percent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limitations, each supported by a file in the repository. The most important: no independent validation of the current detector. Also loss and bandwidth are not localized, confidence is an uncalibrated heuristic, unknown hops cannot be assumed healthy, timing correlation is not causation, and the samples and parameters are small and fixed.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works end to end and every check run for this submission passes. The science is less settled and the project says so: the independent evaluation missed its target, loss and bandwidth are not localized, confidence is a heuristic. Future work is recorded but not yet authorized.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sources the implementation relies on and the deliverables: the report PDF, this deck, and the GitHub repository once publication is approved.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github.com/KrishUsesGit/F2_Team2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ll shadow"/>
          <p:cNvSpPr/>
          <p:nvPr/>
        </p:nvSpPr>
        <p:spPr>
          <a:xfrm>
            <a:off x="704088" y="612647"/>
            <a:ext cx="6858000" cy="365760"/>
          </a:xfrm>
          <a:prstGeom prst="roundRect">
            <a:avLst>
              <a:gd name="adj" fmla="val 50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ill"/>
          <p:cNvSpPr/>
          <p:nvPr/>
        </p:nvSpPr>
        <p:spPr>
          <a:xfrm>
            <a:off x="640080" y="548640"/>
            <a:ext cx="6858000" cy="365760"/>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300" b="1" i="0">
                <a:solidFill>
                  <a:srgbClr val="14181A"/>
                </a:solidFill>
                <a:latin typeface="Consolas"/>
              </a:rPr>
              <a:t>BCSE308P · Computer Networks Lab · Innovative Evaluation Practices</a:t>
            </a:r>
          </a:p>
        </p:txBody>
      </p:sp>
      <p:sp>
        <p:nvSpPr>
          <p:cNvPr id="4" name="TextBox 3"/>
          <p:cNvSpPr txBox="1"/>
          <p:nvPr/>
        </p:nvSpPr>
        <p:spPr>
          <a:xfrm>
            <a:off x="594360" y="1143000"/>
            <a:ext cx="7498079" cy="1463040"/>
          </a:xfrm>
          <a:prstGeom prst="rect">
            <a:avLst/>
          </a:prstGeom>
          <a:noFill/>
        </p:spPr>
        <p:txBody>
          <a:bodyPr wrap="square" lIns="36576" rIns="36576" tIns="18288" bIns="18288" anchor="ctr">
            <a:spAutoFit/>
          </a:bodyPr>
          <a:lstStyle/>
          <a:p>
            <a:pPr algn="l">
              <a:spcAft>
                <a:spcPts val="0"/>
              </a:spcAft>
            </a:pPr>
            <a:r>
              <a:rPr sz="7400" b="0" i="0">
                <a:solidFill>
                  <a:srgbClr val="14181A"/>
                </a:solidFill>
                <a:latin typeface="Arial Black"/>
              </a:rPr>
              <a:t>HOPTRACE</a:t>
            </a:r>
          </a:p>
        </p:txBody>
      </p:sp>
      <p:sp>
        <p:nvSpPr>
          <p:cNvPr id="5" name="TextBox 4"/>
          <p:cNvSpPr txBox="1"/>
          <p:nvPr/>
        </p:nvSpPr>
        <p:spPr>
          <a:xfrm>
            <a:off x="640080" y="2697480"/>
            <a:ext cx="6766560" cy="1097280"/>
          </a:xfrm>
          <a:prstGeom prst="rect">
            <a:avLst/>
          </a:prstGeom>
          <a:noFill/>
        </p:spPr>
        <p:txBody>
          <a:bodyPr wrap="square" lIns="36576" rIns="36576" tIns="18288" bIns="18288" anchor="t">
            <a:spAutoFit/>
          </a:bodyPr>
          <a:lstStyle/>
          <a:p>
            <a:pPr algn="l">
              <a:spcAft>
                <a:spcPts val="0"/>
              </a:spcAft>
            </a:pPr>
            <a:r>
              <a:rPr sz="2600" b="1" i="0">
                <a:solidFill>
                  <a:srgbClr val="14181A"/>
                </a:solidFill>
                <a:latin typeface="Calibri"/>
              </a:rPr>
              <a:t>Network Path Fault Localization through Application-to-Hop Correlation</a:t>
            </a:r>
          </a:p>
        </p:txBody>
      </p:sp>
      <p:sp>
        <p:nvSpPr>
          <p:cNvPr id="6" name="student card shadow"/>
          <p:cNvSpPr/>
          <p:nvPr/>
        </p:nvSpPr>
        <p:spPr>
          <a:xfrm>
            <a:off x="704088" y="4041648"/>
            <a:ext cx="6583680" cy="160020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ent card"/>
          <p:cNvSpPr/>
          <p:nvPr/>
        </p:nvSpPr>
        <p:spPr>
          <a:xfrm>
            <a:off x="640080" y="3977639"/>
            <a:ext cx="6583680" cy="160020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87368"/>
            <a:ext cx="6217920" cy="1417320"/>
          </a:xfrm>
          <a:prstGeom prst="rect">
            <a:avLst/>
          </a:prstGeom>
          <a:noFill/>
        </p:spPr>
        <p:txBody>
          <a:bodyPr wrap="square" lIns="36576" rIns="36576" tIns="18288" bIns="18288" anchor="t">
            <a:spAutoFit/>
          </a:bodyPr>
          <a:lstStyle/>
          <a:p>
            <a:pPr algn="l">
              <a:spcAft>
                <a:spcPts val="200"/>
              </a:spcAft>
            </a:pPr>
            <a:r>
              <a:rPr sz="2200" b="1" i="0">
                <a:solidFill>
                  <a:srgbClr val="14181A"/>
                </a:solidFill>
                <a:latin typeface="Calibri"/>
              </a:rPr>
              <a:t>Krish Chirag Shah</a:t>
            </a:r>
            <a:r>
              <a:rPr sz="1400" b="0" i="1">
                <a:solidFill>
                  <a:srgbClr val="3D4D55"/>
                </a:solidFill>
                <a:latin typeface="Calibri"/>
              </a:rPr>
              <a:t>   sole author</a:t>
            </a:r>
          </a:p>
          <a:p>
            <a:pPr algn="l">
              <a:spcAft>
                <a:spcPts val="200"/>
              </a:spcAft>
            </a:pPr>
            <a:r>
              <a:rPr sz="1600" b="0" i="0">
                <a:solidFill>
                  <a:srgbClr val="14181A"/>
                </a:solidFill>
                <a:latin typeface="Consolas"/>
              </a:rPr>
              <a:t>Reg. no. 24BCE0624</a:t>
            </a:r>
          </a:p>
          <a:p>
            <a:pPr algn="l">
              <a:spcAft>
                <a:spcPts val="200"/>
              </a:spcAft>
            </a:pPr>
            <a:r>
              <a:rPr sz="1600" b="0" i="0">
                <a:solidFill>
                  <a:srgbClr val="14181A"/>
                </a:solidFill>
                <a:latin typeface="Calibri"/>
              </a:rPr>
              <a:t>Assignment 9 · Project Presentation (VTOP)</a:t>
            </a:r>
          </a:p>
          <a:p>
            <a:pPr algn="l">
              <a:spcAft>
                <a:spcPts val="200"/>
              </a:spcAft>
            </a:pPr>
            <a:r>
              <a:rPr sz="1600" b="0" i="0">
                <a:solidFill>
                  <a:srgbClr val="14181A"/>
                </a:solidFill>
                <a:latin typeface="Calibri"/>
              </a:rPr>
              <a:t>Slot </a:t>
            </a:r>
            <a:r>
              <a:rPr sz="1600" b="1" i="0">
                <a:solidFill>
                  <a:srgbClr val="14181A"/>
                </a:solidFill>
                <a:latin typeface="Consolas"/>
              </a:rPr>
              <a:t>F2</a:t>
            </a:r>
            <a:r>
              <a:rPr sz="1600" b="0" i="0">
                <a:solidFill>
                  <a:srgbClr val="14181A"/>
                </a:solidFill>
                <a:latin typeface="Calibri"/>
              </a:rPr>
              <a:t>   ·   Team </a:t>
            </a:r>
            <a:r>
              <a:rPr sz="1600" b="1" i="0">
                <a:solidFill>
                  <a:srgbClr val="14181A"/>
                </a:solidFill>
                <a:latin typeface="Consolas"/>
              </a:rPr>
              <a:t>24</a:t>
            </a:r>
          </a:p>
        </p:txBody>
      </p:sp>
      <p:sp>
        <p:nvSpPr>
          <p:cNvPr id="9" name="TextBox 8"/>
          <p:cNvSpPr txBox="1"/>
          <p:nvPr/>
        </p:nvSpPr>
        <p:spPr>
          <a:xfrm>
            <a:off x="7315200" y="914400"/>
            <a:ext cx="4572000" cy="365760"/>
          </a:xfrm>
          <a:prstGeom prst="rect">
            <a:avLst/>
          </a:prstGeom>
          <a:noFill/>
        </p:spPr>
        <p:txBody>
          <a:bodyPr wrap="square" lIns="36576" rIns="36576" tIns="18288" bIns="18288" anchor="t">
            <a:spAutoFit/>
          </a:bodyPr>
          <a:lstStyle/>
          <a:p>
            <a:pPr algn="ctr">
              <a:spcAft>
                <a:spcPts val="0"/>
              </a:spcAft>
            </a:pPr>
            <a:r>
              <a:rPr sz="1400" b="0" i="1">
                <a:solidFill>
                  <a:srgbClr val="3D4D55"/>
                </a:solidFill>
                <a:latin typeface="Calibri"/>
              </a:rPr>
              <a:t>a path, seen hop by hop</a:t>
            </a:r>
          </a:p>
        </p:txBody>
      </p:sp>
      <p:sp>
        <p:nvSpPr>
          <p:cNvPr id="10" name="Oval 9"/>
          <p:cNvSpPr/>
          <p:nvPr/>
        </p:nvSpPr>
        <p:spPr>
          <a:xfrm>
            <a:off x="7132320" y="1097280"/>
            <a:ext cx="640080" cy="640080"/>
          </a:xfrm>
          <a:prstGeom prst="ellipse">
            <a:avLst/>
          </a:prstGeom>
          <a:solidFill>
            <a:srgbClr val="6A4D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rial Black"/>
              </a:rPr>
              <a:t>C</a:t>
            </a:r>
          </a:p>
        </p:txBody>
      </p:sp>
      <p:cxnSp>
        <p:nvCxnSpPr>
          <p:cNvPr id="11" name="line"/>
          <p:cNvCxnSpPr/>
          <p:nvPr/>
        </p:nvCxnSpPr>
        <p:spPr>
          <a:xfrm>
            <a:off x="7726680" y="1508760"/>
            <a:ext cx="182879" cy="228600"/>
          </a:xfrm>
          <a:prstGeom prst="line">
            <a:avLst/>
          </a:prstGeom>
          <a:ln w="50800">
            <a:solidFill>
              <a:srgbClr val="14181A"/>
            </a:solidFill>
          </a:ln>
        </p:spPr>
        <p:style>
          <a:lnRef idx="2">
            <a:schemeClr val="accent1"/>
          </a:lnRef>
          <a:fillRef idx="0">
            <a:schemeClr val="accent1"/>
          </a:fillRef>
          <a:effectRef idx="1">
            <a:schemeClr val="accent1"/>
          </a:effectRef>
          <a:fontRef idx="minor">
            <a:schemeClr val="tx1"/>
          </a:fontRef>
        </p:style>
      </p:cxnSp>
      <p:cxnSp>
        <p:nvCxnSpPr>
          <p:cNvPr id="12" name="line"/>
          <p:cNvCxnSpPr/>
          <p:nvPr/>
        </p:nvCxnSpPr>
        <p:spPr>
          <a:xfrm>
            <a:off x="8183879" y="1783080"/>
            <a:ext cx="868681" cy="411480"/>
          </a:xfrm>
          <a:prstGeom prst="line">
            <a:avLst/>
          </a:prstGeom>
          <a:ln w="50800">
            <a:solidFill>
              <a:srgbClr val="14181A"/>
            </a:solidFill>
          </a:ln>
        </p:spPr>
        <p:style>
          <a:lnRef idx="2">
            <a:schemeClr val="accent1"/>
          </a:lnRef>
          <a:fillRef idx="0">
            <a:schemeClr val="accent1"/>
          </a:fillRef>
          <a:effectRef idx="1">
            <a:schemeClr val="accent1"/>
          </a:effectRef>
          <a:fontRef idx="minor">
            <a:schemeClr val="tx1"/>
          </a:fontRef>
        </p:style>
      </p:cxnSp>
      <p:cxnSp>
        <p:nvCxnSpPr>
          <p:cNvPr id="13" name="line"/>
          <p:cNvCxnSpPr/>
          <p:nvPr/>
        </p:nvCxnSpPr>
        <p:spPr>
          <a:xfrm>
            <a:off x="9052560" y="2194560"/>
            <a:ext cx="868680" cy="411480"/>
          </a:xfrm>
          <a:prstGeom prst="line">
            <a:avLst/>
          </a:prstGeom>
          <a:ln w="50800">
            <a:solidFill>
              <a:srgbClr val="14181A"/>
            </a:solidFill>
          </a:ln>
        </p:spPr>
        <p:style>
          <a:lnRef idx="2">
            <a:schemeClr val="accent1"/>
          </a:lnRef>
          <a:fillRef idx="0">
            <a:schemeClr val="accent1"/>
          </a:fillRef>
          <a:effectRef idx="1">
            <a:schemeClr val="accent1"/>
          </a:effectRef>
          <a:fontRef idx="minor">
            <a:schemeClr val="tx1"/>
          </a:fontRef>
        </p:style>
      </p:cxnSp>
      <p:cxnSp>
        <p:nvCxnSpPr>
          <p:cNvPr id="14" name="line"/>
          <p:cNvCxnSpPr/>
          <p:nvPr/>
        </p:nvCxnSpPr>
        <p:spPr>
          <a:xfrm>
            <a:off x="9921240" y="2606040"/>
            <a:ext cx="868680" cy="411480"/>
          </a:xfrm>
          <a:prstGeom prst="line">
            <a:avLst/>
          </a:prstGeom>
          <a:ln w="50800">
            <a:solidFill>
              <a:srgbClr val="14181A"/>
            </a:solidFill>
            <a:prstDash val="dash"/>
          </a:ln>
        </p:spPr>
        <p:style>
          <a:lnRef idx="2">
            <a:schemeClr val="accent1"/>
          </a:lnRef>
          <a:fillRef idx="0">
            <a:schemeClr val="accent1"/>
          </a:fillRef>
          <a:effectRef idx="1">
            <a:schemeClr val="accent1"/>
          </a:effectRef>
          <a:fontRef idx="minor">
            <a:schemeClr val="tx1"/>
          </a:fontRef>
        </p:style>
      </p:cxnSp>
      <p:cxnSp>
        <p:nvCxnSpPr>
          <p:cNvPr id="15" name="line"/>
          <p:cNvCxnSpPr/>
          <p:nvPr/>
        </p:nvCxnSpPr>
        <p:spPr>
          <a:xfrm>
            <a:off x="10789920" y="3017520"/>
            <a:ext cx="548640" cy="502920"/>
          </a:xfrm>
          <a:prstGeom prst="line">
            <a:avLst/>
          </a:prstGeom>
          <a:ln w="50800">
            <a:solidFill>
              <a:srgbClr val="14181A"/>
            </a:solidFill>
            <a:prstDash val="dash"/>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900415" y="1499616"/>
            <a:ext cx="566928" cy="566928"/>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1</a:t>
            </a:r>
          </a:p>
        </p:txBody>
      </p:sp>
      <p:sp>
        <p:nvSpPr>
          <p:cNvPr id="17" name="Oval 16"/>
          <p:cNvSpPr/>
          <p:nvPr/>
        </p:nvSpPr>
        <p:spPr>
          <a:xfrm>
            <a:off x="8769096" y="1911095"/>
            <a:ext cx="566928" cy="566928"/>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2</a:t>
            </a:r>
          </a:p>
        </p:txBody>
      </p:sp>
      <p:sp>
        <p:nvSpPr>
          <p:cNvPr id="18" name="Oval 17"/>
          <p:cNvSpPr/>
          <p:nvPr/>
        </p:nvSpPr>
        <p:spPr>
          <a:xfrm>
            <a:off x="9637776" y="2322576"/>
            <a:ext cx="566928" cy="566928"/>
          </a:xfrm>
          <a:prstGeom prst="ellipse">
            <a:avLst/>
          </a:prstGeom>
          <a:solidFill>
            <a:srgbClr val="FF6B4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3</a:t>
            </a:r>
          </a:p>
        </p:txBody>
      </p:sp>
      <p:sp>
        <p:nvSpPr>
          <p:cNvPr id="19" name="Oval 18"/>
          <p:cNvSpPr/>
          <p:nvPr/>
        </p:nvSpPr>
        <p:spPr>
          <a:xfrm>
            <a:off x="10506456" y="2734056"/>
            <a:ext cx="566928" cy="566928"/>
          </a:xfrm>
          <a:prstGeom prst="ellipse">
            <a:avLst/>
          </a:prstGeom>
          <a:solidFill>
            <a:srgbClr val="FF6B4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4</a:t>
            </a:r>
          </a:p>
        </p:txBody>
      </p:sp>
      <p:sp>
        <p:nvSpPr>
          <p:cNvPr id="20" name="Oval 19"/>
          <p:cNvSpPr/>
          <p:nvPr/>
        </p:nvSpPr>
        <p:spPr>
          <a:xfrm>
            <a:off x="11055096" y="3236976"/>
            <a:ext cx="566928" cy="566928"/>
          </a:xfrm>
          <a:prstGeom prst="ellipse">
            <a:avLst/>
          </a:prstGeom>
          <a:solidFill>
            <a:srgbClr val="FF6B4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5</a:t>
            </a:r>
          </a:p>
        </p:txBody>
      </p:sp>
      <p:sp>
        <p:nvSpPr>
          <p:cNvPr id="21" name="pill shadow"/>
          <p:cNvSpPr/>
          <p:nvPr/>
        </p:nvSpPr>
        <p:spPr>
          <a:xfrm>
            <a:off x="8659368" y="4407408"/>
            <a:ext cx="3291840" cy="457200"/>
          </a:xfrm>
          <a:prstGeom prst="roundRect">
            <a:avLst>
              <a:gd name="adj" fmla="val 50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ll"/>
          <p:cNvSpPr/>
          <p:nvPr/>
        </p:nvSpPr>
        <p:spPr>
          <a:xfrm>
            <a:off x="8595360" y="4343400"/>
            <a:ext cx="3291840" cy="457200"/>
          </a:xfrm>
          <a:prstGeom prst="roundRect">
            <a:avLst>
              <a:gd name="adj" fmla="val 50000"/>
            </a:avLst>
          </a:prstGeom>
          <a:solidFill>
            <a:srgbClr val="2FD3E0"/>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1" i="0">
                <a:solidFill>
                  <a:srgbClr val="14181A"/>
                </a:solidFill>
                <a:latin typeface="Calibri"/>
              </a:rPr>
              <a:t>appears to begin at or after Hop 3</a:t>
            </a:r>
          </a:p>
        </p:txBody>
      </p:sp>
      <p:sp>
        <p:nvSpPr>
          <p:cNvPr id="23" name="TextBox 22"/>
          <p:cNvSpPr txBox="1"/>
          <p:nvPr/>
        </p:nvSpPr>
        <p:spPr>
          <a:xfrm>
            <a:off x="7955279" y="4937760"/>
            <a:ext cx="3931920" cy="457200"/>
          </a:xfrm>
          <a:prstGeom prst="rect">
            <a:avLst/>
          </a:prstGeom>
          <a:noFill/>
        </p:spPr>
        <p:txBody>
          <a:bodyPr wrap="square" lIns="36576" rIns="36576" tIns="18288" bIns="18288" anchor="t">
            <a:spAutoFit/>
          </a:bodyPr>
          <a:lstStyle/>
          <a:p>
            <a:pPr algn="ctr">
              <a:spcAft>
                <a:spcPts val="0"/>
              </a:spcAft>
            </a:pPr>
            <a:r>
              <a:rPr sz="1200" b="0" i="1">
                <a:solidFill>
                  <a:srgbClr val="3D4D55"/>
                </a:solidFill>
                <a:latin typeface="Calibri"/>
              </a:rPr>
              <a:t>Illustration of the idea; not measured data.</a:t>
            </a:r>
          </a:p>
        </p:txBody>
      </p:sp>
      <p:sp>
        <p:nvSpPr>
          <p:cNvPr id="24" name="status banner"/>
          <p:cNvSpPr/>
          <p:nvPr/>
        </p:nvSpPr>
        <p:spPr>
          <a:xfrm>
            <a:off x="640080" y="5852160"/>
            <a:ext cx="10972800" cy="640080"/>
          </a:xfrm>
          <a:prstGeom prst="roundRect">
            <a:avLst>
              <a:gd name="adj" fmla="val 12000"/>
            </a:avLst>
          </a:prstGeom>
          <a:solidFill>
            <a:srgbClr val="FFD23F"/>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879592"/>
            <a:ext cx="10607040" cy="594360"/>
          </a:xfrm>
          <a:prstGeom prst="rect">
            <a:avLst/>
          </a:prstGeom>
          <a:noFill/>
        </p:spPr>
        <p:txBody>
          <a:bodyPr wrap="square" lIns="36576" rIns="36576" tIns="18288" bIns="18288" anchor="ctr">
            <a:spAutoFit/>
          </a:bodyPr>
          <a:lstStyle/>
          <a:p>
            <a:pPr algn="l">
              <a:spcAft>
                <a:spcPts val="0"/>
              </a:spcAft>
            </a:pPr>
            <a:r>
              <a:rPr sz="1400" b="1" i="0">
                <a:solidFill>
                  <a:srgbClr val="14181A"/>
                </a:solidFill>
                <a:latin typeface="Calibri"/>
              </a:rPr>
              <a:t>Research prototype. </a:t>
            </a:r>
            <a:r>
              <a:rPr sz="1400" b="0" i="0">
                <a:solidFill>
                  <a:srgbClr val="14181A"/>
                </a:solidFill>
                <a:latin typeface="Calibri"/>
              </a:rPr>
              <a:t>The current detector has not been independently validated; the independent Phase 4 run missed its false-attribution target (3/12 = 25% vs at most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Slow, but where on the path?</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2</a:t>
            </a:r>
          </a:p>
        </p:txBody>
      </p:sp>
      <p:sp>
        <p:nvSpPr>
          <p:cNvPr id="5" name="card shadow"/>
          <p:cNvSpPr/>
          <p:nvPr/>
        </p:nvSpPr>
        <p:spPr>
          <a:xfrm>
            <a:off x="612647" y="1435608"/>
            <a:ext cx="352044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371600"/>
            <a:ext cx="352044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54480"/>
            <a:ext cx="3063240" cy="457200"/>
          </a:xfrm>
          <a:prstGeom prst="rect">
            <a:avLst/>
          </a:prstGeom>
          <a:noFill/>
        </p:spPr>
        <p:txBody>
          <a:bodyPr wrap="square" lIns="36576" rIns="36576" tIns="18288" bIns="18288" anchor="t">
            <a:spAutoFit/>
          </a:bodyPr>
          <a:lstStyle/>
          <a:p>
            <a:pPr algn="l">
              <a:spcAft>
                <a:spcPts val="0"/>
              </a:spcAft>
            </a:pPr>
            <a:r>
              <a:rPr sz="2400" b="1" i="0">
                <a:solidFill>
                  <a:srgbClr val="14181A"/>
                </a:solidFill>
                <a:latin typeface="Calibri"/>
              </a:rPr>
              <a:t>ping and traceroute</a:t>
            </a:r>
          </a:p>
        </p:txBody>
      </p:sp>
      <p:sp>
        <p:nvSpPr>
          <p:cNvPr id="8" name="TextBox 7"/>
          <p:cNvSpPr txBox="1"/>
          <p:nvPr/>
        </p:nvSpPr>
        <p:spPr>
          <a:xfrm>
            <a:off x="777240" y="2084832"/>
            <a:ext cx="3063240" cy="365760"/>
          </a:xfrm>
          <a:prstGeom prst="rect">
            <a:avLst/>
          </a:prstGeom>
          <a:noFill/>
        </p:spPr>
        <p:txBody>
          <a:bodyPr wrap="square" lIns="36576" rIns="36576" tIns="18288" bIns="18288" anchor="t">
            <a:spAutoFit/>
          </a:bodyPr>
          <a:lstStyle/>
          <a:p>
            <a:pPr algn="l">
              <a:spcAft>
                <a:spcPts val="0"/>
              </a:spcAft>
            </a:pPr>
            <a:r>
              <a:rPr sz="1700" b="0" i="1">
                <a:solidFill>
                  <a:srgbClr val="3D4D55"/>
                </a:solidFill>
                <a:latin typeface="Calibri"/>
              </a:rPr>
              <a:t>measure the path</a:t>
            </a:r>
          </a:p>
        </p:txBody>
      </p:sp>
      <p:sp>
        <p:nvSpPr>
          <p:cNvPr id="9" name="TextBox 8"/>
          <p:cNvSpPr txBox="1"/>
          <p:nvPr/>
        </p:nvSpPr>
        <p:spPr>
          <a:xfrm>
            <a:off x="777240" y="2743200"/>
            <a:ext cx="3063240" cy="1691640"/>
          </a:xfrm>
          <a:prstGeom prst="rect">
            <a:avLst/>
          </a:prstGeom>
          <a:noFill/>
        </p:spPr>
        <p:txBody>
          <a:bodyPr wrap="square" lIns="36576" rIns="36576" tIns="18288" bIns="18288" anchor="t">
            <a:spAutoFit/>
          </a:bodyPr>
          <a:lstStyle/>
          <a:p>
            <a:pPr algn="l">
              <a:spcAft>
                <a:spcPts val="1000"/>
              </a:spcAft>
            </a:pPr>
            <a:r>
              <a:rPr sz="1900" b="1" i="0">
                <a:solidFill>
                  <a:srgbClr val="14181A"/>
                </a:solidFill>
                <a:latin typeface="Calibri"/>
              </a:rPr>
              <a:t>•  </a:t>
            </a:r>
            <a:r>
              <a:rPr sz="1900" b="0" i="0">
                <a:solidFill>
                  <a:srgbClr val="14181A"/>
                </a:solidFill>
                <a:latin typeface="Calibri"/>
              </a:rPr>
              <a:t>Per-hop reachability and RTT</a:t>
            </a:r>
          </a:p>
          <a:p>
            <a:pPr algn="l">
              <a:spcAft>
                <a:spcPts val="1000"/>
              </a:spcAft>
            </a:pPr>
            <a:r>
              <a:rPr sz="1900" b="1" i="0">
                <a:solidFill>
                  <a:srgbClr val="14181A"/>
                </a:solidFill>
                <a:latin typeface="Calibri"/>
              </a:rPr>
              <a:t>•  </a:t>
            </a:r>
            <a:r>
              <a:rPr sz="1900" b="0" i="0">
                <a:solidFill>
                  <a:srgbClr val="14181A"/>
                </a:solidFill>
                <a:latin typeface="Calibri"/>
              </a:rPr>
              <a:t>Nothing about what the application felt</a:t>
            </a:r>
          </a:p>
        </p:txBody>
      </p:sp>
      <p:sp>
        <p:nvSpPr>
          <p:cNvPr id="10" name="card shadow"/>
          <p:cNvSpPr/>
          <p:nvPr/>
        </p:nvSpPr>
        <p:spPr>
          <a:xfrm>
            <a:off x="4407408" y="1435608"/>
            <a:ext cx="352044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p:cNvSpPr/>
          <p:nvPr/>
        </p:nvSpPr>
        <p:spPr>
          <a:xfrm>
            <a:off x="4343400" y="1371600"/>
            <a:ext cx="352044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554480"/>
            <a:ext cx="3063240" cy="457200"/>
          </a:xfrm>
          <a:prstGeom prst="rect">
            <a:avLst/>
          </a:prstGeom>
          <a:noFill/>
        </p:spPr>
        <p:txBody>
          <a:bodyPr wrap="square" lIns="36576" rIns="36576" tIns="18288" bIns="18288" anchor="t">
            <a:spAutoFit/>
          </a:bodyPr>
          <a:lstStyle/>
          <a:p>
            <a:pPr algn="l">
              <a:spcAft>
                <a:spcPts val="0"/>
              </a:spcAft>
            </a:pPr>
            <a:r>
              <a:rPr sz="2400" b="1" i="0">
                <a:solidFill>
                  <a:srgbClr val="14181A"/>
                </a:solidFill>
                <a:latin typeface="Calibri"/>
              </a:rPr>
              <a:t>Application monitoring</a:t>
            </a:r>
          </a:p>
        </p:txBody>
      </p:sp>
      <p:sp>
        <p:nvSpPr>
          <p:cNvPr id="13" name="TextBox 12"/>
          <p:cNvSpPr txBox="1"/>
          <p:nvPr/>
        </p:nvSpPr>
        <p:spPr>
          <a:xfrm>
            <a:off x="4572000" y="2084832"/>
            <a:ext cx="3063240" cy="365760"/>
          </a:xfrm>
          <a:prstGeom prst="rect">
            <a:avLst/>
          </a:prstGeom>
          <a:noFill/>
        </p:spPr>
        <p:txBody>
          <a:bodyPr wrap="square" lIns="36576" rIns="36576" tIns="18288" bIns="18288" anchor="t">
            <a:spAutoFit/>
          </a:bodyPr>
          <a:lstStyle/>
          <a:p>
            <a:pPr algn="l">
              <a:spcAft>
                <a:spcPts val="0"/>
              </a:spcAft>
            </a:pPr>
            <a:r>
              <a:rPr sz="1700" b="0" i="1">
                <a:solidFill>
                  <a:srgbClr val="3D4D55"/>
                </a:solidFill>
                <a:latin typeface="Calibri"/>
              </a:rPr>
              <a:t>measures the symptom</a:t>
            </a:r>
          </a:p>
        </p:txBody>
      </p:sp>
      <p:sp>
        <p:nvSpPr>
          <p:cNvPr id="14" name="TextBox 13"/>
          <p:cNvSpPr txBox="1"/>
          <p:nvPr/>
        </p:nvSpPr>
        <p:spPr>
          <a:xfrm>
            <a:off x="4572000" y="2743200"/>
            <a:ext cx="3063240" cy="1691640"/>
          </a:xfrm>
          <a:prstGeom prst="rect">
            <a:avLst/>
          </a:prstGeom>
          <a:noFill/>
        </p:spPr>
        <p:txBody>
          <a:bodyPr wrap="square" lIns="36576" rIns="36576" tIns="18288" bIns="18288" anchor="t">
            <a:spAutoFit/>
          </a:bodyPr>
          <a:lstStyle/>
          <a:p>
            <a:pPr algn="l">
              <a:spcAft>
                <a:spcPts val="1000"/>
              </a:spcAft>
            </a:pPr>
            <a:r>
              <a:rPr sz="1900" b="1" i="0">
                <a:solidFill>
                  <a:srgbClr val="14181A"/>
                </a:solidFill>
                <a:latin typeface="Calibri"/>
              </a:rPr>
              <a:t>•  </a:t>
            </a:r>
            <a:r>
              <a:rPr sz="1900" b="0" i="0">
                <a:solidFill>
                  <a:srgbClr val="14181A"/>
                </a:solidFill>
                <a:latin typeface="Calibri"/>
              </a:rPr>
              <a:t>Sees that responses got slower</a:t>
            </a:r>
          </a:p>
          <a:p>
            <a:pPr algn="l">
              <a:spcAft>
                <a:spcPts val="1000"/>
              </a:spcAft>
            </a:pPr>
            <a:r>
              <a:rPr sz="1900" b="1" i="0">
                <a:solidFill>
                  <a:srgbClr val="14181A"/>
                </a:solidFill>
                <a:latin typeface="Calibri"/>
              </a:rPr>
              <a:t>•  </a:t>
            </a:r>
            <a:r>
              <a:rPr sz="1900" b="0" i="0">
                <a:solidFill>
                  <a:srgbClr val="14181A"/>
                </a:solidFill>
                <a:latin typeface="Calibri"/>
              </a:rPr>
              <a:t>Nothing about where on the path</a:t>
            </a:r>
          </a:p>
        </p:txBody>
      </p:sp>
      <p:sp>
        <p:nvSpPr>
          <p:cNvPr id="15" name="card shadow"/>
          <p:cNvSpPr/>
          <p:nvPr/>
        </p:nvSpPr>
        <p:spPr>
          <a:xfrm>
            <a:off x="8202168" y="1435608"/>
            <a:ext cx="352044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cNvSpPr/>
          <p:nvPr/>
        </p:nvSpPr>
        <p:spPr>
          <a:xfrm>
            <a:off x="8138160" y="1371600"/>
            <a:ext cx="3520440" cy="310896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554480"/>
            <a:ext cx="3063240" cy="457200"/>
          </a:xfrm>
          <a:prstGeom prst="rect">
            <a:avLst/>
          </a:prstGeom>
          <a:noFill/>
        </p:spPr>
        <p:txBody>
          <a:bodyPr wrap="square" lIns="36576" rIns="36576" tIns="18288" bIns="18288" anchor="t">
            <a:spAutoFit/>
          </a:bodyPr>
          <a:lstStyle/>
          <a:p>
            <a:pPr algn="l">
              <a:spcAft>
                <a:spcPts val="0"/>
              </a:spcAft>
            </a:pPr>
            <a:r>
              <a:rPr sz="2400" b="1" i="0">
                <a:solidFill>
                  <a:srgbClr val="14181A"/>
                </a:solidFill>
                <a:latin typeface="Calibri"/>
              </a:rPr>
              <a:t>HOPTRACE</a:t>
            </a:r>
          </a:p>
        </p:txBody>
      </p:sp>
      <p:sp>
        <p:nvSpPr>
          <p:cNvPr id="18" name="TextBox 17"/>
          <p:cNvSpPr txBox="1"/>
          <p:nvPr/>
        </p:nvSpPr>
        <p:spPr>
          <a:xfrm>
            <a:off x="8366760" y="2084832"/>
            <a:ext cx="3063240" cy="365760"/>
          </a:xfrm>
          <a:prstGeom prst="rect">
            <a:avLst/>
          </a:prstGeom>
          <a:noFill/>
        </p:spPr>
        <p:txBody>
          <a:bodyPr wrap="square" lIns="36576" rIns="36576" tIns="18288" bIns="18288" anchor="t">
            <a:spAutoFit/>
          </a:bodyPr>
          <a:lstStyle/>
          <a:p>
            <a:pPr algn="l">
              <a:spcAft>
                <a:spcPts val="0"/>
              </a:spcAft>
            </a:pPr>
            <a:r>
              <a:rPr sz="1700" b="0" i="1">
                <a:solidFill>
                  <a:srgbClr val="3D4D55"/>
                </a:solidFill>
                <a:latin typeface="Calibri"/>
              </a:rPr>
              <a:t>joins the two on one clock</a:t>
            </a:r>
          </a:p>
        </p:txBody>
      </p:sp>
      <p:sp>
        <p:nvSpPr>
          <p:cNvPr id="19" name="TextBox 18"/>
          <p:cNvSpPr txBox="1"/>
          <p:nvPr/>
        </p:nvSpPr>
        <p:spPr>
          <a:xfrm>
            <a:off x="8366760" y="2743200"/>
            <a:ext cx="3063240" cy="1691640"/>
          </a:xfrm>
          <a:prstGeom prst="rect">
            <a:avLst/>
          </a:prstGeom>
          <a:noFill/>
        </p:spPr>
        <p:txBody>
          <a:bodyPr wrap="square" lIns="36576" rIns="36576" tIns="18288" bIns="18288" anchor="t">
            <a:spAutoFit/>
          </a:bodyPr>
          <a:lstStyle/>
          <a:p>
            <a:pPr algn="l">
              <a:spcAft>
                <a:spcPts val="1000"/>
              </a:spcAft>
            </a:pPr>
            <a:r>
              <a:rPr sz="1900" b="1" i="0">
                <a:solidFill>
                  <a:srgbClr val="14181A"/>
                </a:solidFill>
                <a:latin typeface="Calibri"/>
              </a:rPr>
              <a:t>•  </a:t>
            </a:r>
            <a:r>
              <a:rPr sz="1900" b="0" i="0">
                <a:solidFill>
                  <a:srgbClr val="14181A"/>
                </a:solidFill>
                <a:latin typeface="Calibri"/>
              </a:rPr>
              <a:t>Probes every hop and samples the app's own RTT</a:t>
            </a:r>
          </a:p>
          <a:p>
            <a:pPr algn="l">
              <a:spcAft>
                <a:spcPts val="1000"/>
              </a:spcAft>
            </a:pPr>
            <a:r>
              <a:rPr sz="1900" b="1" i="0">
                <a:solidFill>
                  <a:srgbClr val="14181A"/>
                </a:solidFill>
                <a:latin typeface="Calibri"/>
              </a:rPr>
              <a:t>•  </a:t>
            </a:r>
            <a:r>
              <a:rPr sz="1900" b="0" i="0">
                <a:solidFill>
                  <a:srgbClr val="14181A"/>
                </a:solidFill>
                <a:latin typeface="Calibri"/>
              </a:rPr>
              <a:t>Compares when each series starts to misbehave</a:t>
            </a:r>
          </a:p>
        </p:txBody>
      </p:sp>
      <p:sp>
        <p:nvSpPr>
          <p:cNvPr id="20" name="question shadow"/>
          <p:cNvSpPr/>
          <p:nvPr/>
        </p:nvSpPr>
        <p:spPr>
          <a:xfrm>
            <a:off x="612647" y="4910328"/>
            <a:ext cx="11064240" cy="14173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question"/>
          <p:cNvSpPr/>
          <p:nvPr/>
        </p:nvSpPr>
        <p:spPr>
          <a:xfrm>
            <a:off x="548640" y="4846320"/>
            <a:ext cx="11064240" cy="14173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01184"/>
            <a:ext cx="10607040" cy="1307592"/>
          </a:xfrm>
          <a:prstGeom prst="rect">
            <a:avLst/>
          </a:prstGeom>
          <a:noFill/>
        </p:spPr>
        <p:txBody>
          <a:bodyPr wrap="square" lIns="36576" rIns="36576" tIns="18288" bIns="18288" anchor="ctr">
            <a:spAutoFit/>
          </a:bodyPr>
          <a:lstStyle/>
          <a:p>
            <a:pPr algn="l">
              <a:spcAft>
                <a:spcPts val="600"/>
              </a:spcAft>
            </a:pPr>
            <a:r>
              <a:rPr sz="2100" b="1" i="0">
                <a:solidFill>
                  <a:srgbClr val="14181A"/>
                </a:solidFill>
                <a:latin typeface="Calibri"/>
              </a:rPr>
              <a:t>The question: </a:t>
            </a:r>
            <a:r>
              <a:rPr sz="2100" b="0" i="0">
                <a:solidFill>
                  <a:srgbClr val="14181A"/>
                </a:solidFill>
                <a:latin typeface="Calibri"/>
              </a:rPr>
              <a:t>where along the observed path does the application's degradation first appear?</a:t>
            </a:r>
          </a:p>
          <a:p>
            <a:pPr algn="l">
              <a:spcAft>
                <a:spcPts val="600"/>
              </a:spcAft>
            </a:pPr>
            <a:r>
              <a:rPr sz="2100" b="1" i="0">
                <a:solidFill>
                  <a:srgbClr val="FF6B4A"/>
                </a:solidFill>
                <a:latin typeface="Calibri"/>
              </a:rPr>
              <a:t>Not the question: </a:t>
            </a:r>
            <a:r>
              <a:rPr sz="2100" b="0" i="0">
                <a:solidFill>
                  <a:srgbClr val="14181A"/>
                </a:solidFill>
                <a:latin typeface="Calibri"/>
              </a:rPr>
              <a:t>which router caused it. Timing correlation does not establish causation.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Objectives and scope</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3</a:t>
            </a:r>
          </a:p>
        </p:txBody>
      </p:sp>
      <p:sp>
        <p:nvSpPr>
          <p:cNvPr id="5" name="Oval 4"/>
          <p:cNvSpPr/>
          <p:nvPr/>
        </p:nvSpPr>
        <p:spPr>
          <a:xfrm>
            <a:off x="585215" y="1499616"/>
            <a:ext cx="566928" cy="566928"/>
          </a:xfrm>
          <a:prstGeom prst="ellipse">
            <a:avLst/>
          </a:prstGeom>
          <a:solidFill>
            <a:srgbClr val="2FD3E0"/>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1</a:t>
            </a:r>
          </a:p>
        </p:txBody>
      </p:sp>
      <p:sp>
        <p:nvSpPr>
          <p:cNvPr id="6" name="TextBox 5"/>
          <p:cNvSpPr txBox="1"/>
          <p:nvPr/>
        </p:nvSpPr>
        <p:spPr>
          <a:xfrm>
            <a:off x="1325880" y="1417320"/>
            <a:ext cx="4937760" cy="777240"/>
          </a:xfrm>
          <a:prstGeom prst="rect">
            <a:avLst/>
          </a:prstGeom>
          <a:noFill/>
        </p:spPr>
        <p:txBody>
          <a:bodyPr wrap="square" lIns="36576" rIns="36576" tIns="18288" bIns="18288" anchor="ctr">
            <a:spAutoFit/>
          </a:bodyPr>
          <a:lstStyle/>
          <a:p>
            <a:pPr algn="l">
              <a:spcAft>
                <a:spcPts val="0"/>
              </a:spcAft>
            </a:pPr>
            <a:r>
              <a:rPr sz="1700" b="0" i="0">
                <a:solidFill>
                  <a:srgbClr val="14181A"/>
                </a:solidFill>
                <a:latin typeface="Calibri"/>
              </a:rPr>
              <a:t>Build a reproducible testbed with a known path and injectable faults</a:t>
            </a:r>
          </a:p>
        </p:txBody>
      </p:sp>
      <p:sp>
        <p:nvSpPr>
          <p:cNvPr id="7" name="Oval 6"/>
          <p:cNvSpPr/>
          <p:nvPr/>
        </p:nvSpPr>
        <p:spPr>
          <a:xfrm>
            <a:off x="585215" y="2459736"/>
            <a:ext cx="566928" cy="566928"/>
          </a:xfrm>
          <a:prstGeom prst="ellipse">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2</a:t>
            </a:r>
          </a:p>
        </p:txBody>
      </p:sp>
      <p:sp>
        <p:nvSpPr>
          <p:cNvPr id="8" name="TextBox 7"/>
          <p:cNvSpPr txBox="1"/>
          <p:nvPr/>
        </p:nvSpPr>
        <p:spPr>
          <a:xfrm>
            <a:off x="1325880" y="2377440"/>
            <a:ext cx="4937760" cy="777240"/>
          </a:xfrm>
          <a:prstGeom prst="rect">
            <a:avLst/>
          </a:prstGeom>
          <a:noFill/>
        </p:spPr>
        <p:txBody>
          <a:bodyPr wrap="square" lIns="36576" rIns="36576" tIns="18288" bIns="18288" anchor="ctr">
            <a:spAutoFit/>
          </a:bodyPr>
          <a:lstStyle/>
          <a:p>
            <a:pPr algn="l">
              <a:spcAft>
                <a:spcPts val="0"/>
              </a:spcAft>
            </a:pPr>
            <a:r>
              <a:rPr sz="1700" b="0" i="0">
                <a:solidFill>
                  <a:srgbClr val="14181A"/>
                </a:solidFill>
                <a:latin typeface="Calibri"/>
              </a:rPr>
              <a:t>Measure path hops and application RTT on one shared clock</a:t>
            </a:r>
          </a:p>
        </p:txBody>
      </p:sp>
      <p:sp>
        <p:nvSpPr>
          <p:cNvPr id="9" name="Oval 8"/>
          <p:cNvSpPr/>
          <p:nvPr/>
        </p:nvSpPr>
        <p:spPr>
          <a:xfrm>
            <a:off x="585215" y="3419856"/>
            <a:ext cx="566928" cy="566928"/>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3</a:t>
            </a:r>
          </a:p>
        </p:txBody>
      </p:sp>
      <p:sp>
        <p:nvSpPr>
          <p:cNvPr id="10" name="TextBox 9"/>
          <p:cNvSpPr txBox="1"/>
          <p:nvPr/>
        </p:nvSpPr>
        <p:spPr>
          <a:xfrm>
            <a:off x="1325880" y="3337560"/>
            <a:ext cx="4937760" cy="777240"/>
          </a:xfrm>
          <a:prstGeom prst="rect">
            <a:avLst/>
          </a:prstGeom>
          <a:noFill/>
        </p:spPr>
        <p:txBody>
          <a:bodyPr wrap="square" lIns="36576" rIns="36576" tIns="18288" bIns="18288" anchor="ctr">
            <a:spAutoFit/>
          </a:bodyPr>
          <a:lstStyle/>
          <a:p>
            <a:pPr algn="l">
              <a:spcAft>
                <a:spcPts val="0"/>
              </a:spcAft>
            </a:pPr>
            <a:r>
              <a:rPr sz="1700" b="0" i="0">
                <a:solidFill>
                  <a:srgbClr val="14181A"/>
                </a:solidFill>
                <a:latin typeface="Calibri"/>
              </a:rPr>
              <a:t>Detect onsets, align them in time, report evidence-bounded results</a:t>
            </a:r>
          </a:p>
        </p:txBody>
      </p:sp>
      <p:sp>
        <p:nvSpPr>
          <p:cNvPr id="11" name="Oval 10"/>
          <p:cNvSpPr/>
          <p:nvPr/>
        </p:nvSpPr>
        <p:spPr>
          <a:xfrm>
            <a:off x="585215" y="4379976"/>
            <a:ext cx="566928" cy="566928"/>
          </a:xfrm>
          <a:prstGeom prst="ellipse">
            <a:avLst/>
          </a:prstGeom>
          <a:solidFill>
            <a:srgbClr val="FF6B4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4</a:t>
            </a:r>
          </a:p>
        </p:txBody>
      </p:sp>
      <p:sp>
        <p:nvSpPr>
          <p:cNvPr id="12" name="TextBox 11"/>
          <p:cNvSpPr txBox="1"/>
          <p:nvPr/>
        </p:nvSpPr>
        <p:spPr>
          <a:xfrm>
            <a:off x="1325880" y="4297680"/>
            <a:ext cx="4937760" cy="777240"/>
          </a:xfrm>
          <a:prstGeom prst="rect">
            <a:avLst/>
          </a:prstGeom>
          <a:noFill/>
        </p:spPr>
        <p:txBody>
          <a:bodyPr wrap="square" lIns="36576" rIns="36576" tIns="18288" bIns="18288" anchor="ctr">
            <a:spAutoFit/>
          </a:bodyPr>
          <a:lstStyle/>
          <a:p>
            <a:pPr algn="l">
              <a:spcAft>
                <a:spcPts val="0"/>
              </a:spcAft>
            </a:pPr>
            <a:r>
              <a:rPr sz="1700" b="0" i="0">
                <a:solidFill>
                  <a:srgbClr val="14181A"/>
                </a:solidFill>
                <a:latin typeface="Calibri"/>
              </a:rPr>
              <a:t>Keep ground truth out of the engine's reach; score afterwards</a:t>
            </a:r>
          </a:p>
        </p:txBody>
      </p:sp>
      <p:sp>
        <p:nvSpPr>
          <p:cNvPr id="13" name="Oval 12"/>
          <p:cNvSpPr/>
          <p:nvPr/>
        </p:nvSpPr>
        <p:spPr>
          <a:xfrm>
            <a:off x="585215" y="5340096"/>
            <a:ext cx="566928" cy="566928"/>
          </a:xfrm>
          <a:prstGeom prst="ellipse">
            <a:avLst/>
          </a:prstGeom>
          <a:solidFill>
            <a:srgbClr val="6A4D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Arial Black"/>
              </a:rPr>
              <a:t>5</a:t>
            </a:r>
          </a:p>
        </p:txBody>
      </p:sp>
      <p:sp>
        <p:nvSpPr>
          <p:cNvPr id="14" name="TextBox 13"/>
          <p:cNvSpPr txBox="1"/>
          <p:nvPr/>
        </p:nvSpPr>
        <p:spPr>
          <a:xfrm>
            <a:off x="1325880" y="5257800"/>
            <a:ext cx="4937760" cy="777240"/>
          </a:xfrm>
          <a:prstGeom prst="rect">
            <a:avLst/>
          </a:prstGeom>
          <a:noFill/>
        </p:spPr>
        <p:txBody>
          <a:bodyPr wrap="square" lIns="36576" rIns="36576" tIns="18288" bIns="18288" anchor="ctr">
            <a:spAutoFit/>
          </a:bodyPr>
          <a:lstStyle/>
          <a:p>
            <a:pPr algn="l">
              <a:spcAft>
                <a:spcPts val="0"/>
              </a:spcAft>
            </a:pPr>
            <a:r>
              <a:rPr sz="1700" b="0" i="0">
                <a:solidFill>
                  <a:srgbClr val="14181A"/>
                </a:solidFill>
                <a:latin typeface="Calibri"/>
              </a:rPr>
              <a:t>Evaluate on separate tuning and held-out sets, and disclose misses</a:t>
            </a:r>
          </a:p>
        </p:txBody>
      </p:sp>
      <p:sp>
        <p:nvSpPr>
          <p:cNvPr id="15" name="in scope shadow"/>
          <p:cNvSpPr/>
          <p:nvPr/>
        </p:nvSpPr>
        <p:spPr>
          <a:xfrm>
            <a:off x="6647688" y="1435608"/>
            <a:ext cx="5029200" cy="24231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n scope"/>
          <p:cNvSpPr/>
          <p:nvPr/>
        </p:nvSpPr>
        <p:spPr>
          <a:xfrm>
            <a:off x="6583680" y="1371600"/>
            <a:ext cx="5029200" cy="242316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1444752"/>
            <a:ext cx="4572000" cy="36576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In scope (implemented)</a:t>
            </a:r>
          </a:p>
        </p:txBody>
      </p:sp>
      <p:sp>
        <p:nvSpPr>
          <p:cNvPr id="18" name="TextBox 17"/>
          <p:cNvSpPr txBox="1"/>
          <p:nvPr/>
        </p:nvSpPr>
        <p:spPr>
          <a:xfrm>
            <a:off x="6812280" y="1874519"/>
            <a:ext cx="4572000" cy="1920240"/>
          </a:xfrm>
          <a:prstGeom prst="rect">
            <a:avLst/>
          </a:prstGeom>
          <a:noFill/>
        </p:spPr>
        <p:txBody>
          <a:bodyPr wrap="square" lIns="36576" rIns="36576" tIns="18288" bIns="18288" anchor="t">
            <a:spAutoFit/>
          </a:bodyPr>
          <a:lstStyle/>
          <a:p>
            <a:pPr algn="l">
              <a:spcAft>
                <a:spcPts val="400"/>
              </a:spcAft>
            </a:pPr>
            <a:r>
              <a:rPr sz="1600" b="1" i="0">
                <a:solidFill>
                  <a:srgbClr val="14181A"/>
                </a:solidFill>
                <a:latin typeface="Calibri"/>
              </a:rPr>
              <a:t>•  </a:t>
            </a:r>
            <a:r>
              <a:rPr sz="1600" b="0" i="0">
                <a:solidFill>
                  <a:srgbClr val="14181A"/>
                </a:solidFill>
                <a:latin typeface="Calibri"/>
              </a:rPr>
              <a:t>6-namespace linear testbed, 5 hops</a:t>
            </a:r>
          </a:p>
          <a:p>
            <a:pPr algn="l">
              <a:spcAft>
                <a:spcPts val="400"/>
              </a:spcAft>
            </a:pPr>
            <a:r>
              <a:rPr sz="1600" b="1" i="0">
                <a:solidFill>
                  <a:srgbClr val="14181A"/>
                </a:solidFill>
                <a:latin typeface="Calibri"/>
              </a:rPr>
              <a:t>•  </a:t>
            </a:r>
            <a:r>
              <a:rPr sz="1600" b="0" i="0">
                <a:solidFill>
                  <a:srgbClr val="14181A"/>
                </a:solidFill>
                <a:latin typeface="Calibri"/>
              </a:rPr>
              <a:t>Raw-socket probing + WebSocket telemetry</a:t>
            </a:r>
          </a:p>
          <a:p>
            <a:pPr algn="l">
              <a:spcAft>
                <a:spcPts val="400"/>
              </a:spcAft>
            </a:pPr>
            <a:r>
              <a:rPr sz="1600" b="1" i="0">
                <a:solidFill>
                  <a:srgbClr val="14181A"/>
                </a:solidFill>
                <a:latin typeface="Calibri"/>
              </a:rPr>
              <a:t>•  </a:t>
            </a:r>
            <a:r>
              <a:rPr sz="1600" b="0" i="0">
                <a:solidFill>
                  <a:srgbClr val="14181A"/>
                </a:solidFill>
                <a:latin typeface="Calibri"/>
              </a:rPr>
              <a:t>Latency, jitter, loss, bandwidth faults</a:t>
            </a:r>
          </a:p>
          <a:p>
            <a:pPr algn="l">
              <a:spcAft>
                <a:spcPts val="400"/>
              </a:spcAft>
            </a:pPr>
            <a:r>
              <a:rPr sz="1600" b="1" i="0">
                <a:solidFill>
                  <a:srgbClr val="14181A"/>
                </a:solidFill>
                <a:latin typeface="Calibri"/>
              </a:rPr>
              <a:t>•  </a:t>
            </a:r>
            <a:r>
              <a:rPr sz="1600" b="0" i="0">
                <a:solidFill>
                  <a:srgbClr val="14181A"/>
                </a:solidFill>
                <a:latin typeface="Calibri"/>
              </a:rPr>
              <a:t>Median/MAD onsets, alignment, typed evidence</a:t>
            </a:r>
          </a:p>
          <a:p>
            <a:pPr algn="l">
              <a:spcAft>
                <a:spcPts val="400"/>
              </a:spcAft>
            </a:pPr>
            <a:r>
              <a:rPr sz="1600" b="1" i="0">
                <a:solidFill>
                  <a:srgbClr val="14181A"/>
                </a:solidFill>
                <a:latin typeface="Calibri"/>
              </a:rPr>
              <a:t>•  </a:t>
            </a:r>
            <a:r>
              <a:rPr sz="1600" b="0" i="0">
                <a:solidFill>
                  <a:srgbClr val="14181A"/>
                </a:solidFill>
                <a:latin typeface="Calibri"/>
              </a:rPr>
              <a:t>Stored-result dashboard, guided explanation</a:t>
            </a:r>
          </a:p>
        </p:txBody>
      </p:sp>
      <p:sp>
        <p:nvSpPr>
          <p:cNvPr id="19" name="out of scope"/>
          <p:cNvSpPr/>
          <p:nvPr/>
        </p:nvSpPr>
        <p:spPr>
          <a:xfrm>
            <a:off x="6583680" y="4069080"/>
            <a:ext cx="5029200" cy="2194560"/>
          </a:xfrm>
          <a:prstGeom prst="roundRect">
            <a:avLst>
              <a:gd name="adj" fmla="val 12000"/>
            </a:avLst>
          </a:prstGeom>
          <a:solidFill>
            <a:srgbClr val="FFE3DC"/>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4133087"/>
            <a:ext cx="4572000" cy="36576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Out of scope (not claimed)</a:t>
            </a:r>
          </a:p>
        </p:txBody>
      </p:sp>
      <p:sp>
        <p:nvSpPr>
          <p:cNvPr id="21" name="TextBox 20"/>
          <p:cNvSpPr txBox="1"/>
          <p:nvPr/>
        </p:nvSpPr>
        <p:spPr>
          <a:xfrm>
            <a:off x="6812280" y="4553712"/>
            <a:ext cx="4572000" cy="1691640"/>
          </a:xfrm>
          <a:prstGeom prst="rect">
            <a:avLst/>
          </a:prstGeom>
          <a:noFill/>
        </p:spPr>
        <p:txBody>
          <a:bodyPr wrap="square" lIns="36576" rIns="36576" tIns="18288" bIns="18288" anchor="t">
            <a:spAutoFit/>
          </a:bodyPr>
          <a:lstStyle/>
          <a:p>
            <a:pPr algn="l">
              <a:spcAft>
                <a:spcPts val="400"/>
              </a:spcAft>
            </a:pPr>
            <a:r>
              <a:rPr sz="1600" b="1" i="0">
                <a:solidFill>
                  <a:srgbClr val="14181A"/>
                </a:solidFill>
                <a:latin typeface="Calibri"/>
              </a:rPr>
              <a:t>•  </a:t>
            </a:r>
            <a:r>
              <a:rPr sz="1600" b="0" i="0">
                <a:solidFill>
                  <a:srgbClr val="14181A"/>
                </a:solidFill>
                <a:latin typeface="Calibri"/>
              </a:rPr>
              <a:t>Real or multi-path networks</a:t>
            </a:r>
          </a:p>
          <a:p>
            <a:pPr algn="l">
              <a:spcAft>
                <a:spcPts val="400"/>
              </a:spcAft>
            </a:pPr>
            <a:r>
              <a:rPr sz="1600" b="1" i="0">
                <a:solidFill>
                  <a:srgbClr val="14181A"/>
                </a:solidFill>
                <a:latin typeface="Calibri"/>
              </a:rPr>
              <a:t>•  </a:t>
            </a:r>
            <a:r>
              <a:rPr sz="1600" b="0" i="0">
                <a:solidFill>
                  <a:srgbClr val="14181A"/>
                </a:solidFill>
                <a:latin typeface="Calibri"/>
              </a:rPr>
              <a:t>Reliable loss / bandwidth localization</a:t>
            </a:r>
          </a:p>
          <a:p>
            <a:pPr algn="l">
              <a:spcAft>
                <a:spcPts val="400"/>
              </a:spcAft>
            </a:pPr>
            <a:r>
              <a:rPr sz="1600" b="1" i="0">
                <a:solidFill>
                  <a:srgbClr val="14181A"/>
                </a:solidFill>
                <a:latin typeface="Calibri"/>
              </a:rPr>
              <a:t>•  </a:t>
            </a:r>
            <a:r>
              <a:rPr sz="1600" b="0" i="0">
                <a:solidFill>
                  <a:srgbClr val="14181A"/>
                </a:solidFill>
                <a:latin typeface="Calibri"/>
              </a:rPr>
              <a:t>Calibrated confidence; causal claims</a:t>
            </a:r>
          </a:p>
          <a:p>
            <a:pPr algn="l">
              <a:spcAft>
                <a:spcPts val="400"/>
              </a:spcAft>
            </a:pPr>
            <a:r>
              <a:rPr sz="1600" b="1" i="0">
                <a:solidFill>
                  <a:srgbClr val="14181A"/>
                </a:solidFill>
                <a:latin typeface="Calibri"/>
              </a:rPr>
              <a:t>•  </a:t>
            </a:r>
            <a:r>
              <a:rPr sz="1600" b="0" i="0">
                <a:solidFill>
                  <a:srgbClr val="14181A"/>
                </a:solidFill>
                <a:latin typeface="Calibri"/>
              </a:rPr>
              <a:t>Sealed, full-scale evaluation (spec Phase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Key idea: measure, detect, align, report</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4</a:t>
            </a:r>
          </a:p>
        </p:txBody>
      </p:sp>
      <p:sp>
        <p:nvSpPr>
          <p:cNvPr id="5" name="card shadow"/>
          <p:cNvSpPr/>
          <p:nvPr/>
        </p:nvSpPr>
        <p:spPr>
          <a:xfrm>
            <a:off x="612647" y="1527048"/>
            <a:ext cx="242316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463040"/>
            <a:ext cx="242316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19" y="1709928"/>
            <a:ext cx="640080" cy="640080"/>
          </a:xfrm>
          <a:prstGeom prst="ellipse">
            <a:avLst/>
          </a:prstGeom>
          <a:solidFill>
            <a:srgbClr val="2FD3E0"/>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14181A"/>
                </a:solidFill>
                <a:latin typeface="Arial Black"/>
              </a:rPr>
              <a:t>1</a:t>
            </a:r>
          </a:p>
        </p:txBody>
      </p:sp>
      <p:sp>
        <p:nvSpPr>
          <p:cNvPr id="8" name="TextBox 7"/>
          <p:cNvSpPr txBox="1"/>
          <p:nvPr/>
        </p:nvSpPr>
        <p:spPr>
          <a:xfrm>
            <a:off x="1463040" y="1783080"/>
            <a:ext cx="1417319" cy="548640"/>
          </a:xfrm>
          <a:prstGeom prst="rect">
            <a:avLst/>
          </a:prstGeom>
          <a:noFill/>
        </p:spPr>
        <p:txBody>
          <a:bodyPr wrap="square" lIns="36576" rIns="36576" tIns="18288" bIns="18288" anchor="ctr">
            <a:spAutoFit/>
          </a:bodyPr>
          <a:lstStyle/>
          <a:p>
            <a:pPr algn="l">
              <a:spcAft>
                <a:spcPts val="0"/>
              </a:spcAft>
            </a:pPr>
            <a:r>
              <a:rPr sz="2400" b="1" i="0">
                <a:solidFill>
                  <a:srgbClr val="14181A"/>
                </a:solidFill>
                <a:latin typeface="Calibri"/>
              </a:rPr>
              <a:t>Measure</a:t>
            </a:r>
          </a:p>
        </p:txBody>
      </p:sp>
      <p:sp>
        <p:nvSpPr>
          <p:cNvPr id="9" name="TextBox 8"/>
          <p:cNvSpPr txBox="1"/>
          <p:nvPr/>
        </p:nvSpPr>
        <p:spPr>
          <a:xfrm>
            <a:off x="777240" y="2651760"/>
            <a:ext cx="1965960" cy="1097280"/>
          </a:xfrm>
          <a:prstGeom prst="rect">
            <a:avLst/>
          </a:prstGeom>
          <a:noFill/>
        </p:spPr>
        <p:txBody>
          <a:bodyPr wrap="square" lIns="36576" rIns="36576" tIns="18288" bIns="18288" anchor="t">
            <a:spAutoFit/>
          </a:bodyPr>
          <a:lstStyle/>
          <a:p>
            <a:pPr algn="l">
              <a:spcAft>
                <a:spcPts val="0"/>
              </a:spcAft>
            </a:pPr>
            <a:r>
              <a:rPr sz="1800" b="0" i="0">
                <a:solidFill>
                  <a:srgbClr val="14181A"/>
                </a:solidFill>
                <a:latin typeface="Calibri"/>
              </a:rPr>
              <a:t>Probe every hop; sample the app's own RTT</a:t>
            </a:r>
          </a:p>
        </p:txBody>
      </p:sp>
      <p:sp>
        <p:nvSpPr>
          <p:cNvPr id="10" name="pill"/>
          <p:cNvSpPr/>
          <p:nvPr/>
        </p:nvSpPr>
        <p:spPr>
          <a:xfrm>
            <a:off x="731520" y="3703320"/>
            <a:ext cx="2057400" cy="685800"/>
          </a:xfrm>
          <a:prstGeom prst="roundRect">
            <a:avLst>
              <a:gd name="adj" fmla="val 50000"/>
            </a:avLst>
          </a:prstGeom>
          <a:solidFill>
            <a:srgbClr val="E7EFF2"/>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0" i="0">
                <a:solidFill>
                  <a:srgbClr val="14181A"/>
                </a:solidFill>
                <a:latin typeface="Consolas"/>
              </a:rPr>
              <a:t>one CLOCK_MONOTONIC</a:t>
            </a:r>
          </a:p>
        </p:txBody>
      </p:sp>
      <p:cxnSp>
        <p:nvCxnSpPr>
          <p:cNvPr id="11" name="arrow"/>
          <p:cNvCxnSpPr/>
          <p:nvPr/>
        </p:nvCxnSpPr>
        <p:spPr>
          <a:xfrm>
            <a:off x="3008376" y="3017520"/>
            <a:ext cx="384048" cy="0"/>
          </a:xfrm>
          <a:prstGeom prst="line">
            <a:avLst/>
          </a:prstGeom>
          <a:ln w="4445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card shadow"/>
          <p:cNvSpPr/>
          <p:nvPr/>
        </p:nvSpPr>
        <p:spPr>
          <a:xfrm>
            <a:off x="3493008" y="1527048"/>
            <a:ext cx="242316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
          <p:cNvSpPr/>
          <p:nvPr/>
        </p:nvSpPr>
        <p:spPr>
          <a:xfrm>
            <a:off x="3429000" y="1463040"/>
            <a:ext cx="242316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11879" y="1709928"/>
            <a:ext cx="640080" cy="640080"/>
          </a:xfrm>
          <a:prstGeom prst="ellipse">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14181A"/>
                </a:solidFill>
                <a:latin typeface="Arial Black"/>
              </a:rPr>
              <a:t>2</a:t>
            </a:r>
          </a:p>
        </p:txBody>
      </p:sp>
      <p:sp>
        <p:nvSpPr>
          <p:cNvPr id="15" name="TextBox 14"/>
          <p:cNvSpPr txBox="1"/>
          <p:nvPr/>
        </p:nvSpPr>
        <p:spPr>
          <a:xfrm>
            <a:off x="4343400" y="1783080"/>
            <a:ext cx="1417319" cy="548640"/>
          </a:xfrm>
          <a:prstGeom prst="rect">
            <a:avLst/>
          </a:prstGeom>
          <a:noFill/>
        </p:spPr>
        <p:txBody>
          <a:bodyPr wrap="square" lIns="36576" rIns="36576" tIns="18288" bIns="18288" anchor="ctr">
            <a:spAutoFit/>
          </a:bodyPr>
          <a:lstStyle/>
          <a:p>
            <a:pPr algn="l">
              <a:spcAft>
                <a:spcPts val="0"/>
              </a:spcAft>
            </a:pPr>
            <a:r>
              <a:rPr sz="2400" b="1" i="0">
                <a:solidFill>
                  <a:srgbClr val="14181A"/>
                </a:solidFill>
                <a:latin typeface="Calibri"/>
              </a:rPr>
              <a:t>Detect</a:t>
            </a:r>
          </a:p>
        </p:txBody>
      </p:sp>
      <p:sp>
        <p:nvSpPr>
          <p:cNvPr id="16" name="TextBox 15"/>
          <p:cNvSpPr txBox="1"/>
          <p:nvPr/>
        </p:nvSpPr>
        <p:spPr>
          <a:xfrm>
            <a:off x="3657600" y="2651760"/>
            <a:ext cx="1965960" cy="1097280"/>
          </a:xfrm>
          <a:prstGeom prst="rect">
            <a:avLst/>
          </a:prstGeom>
          <a:noFill/>
        </p:spPr>
        <p:txBody>
          <a:bodyPr wrap="square" lIns="36576" rIns="36576" tIns="18288" bIns="18288" anchor="t">
            <a:spAutoFit/>
          </a:bodyPr>
          <a:lstStyle/>
          <a:p>
            <a:pPr algn="l">
              <a:spcAft>
                <a:spcPts val="0"/>
              </a:spcAft>
            </a:pPr>
            <a:r>
              <a:rPr sz="1800" b="0" i="0">
                <a:solidFill>
                  <a:srgbClr val="14181A"/>
                </a:solidFill>
                <a:latin typeface="Calibri"/>
              </a:rPr>
              <a:t>Find when each series starts to misbehave</a:t>
            </a:r>
          </a:p>
        </p:txBody>
      </p:sp>
      <p:sp>
        <p:nvSpPr>
          <p:cNvPr id="17" name="pill"/>
          <p:cNvSpPr/>
          <p:nvPr/>
        </p:nvSpPr>
        <p:spPr>
          <a:xfrm>
            <a:off x="3611880" y="3703320"/>
            <a:ext cx="2057400" cy="685800"/>
          </a:xfrm>
          <a:prstGeom prst="roundRect">
            <a:avLst>
              <a:gd name="adj" fmla="val 50000"/>
            </a:avLst>
          </a:prstGeom>
          <a:solidFill>
            <a:srgbClr val="E7EFF2"/>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0" i="0">
                <a:solidFill>
                  <a:srgbClr val="14181A"/>
                </a:solidFill>
                <a:latin typeface="Consolas"/>
              </a:rPr>
              <a:t>median + 5·MAD, 3 in a row</a:t>
            </a:r>
          </a:p>
        </p:txBody>
      </p:sp>
      <p:cxnSp>
        <p:nvCxnSpPr>
          <p:cNvPr id="18" name="arrow"/>
          <p:cNvCxnSpPr/>
          <p:nvPr/>
        </p:nvCxnSpPr>
        <p:spPr>
          <a:xfrm>
            <a:off x="5888736" y="3017520"/>
            <a:ext cx="384048" cy="0"/>
          </a:xfrm>
          <a:prstGeom prst="line">
            <a:avLst/>
          </a:prstGeom>
          <a:ln w="4445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card shadow"/>
          <p:cNvSpPr/>
          <p:nvPr/>
        </p:nvSpPr>
        <p:spPr>
          <a:xfrm>
            <a:off x="6373368" y="1527048"/>
            <a:ext cx="242316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rd"/>
          <p:cNvSpPr/>
          <p:nvPr/>
        </p:nvSpPr>
        <p:spPr>
          <a:xfrm>
            <a:off x="6309359" y="1463040"/>
            <a:ext cx="242316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2240" y="1709928"/>
            <a:ext cx="640080" cy="640080"/>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14181A"/>
                </a:solidFill>
                <a:latin typeface="Arial Black"/>
              </a:rPr>
              <a:t>3</a:t>
            </a:r>
          </a:p>
        </p:txBody>
      </p:sp>
      <p:sp>
        <p:nvSpPr>
          <p:cNvPr id="22" name="TextBox 21"/>
          <p:cNvSpPr txBox="1"/>
          <p:nvPr/>
        </p:nvSpPr>
        <p:spPr>
          <a:xfrm>
            <a:off x="7223759" y="1783080"/>
            <a:ext cx="1417319" cy="548640"/>
          </a:xfrm>
          <a:prstGeom prst="rect">
            <a:avLst/>
          </a:prstGeom>
          <a:noFill/>
        </p:spPr>
        <p:txBody>
          <a:bodyPr wrap="square" lIns="36576" rIns="36576" tIns="18288" bIns="18288" anchor="ctr">
            <a:spAutoFit/>
          </a:bodyPr>
          <a:lstStyle/>
          <a:p>
            <a:pPr algn="l">
              <a:spcAft>
                <a:spcPts val="0"/>
              </a:spcAft>
            </a:pPr>
            <a:r>
              <a:rPr sz="2400" b="1" i="0">
                <a:solidFill>
                  <a:srgbClr val="14181A"/>
                </a:solidFill>
                <a:latin typeface="Calibri"/>
              </a:rPr>
              <a:t>Align</a:t>
            </a:r>
          </a:p>
        </p:txBody>
      </p:sp>
      <p:sp>
        <p:nvSpPr>
          <p:cNvPr id="23" name="TextBox 22"/>
          <p:cNvSpPr txBox="1"/>
          <p:nvPr/>
        </p:nvSpPr>
        <p:spPr>
          <a:xfrm>
            <a:off x="6537959" y="2651760"/>
            <a:ext cx="1965960" cy="1097280"/>
          </a:xfrm>
          <a:prstGeom prst="rect">
            <a:avLst/>
          </a:prstGeom>
          <a:noFill/>
        </p:spPr>
        <p:txBody>
          <a:bodyPr wrap="square" lIns="36576" rIns="36576" tIns="18288" bIns="18288" anchor="t">
            <a:spAutoFit/>
          </a:bodyPr>
          <a:lstStyle/>
          <a:p>
            <a:pPr algn="l">
              <a:spcAft>
                <a:spcPts val="0"/>
              </a:spcAft>
            </a:pPr>
            <a:r>
              <a:rPr sz="1800" b="0" i="0">
                <a:solidFill>
                  <a:srgbClr val="14181A"/>
                </a:solidFill>
                <a:latin typeface="Calibri"/>
              </a:rPr>
              <a:t>Does a hop's onset line up with the app's?</a:t>
            </a:r>
          </a:p>
        </p:txBody>
      </p:sp>
      <p:sp>
        <p:nvSpPr>
          <p:cNvPr id="24" name="pill"/>
          <p:cNvSpPr/>
          <p:nvPr/>
        </p:nvSpPr>
        <p:spPr>
          <a:xfrm>
            <a:off x="6492240" y="3703320"/>
            <a:ext cx="2057400" cy="685800"/>
          </a:xfrm>
          <a:prstGeom prst="roundRect">
            <a:avLst>
              <a:gd name="adj" fmla="val 50000"/>
            </a:avLst>
          </a:prstGeom>
          <a:solidFill>
            <a:srgbClr val="E7EFF2"/>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0" i="0">
                <a:solidFill>
                  <a:srgbClr val="14181A"/>
                </a:solidFill>
                <a:latin typeface="Consolas"/>
              </a:rPr>
              <a:t>|Δt| ≤ 1.5 s + persistence</a:t>
            </a:r>
          </a:p>
        </p:txBody>
      </p:sp>
      <p:cxnSp>
        <p:nvCxnSpPr>
          <p:cNvPr id="25" name="arrow"/>
          <p:cNvCxnSpPr/>
          <p:nvPr/>
        </p:nvCxnSpPr>
        <p:spPr>
          <a:xfrm>
            <a:off x="8769095" y="3017520"/>
            <a:ext cx="384049" cy="0"/>
          </a:xfrm>
          <a:prstGeom prst="line">
            <a:avLst/>
          </a:prstGeom>
          <a:ln w="4445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card shadow"/>
          <p:cNvSpPr/>
          <p:nvPr/>
        </p:nvSpPr>
        <p:spPr>
          <a:xfrm>
            <a:off x="9253728" y="1527048"/>
            <a:ext cx="242316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rd"/>
          <p:cNvSpPr/>
          <p:nvPr/>
        </p:nvSpPr>
        <p:spPr>
          <a:xfrm>
            <a:off x="9189719" y="1463040"/>
            <a:ext cx="242316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372600" y="1709928"/>
            <a:ext cx="640080" cy="640080"/>
          </a:xfrm>
          <a:prstGeom prst="ellipse">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14181A"/>
                </a:solidFill>
                <a:latin typeface="Arial Black"/>
              </a:rPr>
              <a:t>4</a:t>
            </a:r>
          </a:p>
        </p:txBody>
      </p:sp>
      <p:sp>
        <p:nvSpPr>
          <p:cNvPr id="29" name="TextBox 28"/>
          <p:cNvSpPr txBox="1"/>
          <p:nvPr/>
        </p:nvSpPr>
        <p:spPr>
          <a:xfrm>
            <a:off x="10104119" y="1783080"/>
            <a:ext cx="1417319" cy="548640"/>
          </a:xfrm>
          <a:prstGeom prst="rect">
            <a:avLst/>
          </a:prstGeom>
          <a:noFill/>
        </p:spPr>
        <p:txBody>
          <a:bodyPr wrap="square" lIns="36576" rIns="36576" tIns="18288" bIns="18288" anchor="ctr">
            <a:spAutoFit/>
          </a:bodyPr>
          <a:lstStyle/>
          <a:p>
            <a:pPr algn="l">
              <a:spcAft>
                <a:spcPts val="0"/>
              </a:spcAft>
            </a:pPr>
            <a:r>
              <a:rPr sz="2400" b="1" i="0">
                <a:solidFill>
                  <a:srgbClr val="14181A"/>
                </a:solidFill>
                <a:latin typeface="Calibri"/>
              </a:rPr>
              <a:t>Report</a:t>
            </a:r>
          </a:p>
        </p:txBody>
      </p:sp>
      <p:sp>
        <p:nvSpPr>
          <p:cNvPr id="30" name="TextBox 29"/>
          <p:cNvSpPr txBox="1"/>
          <p:nvPr/>
        </p:nvSpPr>
        <p:spPr>
          <a:xfrm>
            <a:off x="9418319" y="2651760"/>
            <a:ext cx="1965960" cy="1097280"/>
          </a:xfrm>
          <a:prstGeom prst="rect">
            <a:avLst/>
          </a:prstGeom>
          <a:noFill/>
        </p:spPr>
        <p:txBody>
          <a:bodyPr wrap="square" lIns="36576" rIns="36576" tIns="18288" bIns="18288" anchor="t">
            <a:spAutoFit/>
          </a:bodyPr>
          <a:lstStyle/>
          <a:p>
            <a:pPr algn="l">
              <a:spcAft>
                <a:spcPts val="0"/>
              </a:spcAft>
            </a:pPr>
            <a:r>
              <a:rPr sz="1800" b="0" i="0">
                <a:solidFill>
                  <a:srgbClr val="14181A"/>
                </a:solidFill>
                <a:latin typeface="Calibri"/>
              </a:rPr>
              <a:t>Name the earliest corroborated hop</a:t>
            </a:r>
          </a:p>
        </p:txBody>
      </p:sp>
      <p:sp>
        <p:nvSpPr>
          <p:cNvPr id="31" name="pill"/>
          <p:cNvSpPr/>
          <p:nvPr/>
        </p:nvSpPr>
        <p:spPr>
          <a:xfrm>
            <a:off x="9372599" y="3703320"/>
            <a:ext cx="2057400" cy="685800"/>
          </a:xfrm>
          <a:prstGeom prst="roundRect">
            <a:avLst>
              <a:gd name="adj" fmla="val 50000"/>
            </a:avLst>
          </a:prstGeom>
          <a:solidFill>
            <a:srgbClr val="E7EFF2"/>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0" i="0">
                <a:solidFill>
                  <a:srgbClr val="14181A"/>
                </a:solidFill>
                <a:latin typeface="Consolas"/>
              </a:rPr>
              <a:t>at or after Hop N</a:t>
            </a:r>
          </a:p>
        </p:txBody>
      </p:sp>
      <p:sp>
        <p:nvSpPr>
          <p:cNvPr id="32" name="output band"/>
          <p:cNvSpPr/>
          <p:nvPr/>
        </p:nvSpPr>
        <p:spPr>
          <a:xfrm>
            <a:off x="548640" y="4846320"/>
            <a:ext cx="11064240" cy="1417320"/>
          </a:xfrm>
          <a:prstGeom prst="roundRect">
            <a:avLst>
              <a:gd name="adj" fmla="val 12000"/>
            </a:avLst>
          </a:prstGeom>
          <a:solidFill>
            <a:srgbClr val="14181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910328"/>
            <a:ext cx="10515600" cy="457200"/>
          </a:xfrm>
          <a:prstGeom prst="rect">
            <a:avLst/>
          </a:prstGeom>
          <a:noFill/>
        </p:spPr>
        <p:txBody>
          <a:bodyPr wrap="square" lIns="36576" rIns="36576" tIns="18288" bIns="18288" anchor="t">
            <a:spAutoFit/>
          </a:bodyPr>
          <a:lstStyle/>
          <a:p>
            <a:pPr algn="l">
              <a:spcAft>
                <a:spcPts val="0"/>
              </a:spcAft>
            </a:pPr>
            <a:r>
              <a:rPr sz="1400" b="0" i="0">
                <a:solidFill>
                  <a:srgbClr val="2FD3E0"/>
                </a:solidFill>
                <a:latin typeface="Consolas"/>
              </a:rPr>
              <a:t>The only sentence it will say</a:t>
            </a:r>
          </a:p>
        </p:txBody>
      </p:sp>
      <p:sp>
        <p:nvSpPr>
          <p:cNvPr id="34" name="TextBox 33"/>
          <p:cNvSpPr txBox="1"/>
          <p:nvPr/>
        </p:nvSpPr>
        <p:spPr>
          <a:xfrm>
            <a:off x="822960" y="5321808"/>
            <a:ext cx="10515600" cy="548640"/>
          </a:xfrm>
          <a:prstGeom prst="rect">
            <a:avLst/>
          </a:prstGeom>
          <a:noFill/>
        </p:spPr>
        <p:txBody>
          <a:bodyPr wrap="square" lIns="36576" rIns="36576" tIns="18288" bIns="18288" anchor="t">
            <a:spAutoFit/>
          </a:bodyPr>
          <a:lstStyle/>
          <a:p>
            <a:pPr algn="l">
              <a:spcAft>
                <a:spcPts val="0"/>
              </a:spcAft>
            </a:pPr>
            <a:r>
              <a:rPr sz="2800" b="1" i="0">
                <a:solidFill>
                  <a:srgbClr val="FFFFFF"/>
                </a:solidFill>
                <a:latin typeface="Calibri"/>
              </a:rPr>
              <a:t>“Degradation appears to begin at or after Hop N.”</a:t>
            </a:r>
          </a:p>
        </p:txBody>
      </p:sp>
      <p:sp>
        <p:nvSpPr>
          <p:cNvPr id="35" name="TextBox 34"/>
          <p:cNvSpPr txBox="1"/>
          <p:nvPr/>
        </p:nvSpPr>
        <p:spPr>
          <a:xfrm>
            <a:off x="822960" y="5870448"/>
            <a:ext cx="10515600" cy="365760"/>
          </a:xfrm>
          <a:prstGeom prst="rect">
            <a:avLst/>
          </a:prstGeom>
          <a:noFill/>
        </p:spPr>
        <p:txBody>
          <a:bodyPr wrap="square" lIns="36576" rIns="36576" tIns="18288" bIns="18288" anchor="t">
            <a:spAutoFit/>
          </a:bodyPr>
          <a:lstStyle/>
          <a:p>
            <a:pPr algn="l">
              <a:spcAft>
                <a:spcPts val="0"/>
              </a:spcAft>
            </a:pPr>
            <a:r>
              <a:rPr sz="1500" b="0" i="0">
                <a:solidFill>
                  <a:srgbClr val="D3E3E6"/>
                </a:solidFill>
                <a:latin typeface="Calibri"/>
              </a:rPr>
              <a:t>Never: “Router N caused it.”  Forbidden phrases are asserted out in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System architecture</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5</a:t>
            </a:r>
          </a:p>
        </p:txBody>
      </p:sp>
      <p:sp>
        <p:nvSpPr>
          <p:cNvPr id="5" name="TextBox 4"/>
          <p:cNvSpPr txBox="1"/>
          <p:nvPr/>
        </p:nvSpPr>
        <p:spPr>
          <a:xfrm>
            <a:off x="548640" y="1188720"/>
            <a:ext cx="7315200" cy="274320"/>
          </a:xfrm>
          <a:prstGeom prst="rect">
            <a:avLst/>
          </a:prstGeom>
          <a:noFill/>
        </p:spPr>
        <p:txBody>
          <a:bodyPr wrap="square" lIns="36576" rIns="36576" tIns="18288" bIns="18288" anchor="t">
            <a:spAutoFit/>
          </a:bodyPr>
          <a:lstStyle/>
          <a:p>
            <a:pPr algn="l">
              <a:spcAft>
                <a:spcPts val="0"/>
              </a:spcAft>
            </a:pPr>
            <a:r>
              <a:rPr sz="1200" b="1" i="0">
                <a:solidFill>
                  <a:srgbClr val="3D4D55"/>
                </a:solidFill>
                <a:latin typeface="Consolas"/>
              </a:rPr>
              <a:t>OBSERVATION AND ANALYSIS (reads no ground truth)</a:t>
            </a:r>
          </a:p>
        </p:txBody>
      </p:sp>
      <p:sp>
        <p:nvSpPr>
          <p:cNvPr id="6" name="card shadow"/>
          <p:cNvSpPr/>
          <p:nvPr/>
        </p:nvSpPr>
        <p:spPr>
          <a:xfrm>
            <a:off x="612647" y="2167127"/>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p:cNvSpPr/>
          <p:nvPr/>
        </p:nvSpPr>
        <p:spPr>
          <a:xfrm>
            <a:off x="548640" y="2103120"/>
            <a:ext cx="1828800" cy="100584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17627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Controlled testbed</a:t>
            </a:r>
          </a:p>
          <a:p>
            <a:pPr algn="ctr">
              <a:spcAft>
                <a:spcPts val="0"/>
              </a:spcAft>
            </a:pPr>
            <a:r>
              <a:rPr sz="1200" b="0" i="0">
                <a:solidFill>
                  <a:srgbClr val="3D4D55"/>
                </a:solidFill>
                <a:latin typeface="Consolas"/>
              </a:rPr>
              <a:t>6 namespaces</a:t>
            </a:r>
          </a:p>
        </p:txBody>
      </p:sp>
      <p:sp>
        <p:nvSpPr>
          <p:cNvPr id="9" name="card shadow"/>
          <p:cNvSpPr/>
          <p:nvPr/>
        </p:nvSpPr>
        <p:spPr>
          <a:xfrm>
            <a:off x="2944368" y="1572768"/>
            <a:ext cx="1828800" cy="8686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2880360" y="1508760"/>
            <a:ext cx="1828800" cy="86868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53512" y="1581912"/>
            <a:ext cx="1682496" cy="722375"/>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Path prober</a:t>
            </a:r>
          </a:p>
          <a:p>
            <a:pPr algn="ctr">
              <a:spcAft>
                <a:spcPts val="0"/>
              </a:spcAft>
            </a:pPr>
            <a:r>
              <a:rPr sz="1200" b="0" i="0">
                <a:solidFill>
                  <a:srgbClr val="3D4D55"/>
                </a:solidFill>
                <a:latin typeface="Consolas"/>
              </a:rPr>
              <a:t>→ hop.jsonl</a:t>
            </a:r>
          </a:p>
        </p:txBody>
      </p:sp>
      <p:sp>
        <p:nvSpPr>
          <p:cNvPr id="12" name="card shadow"/>
          <p:cNvSpPr/>
          <p:nvPr/>
        </p:nvSpPr>
        <p:spPr>
          <a:xfrm>
            <a:off x="2944368" y="2761488"/>
            <a:ext cx="1828800" cy="8686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
          <p:cNvSpPr/>
          <p:nvPr/>
        </p:nvSpPr>
        <p:spPr>
          <a:xfrm>
            <a:off x="2880360" y="2697480"/>
            <a:ext cx="1828800" cy="86868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3512" y="2770632"/>
            <a:ext cx="1682496" cy="722375"/>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App telemetry</a:t>
            </a:r>
          </a:p>
          <a:p>
            <a:pPr algn="ctr">
              <a:spcAft>
                <a:spcPts val="0"/>
              </a:spcAft>
            </a:pPr>
            <a:r>
              <a:rPr sz="1200" b="0" i="0">
                <a:solidFill>
                  <a:srgbClr val="3D4D55"/>
                </a:solidFill>
                <a:latin typeface="Consolas"/>
              </a:rPr>
              <a:t>→ app.jsonl</a:t>
            </a:r>
          </a:p>
        </p:txBody>
      </p:sp>
      <p:sp>
        <p:nvSpPr>
          <p:cNvPr id="15" name="card shadow"/>
          <p:cNvSpPr/>
          <p:nvPr/>
        </p:nvSpPr>
        <p:spPr>
          <a:xfrm>
            <a:off x="5276088" y="2167127"/>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cNvSpPr/>
          <p:nvPr/>
        </p:nvSpPr>
        <p:spPr>
          <a:xfrm>
            <a:off x="5212079" y="2103120"/>
            <a:ext cx="1828800" cy="10058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231" y="217627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Correlation engine</a:t>
            </a:r>
          </a:p>
          <a:p>
            <a:pPr algn="ctr">
              <a:spcAft>
                <a:spcPts val="0"/>
              </a:spcAft>
            </a:pPr>
            <a:r>
              <a:rPr sz="1200" b="0" i="0">
                <a:solidFill>
                  <a:srgbClr val="3D4D55"/>
                </a:solidFill>
                <a:latin typeface="Consolas"/>
              </a:rPr>
              <a:t>→ EvidenceRecord</a:t>
            </a:r>
          </a:p>
        </p:txBody>
      </p:sp>
      <p:sp>
        <p:nvSpPr>
          <p:cNvPr id="18" name="card shadow"/>
          <p:cNvSpPr/>
          <p:nvPr/>
        </p:nvSpPr>
        <p:spPr>
          <a:xfrm>
            <a:off x="7607808" y="2167127"/>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rd"/>
          <p:cNvSpPr/>
          <p:nvPr/>
        </p:nvSpPr>
        <p:spPr>
          <a:xfrm>
            <a:off x="7543800" y="2103120"/>
            <a:ext cx="1828800" cy="10058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16952" y="217627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Interpretation</a:t>
            </a:r>
          </a:p>
          <a:p>
            <a:pPr algn="ctr">
              <a:spcAft>
                <a:spcPts val="0"/>
              </a:spcAft>
            </a:pPr>
            <a:r>
              <a:rPr sz="1100" b="0" i="0">
                <a:solidFill>
                  <a:srgbClr val="3D4D55"/>
                </a:solidFill>
                <a:latin typeface="Consolas"/>
              </a:rPr>
              <a:t>→ path_bundle.json</a:t>
            </a:r>
          </a:p>
        </p:txBody>
      </p:sp>
      <p:sp>
        <p:nvSpPr>
          <p:cNvPr id="21" name="card shadow"/>
          <p:cNvSpPr/>
          <p:nvPr/>
        </p:nvSpPr>
        <p:spPr>
          <a:xfrm>
            <a:off x="9939528" y="2167127"/>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cNvSpPr/>
          <p:nvPr/>
        </p:nvSpPr>
        <p:spPr>
          <a:xfrm>
            <a:off x="9875519" y="2103120"/>
            <a:ext cx="1828800" cy="1005840"/>
          </a:xfrm>
          <a:prstGeom prst="roundRect">
            <a:avLst>
              <a:gd name="adj" fmla="val 12000"/>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48672" y="217627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Dashboard</a:t>
            </a:r>
          </a:p>
          <a:p>
            <a:pPr algn="ctr">
              <a:spcAft>
                <a:spcPts val="0"/>
              </a:spcAft>
            </a:pPr>
            <a:r>
              <a:rPr sz="1100" b="0" i="0">
                <a:solidFill>
                  <a:srgbClr val="3D4D55"/>
                </a:solidFill>
                <a:latin typeface="Consolas"/>
              </a:rPr>
              <a:t>reads stored bundles</a:t>
            </a:r>
          </a:p>
        </p:txBody>
      </p:sp>
      <p:cxnSp>
        <p:nvCxnSpPr>
          <p:cNvPr id="24" name="arrow"/>
          <p:cNvCxnSpPr/>
          <p:nvPr/>
        </p:nvCxnSpPr>
        <p:spPr>
          <a:xfrm flipV="1">
            <a:off x="2377440" y="1938528"/>
            <a:ext cx="502920" cy="484631"/>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p:cNvCxnSpPr/>
          <p:nvPr/>
        </p:nvCxnSpPr>
        <p:spPr>
          <a:xfrm>
            <a:off x="2377440" y="2788920"/>
            <a:ext cx="502920" cy="338328"/>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arrow"/>
          <p:cNvCxnSpPr/>
          <p:nvPr/>
        </p:nvCxnSpPr>
        <p:spPr>
          <a:xfrm>
            <a:off x="4709160" y="1938528"/>
            <a:ext cx="502919" cy="484631"/>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rrow"/>
          <p:cNvCxnSpPr/>
          <p:nvPr/>
        </p:nvCxnSpPr>
        <p:spPr>
          <a:xfrm flipV="1">
            <a:off x="4709160" y="2788920"/>
            <a:ext cx="502919" cy="338328"/>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p:cNvCxnSpPr/>
          <p:nvPr/>
        </p:nvCxnSpPr>
        <p:spPr>
          <a:xfrm>
            <a:off x="7040879" y="2606039"/>
            <a:ext cx="502921" cy="0"/>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rrow"/>
          <p:cNvCxnSpPr/>
          <p:nvPr/>
        </p:nvCxnSpPr>
        <p:spPr>
          <a:xfrm>
            <a:off x="9372600" y="2606039"/>
            <a:ext cx="502919" cy="0"/>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line"/>
          <p:cNvCxnSpPr/>
          <p:nvPr/>
        </p:nvCxnSpPr>
        <p:spPr>
          <a:xfrm>
            <a:off x="411480" y="4023360"/>
            <a:ext cx="11384280" cy="0"/>
          </a:xfrm>
          <a:prstGeom prst="line">
            <a:avLst/>
          </a:prstGeom>
          <a:ln w="31750">
            <a:solidFill>
              <a:srgbClr val="FF6B4A"/>
            </a:solidFill>
            <a:prstDash val="dash"/>
          </a:ln>
        </p:spPr>
        <p:style>
          <a:lnRef idx="2">
            <a:schemeClr val="accent1"/>
          </a:lnRef>
          <a:fillRef idx="0">
            <a:schemeClr val="accent1"/>
          </a:fillRef>
          <a:effectRef idx="1">
            <a:schemeClr val="accent1"/>
          </a:effectRef>
          <a:fontRef idx="minor">
            <a:schemeClr val="tx1"/>
          </a:fontRef>
        </p:style>
      </p:cxnSp>
      <p:sp>
        <p:nvSpPr>
          <p:cNvPr id="31" name="pill"/>
          <p:cNvSpPr/>
          <p:nvPr/>
        </p:nvSpPr>
        <p:spPr>
          <a:xfrm>
            <a:off x="2148840" y="3858768"/>
            <a:ext cx="5943600" cy="329184"/>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250" b="1" i="0">
                <a:solidFill>
                  <a:srgbClr val="14181A"/>
                </a:solidFill>
                <a:latin typeface="Calibri"/>
              </a:rPr>
              <a:t>✕  isolation boundary: engine and dashboard never read ground truth</a:t>
            </a:r>
          </a:p>
        </p:txBody>
      </p:sp>
      <p:sp>
        <p:nvSpPr>
          <p:cNvPr id="32" name="TextBox 31"/>
          <p:cNvSpPr txBox="1"/>
          <p:nvPr/>
        </p:nvSpPr>
        <p:spPr>
          <a:xfrm>
            <a:off x="3291840" y="4279392"/>
            <a:ext cx="5029200" cy="274320"/>
          </a:xfrm>
          <a:prstGeom prst="rect">
            <a:avLst/>
          </a:prstGeom>
          <a:noFill/>
        </p:spPr>
        <p:txBody>
          <a:bodyPr wrap="square" lIns="36576" rIns="36576" tIns="18288" bIns="18288" anchor="t">
            <a:spAutoFit/>
          </a:bodyPr>
          <a:lstStyle/>
          <a:p>
            <a:pPr algn="l">
              <a:spcAft>
                <a:spcPts val="0"/>
              </a:spcAft>
            </a:pPr>
            <a:r>
              <a:rPr sz="1200" b="1" i="0">
                <a:solidFill>
                  <a:srgbClr val="3D4D55"/>
                </a:solidFill>
                <a:latin typeface="Consolas"/>
              </a:rPr>
              <a:t>EXPERIMENT CONTROL AND EVALUATION</a:t>
            </a:r>
          </a:p>
        </p:txBody>
      </p:sp>
      <p:sp>
        <p:nvSpPr>
          <p:cNvPr id="33" name="card shadow"/>
          <p:cNvSpPr/>
          <p:nvPr/>
        </p:nvSpPr>
        <p:spPr>
          <a:xfrm>
            <a:off x="612647" y="4956048"/>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ard"/>
          <p:cNvSpPr/>
          <p:nvPr/>
        </p:nvSpPr>
        <p:spPr>
          <a:xfrm>
            <a:off x="548640" y="4892040"/>
            <a:ext cx="1828800" cy="1005840"/>
          </a:xfrm>
          <a:prstGeom prst="roundRect">
            <a:avLst>
              <a:gd name="adj" fmla="val 12000"/>
            </a:avLst>
          </a:prstGeom>
          <a:solidFill>
            <a:srgbClr val="FFE3DC"/>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96519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Fault controller</a:t>
            </a:r>
          </a:p>
          <a:p>
            <a:pPr algn="ctr">
              <a:spcAft>
                <a:spcPts val="0"/>
              </a:spcAft>
            </a:pPr>
            <a:r>
              <a:rPr sz="1200" b="0" i="0">
                <a:solidFill>
                  <a:srgbClr val="3D4D55"/>
                </a:solidFill>
                <a:latin typeface="Consolas"/>
              </a:rPr>
              <a:t>tc netem / tbf</a:t>
            </a:r>
          </a:p>
        </p:txBody>
      </p:sp>
      <p:sp>
        <p:nvSpPr>
          <p:cNvPr id="36" name="card shadow"/>
          <p:cNvSpPr/>
          <p:nvPr/>
        </p:nvSpPr>
        <p:spPr>
          <a:xfrm>
            <a:off x="5276088" y="4956048"/>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ard"/>
          <p:cNvSpPr/>
          <p:nvPr/>
        </p:nvSpPr>
        <p:spPr>
          <a:xfrm>
            <a:off x="5212079" y="4892040"/>
            <a:ext cx="1828800" cy="1005840"/>
          </a:xfrm>
          <a:prstGeom prst="roundRect">
            <a:avLst>
              <a:gd name="adj" fmla="val 12000"/>
            </a:avLst>
          </a:prstGeom>
          <a:solidFill>
            <a:srgbClr val="FFF4C4"/>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85231" y="496519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Ground-truth DB</a:t>
            </a:r>
          </a:p>
          <a:p>
            <a:pPr algn="ctr">
              <a:spcAft>
                <a:spcPts val="0"/>
              </a:spcAft>
            </a:pPr>
            <a:r>
              <a:rPr sz="1100" b="0" i="0">
                <a:solidFill>
                  <a:srgbClr val="3D4D55"/>
                </a:solidFill>
                <a:latin typeface="Consolas"/>
              </a:rPr>
              <a:t>OS-permission isolated</a:t>
            </a:r>
          </a:p>
        </p:txBody>
      </p:sp>
      <p:sp>
        <p:nvSpPr>
          <p:cNvPr id="39" name="card shadow"/>
          <p:cNvSpPr/>
          <p:nvPr/>
        </p:nvSpPr>
        <p:spPr>
          <a:xfrm>
            <a:off x="7607808" y="4956048"/>
            <a:ext cx="182880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rd"/>
          <p:cNvSpPr/>
          <p:nvPr/>
        </p:nvSpPr>
        <p:spPr>
          <a:xfrm>
            <a:off x="7543800" y="4892040"/>
            <a:ext cx="1828800" cy="10058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16952" y="4965192"/>
            <a:ext cx="1682496" cy="859536"/>
          </a:xfrm>
          <a:prstGeom prst="rect">
            <a:avLst/>
          </a:prstGeom>
          <a:noFill/>
        </p:spPr>
        <p:txBody>
          <a:bodyPr wrap="square" lIns="36576" rIns="36576" tIns="18288" bIns="18288" anchor="ctr">
            <a:spAutoFit/>
          </a:bodyPr>
          <a:lstStyle/>
          <a:p>
            <a:pPr algn="ctr">
              <a:spcAft>
                <a:spcPts val="0"/>
              </a:spcAft>
            </a:pPr>
            <a:r>
              <a:rPr sz="1500" b="1" i="0">
                <a:solidFill>
                  <a:srgbClr val="14181A"/>
                </a:solidFill>
                <a:latin typeface="Calibri"/>
              </a:rPr>
              <a:t>Evaluation</a:t>
            </a:r>
          </a:p>
          <a:p>
            <a:pPr algn="ctr">
              <a:spcAft>
                <a:spcPts val="0"/>
              </a:spcAft>
            </a:pPr>
            <a:r>
              <a:rPr sz="1200" b="0" i="0">
                <a:solidFill>
                  <a:srgbClr val="3D4D55"/>
                </a:solidFill>
                <a:latin typeface="Consolas"/>
              </a:rPr>
              <a:t>scores vs labels</a:t>
            </a:r>
          </a:p>
        </p:txBody>
      </p:sp>
      <p:cxnSp>
        <p:nvCxnSpPr>
          <p:cNvPr id="42" name="arrow"/>
          <p:cNvCxnSpPr/>
          <p:nvPr/>
        </p:nvCxnSpPr>
        <p:spPr>
          <a:xfrm flipV="1">
            <a:off x="1463040" y="3136391"/>
            <a:ext cx="0" cy="1755649"/>
          </a:xfrm>
          <a:prstGeom prst="line">
            <a:avLst/>
          </a:prstGeom>
          <a:ln w="38100">
            <a:solidFill>
              <a:srgbClr val="FF6B4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pill"/>
          <p:cNvSpPr/>
          <p:nvPr/>
        </p:nvSpPr>
        <p:spPr>
          <a:xfrm>
            <a:off x="1572768" y="4224528"/>
            <a:ext cx="1371600" cy="274320"/>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200" b="1" i="0">
                <a:solidFill>
                  <a:srgbClr val="14181A"/>
                </a:solidFill>
                <a:latin typeface="Calibri"/>
              </a:rPr>
              <a:t>injects faults</a:t>
            </a:r>
          </a:p>
        </p:txBody>
      </p:sp>
      <p:cxnSp>
        <p:nvCxnSpPr>
          <p:cNvPr id="44" name="arrow"/>
          <p:cNvCxnSpPr/>
          <p:nvPr/>
        </p:nvCxnSpPr>
        <p:spPr>
          <a:xfrm>
            <a:off x="2377440" y="5394960"/>
            <a:ext cx="2834639" cy="0"/>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395728" y="5010912"/>
            <a:ext cx="2286000" cy="36576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alibri"/>
              </a:rPr>
              <a:t>writes labels</a:t>
            </a:r>
          </a:p>
        </p:txBody>
      </p:sp>
      <p:cxnSp>
        <p:nvCxnSpPr>
          <p:cNvPr id="46" name="arrow"/>
          <p:cNvCxnSpPr/>
          <p:nvPr/>
        </p:nvCxnSpPr>
        <p:spPr>
          <a:xfrm>
            <a:off x="7040879" y="5394960"/>
            <a:ext cx="502921" cy="0"/>
          </a:xfrm>
          <a:prstGeom prst="line">
            <a:avLst/>
          </a:prstGeom>
          <a:ln w="38100">
            <a:solidFill>
              <a:srgbClr val="1418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040879" y="5029200"/>
            <a:ext cx="502920" cy="27432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alibri"/>
              </a:rPr>
              <a:t>read</a:t>
            </a:r>
          </a:p>
        </p:txBody>
      </p:sp>
      <p:cxnSp>
        <p:nvCxnSpPr>
          <p:cNvPr id="48" name="line"/>
          <p:cNvCxnSpPr/>
          <p:nvPr/>
        </p:nvCxnSpPr>
        <p:spPr>
          <a:xfrm>
            <a:off x="6126479" y="3108960"/>
            <a:ext cx="0" cy="502920"/>
          </a:xfrm>
          <a:prstGeom prst="line">
            <a:avLst/>
          </a:prstGeom>
          <a:ln w="38100">
            <a:solidFill>
              <a:srgbClr val="14181A"/>
            </a:solidFill>
            <a:prstDash val="dash"/>
          </a:ln>
        </p:spPr>
        <p:style>
          <a:lnRef idx="2">
            <a:schemeClr val="accent1"/>
          </a:lnRef>
          <a:fillRef idx="0">
            <a:schemeClr val="accent1"/>
          </a:fillRef>
          <a:effectRef idx="1">
            <a:schemeClr val="accent1"/>
          </a:effectRef>
          <a:fontRef idx="minor">
            <a:schemeClr val="tx1"/>
          </a:fontRef>
        </p:style>
      </p:cxnSp>
      <p:cxnSp>
        <p:nvCxnSpPr>
          <p:cNvPr id="49" name="line"/>
          <p:cNvCxnSpPr/>
          <p:nvPr/>
        </p:nvCxnSpPr>
        <p:spPr>
          <a:xfrm>
            <a:off x="6126479" y="3611880"/>
            <a:ext cx="2331721" cy="0"/>
          </a:xfrm>
          <a:prstGeom prst="line">
            <a:avLst/>
          </a:prstGeom>
          <a:ln w="38100">
            <a:solidFill>
              <a:srgbClr val="14181A"/>
            </a:solidFill>
            <a:prstDash val="dash"/>
          </a:ln>
        </p:spPr>
        <p:style>
          <a:lnRef idx="2">
            <a:schemeClr val="accent1"/>
          </a:lnRef>
          <a:fillRef idx="0">
            <a:schemeClr val="accent1"/>
          </a:fillRef>
          <a:effectRef idx="1">
            <a:schemeClr val="accent1"/>
          </a:effectRef>
          <a:fontRef idx="minor">
            <a:schemeClr val="tx1"/>
          </a:fontRef>
        </p:style>
      </p:cxnSp>
      <p:cxnSp>
        <p:nvCxnSpPr>
          <p:cNvPr id="50" name="arrow"/>
          <p:cNvCxnSpPr/>
          <p:nvPr/>
        </p:nvCxnSpPr>
        <p:spPr>
          <a:xfrm>
            <a:off x="8458200" y="3611880"/>
            <a:ext cx="0" cy="1252728"/>
          </a:xfrm>
          <a:prstGeom prst="line">
            <a:avLst/>
          </a:prstGeom>
          <a:ln w="38100">
            <a:solidFill>
              <a:srgbClr val="14181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17919" y="3273552"/>
            <a:ext cx="2377440" cy="274320"/>
          </a:xfrm>
          <a:prstGeom prst="rect">
            <a:avLst/>
          </a:prstGeom>
          <a:noFill/>
        </p:spPr>
        <p:txBody>
          <a:bodyPr wrap="square" lIns="36576" rIns="36576" tIns="18288" bIns="18288" anchor="t">
            <a:spAutoFit/>
          </a:bodyPr>
          <a:lstStyle/>
          <a:p>
            <a:pPr algn="l">
              <a:spcAft>
                <a:spcPts val="0"/>
              </a:spcAft>
            </a:pPr>
            <a:r>
              <a:rPr sz="1200" b="1" i="0">
                <a:solidFill>
                  <a:srgbClr val="14181A"/>
                </a:solidFill>
                <a:latin typeface="Calibri"/>
              </a:rPr>
              <a:t>EvidenceRecord to score</a:t>
            </a:r>
          </a:p>
        </p:txBody>
      </p:sp>
      <p:sp>
        <p:nvSpPr>
          <p:cNvPr id="52" name="TextBox 51"/>
          <p:cNvSpPr txBox="1"/>
          <p:nvPr/>
        </p:nvSpPr>
        <p:spPr>
          <a:xfrm>
            <a:off x="9966960" y="4892040"/>
            <a:ext cx="1737360" cy="1097280"/>
          </a:xfrm>
          <a:prstGeom prst="rect">
            <a:avLst/>
          </a:prstGeom>
          <a:noFill/>
        </p:spPr>
        <p:txBody>
          <a:bodyPr wrap="square" lIns="36576" rIns="36576" tIns="18288" bIns="18288" anchor="t">
            <a:spAutoFit/>
          </a:bodyPr>
          <a:lstStyle/>
          <a:p>
            <a:pPr algn="l">
              <a:spcAft>
                <a:spcPts val="0"/>
              </a:spcAft>
            </a:pPr>
            <a:r>
              <a:rPr sz="1200" b="0" i="1">
                <a:solidFill>
                  <a:srgbClr val="3D4D55"/>
                </a:solidFill>
                <a:latin typeface="Calibri"/>
              </a:rPr>
              <a:t>Frontend: React + TypeScript; no backend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Network topology and testbed</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6</a:t>
            </a:r>
          </a:p>
        </p:txBody>
      </p:sp>
      <p:cxnSp>
        <p:nvCxnSpPr>
          <p:cNvPr id="5" name="line"/>
          <p:cNvCxnSpPr/>
          <p:nvPr/>
        </p:nvCxnSpPr>
        <p:spPr>
          <a:xfrm>
            <a:off x="1965960" y="2720340"/>
            <a:ext cx="512064" cy="0"/>
          </a:xfrm>
          <a:prstGeom prst="line">
            <a:avLst/>
          </a:prstGeom>
          <a:ln w="63500">
            <a:solidFill>
              <a:srgbClr val="14181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965960" y="2354580"/>
            <a:ext cx="512063" cy="27432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onsolas"/>
              </a:rPr>
              <a:t>s1</a:t>
            </a:r>
          </a:p>
        </p:txBody>
      </p:sp>
      <p:cxnSp>
        <p:nvCxnSpPr>
          <p:cNvPr id="7" name="line"/>
          <p:cNvCxnSpPr/>
          <p:nvPr/>
        </p:nvCxnSpPr>
        <p:spPr>
          <a:xfrm>
            <a:off x="3895344" y="2720340"/>
            <a:ext cx="512063" cy="0"/>
          </a:xfrm>
          <a:prstGeom prst="line">
            <a:avLst/>
          </a:prstGeom>
          <a:ln w="63500">
            <a:solidFill>
              <a:srgbClr val="14181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895344" y="2354580"/>
            <a:ext cx="512063" cy="27432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onsolas"/>
              </a:rPr>
              <a:t>s2</a:t>
            </a:r>
          </a:p>
        </p:txBody>
      </p:sp>
      <p:cxnSp>
        <p:nvCxnSpPr>
          <p:cNvPr id="9" name="line"/>
          <p:cNvCxnSpPr/>
          <p:nvPr/>
        </p:nvCxnSpPr>
        <p:spPr>
          <a:xfrm>
            <a:off x="5824727" y="2720340"/>
            <a:ext cx="512065" cy="0"/>
          </a:xfrm>
          <a:prstGeom prst="line">
            <a:avLst/>
          </a:prstGeom>
          <a:ln w="63500">
            <a:solidFill>
              <a:srgbClr val="1418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24727" y="2354580"/>
            <a:ext cx="512063" cy="27432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onsolas"/>
              </a:rPr>
              <a:t>s3</a:t>
            </a:r>
          </a:p>
        </p:txBody>
      </p:sp>
      <p:cxnSp>
        <p:nvCxnSpPr>
          <p:cNvPr id="11" name="line"/>
          <p:cNvCxnSpPr/>
          <p:nvPr/>
        </p:nvCxnSpPr>
        <p:spPr>
          <a:xfrm>
            <a:off x="7754112" y="2720340"/>
            <a:ext cx="512063" cy="0"/>
          </a:xfrm>
          <a:prstGeom prst="line">
            <a:avLst/>
          </a:prstGeom>
          <a:ln w="63500">
            <a:solidFill>
              <a:srgbClr val="14181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54112" y="2354580"/>
            <a:ext cx="512063" cy="27432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onsolas"/>
              </a:rPr>
              <a:t>s4</a:t>
            </a:r>
          </a:p>
        </p:txBody>
      </p:sp>
      <p:cxnSp>
        <p:nvCxnSpPr>
          <p:cNvPr id="13" name="line"/>
          <p:cNvCxnSpPr/>
          <p:nvPr/>
        </p:nvCxnSpPr>
        <p:spPr>
          <a:xfrm>
            <a:off x="9683496" y="2720340"/>
            <a:ext cx="512063" cy="0"/>
          </a:xfrm>
          <a:prstGeom prst="line">
            <a:avLst/>
          </a:prstGeom>
          <a:ln w="63500">
            <a:solidFill>
              <a:srgbClr val="1418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683496" y="2354580"/>
            <a:ext cx="512063" cy="274320"/>
          </a:xfrm>
          <a:prstGeom prst="rect">
            <a:avLst/>
          </a:prstGeom>
          <a:noFill/>
        </p:spPr>
        <p:txBody>
          <a:bodyPr wrap="square" lIns="36576" rIns="36576" tIns="18288" bIns="18288" anchor="t">
            <a:spAutoFit/>
          </a:bodyPr>
          <a:lstStyle/>
          <a:p>
            <a:pPr algn="ctr">
              <a:spcAft>
                <a:spcPts val="0"/>
              </a:spcAft>
            </a:pPr>
            <a:r>
              <a:rPr sz="1200" b="1" i="0">
                <a:solidFill>
                  <a:srgbClr val="14181A"/>
                </a:solidFill>
                <a:latin typeface="Consolas"/>
              </a:rPr>
              <a:t>s5</a:t>
            </a:r>
          </a:p>
        </p:txBody>
      </p:sp>
      <p:sp>
        <p:nvSpPr>
          <p:cNvPr id="15" name="ns-client shadow"/>
          <p:cNvSpPr/>
          <p:nvPr/>
        </p:nvSpPr>
        <p:spPr>
          <a:xfrm>
            <a:off x="612647" y="2304288"/>
            <a:ext cx="1417320" cy="960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s-client"/>
          <p:cNvSpPr/>
          <p:nvPr/>
        </p:nvSpPr>
        <p:spPr>
          <a:xfrm>
            <a:off x="548640" y="2240280"/>
            <a:ext cx="1417320" cy="960120"/>
          </a:xfrm>
          <a:prstGeom prst="roundRect">
            <a:avLst>
              <a:gd name="adj" fmla="val 12000"/>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331720"/>
            <a:ext cx="1325880" cy="777240"/>
          </a:xfrm>
          <a:prstGeom prst="rect">
            <a:avLst/>
          </a:prstGeom>
          <a:noFill/>
        </p:spPr>
        <p:txBody>
          <a:bodyPr wrap="square" lIns="36576" rIns="36576" tIns="18288" bIns="18288" anchor="ctr">
            <a:spAutoFit/>
          </a:bodyPr>
          <a:lstStyle/>
          <a:p>
            <a:pPr algn="ctr">
              <a:spcAft>
                <a:spcPts val="0"/>
              </a:spcAft>
            </a:pPr>
            <a:r>
              <a:rPr sz="1700" b="1" i="0">
                <a:solidFill>
                  <a:srgbClr val="14181A"/>
                </a:solidFill>
                <a:latin typeface="Calibri"/>
              </a:rPr>
              <a:t>ns-client</a:t>
            </a:r>
          </a:p>
          <a:p>
            <a:pPr algn="ctr">
              <a:spcAft>
                <a:spcPts val="0"/>
              </a:spcAft>
            </a:pPr>
            <a:r>
              <a:rPr sz="1400" b="0" i="0">
                <a:solidFill>
                  <a:srgbClr val="3D4D55"/>
                </a:solidFill>
                <a:latin typeface="Calibri"/>
              </a:rPr>
              <a:t>client</a:t>
            </a:r>
          </a:p>
        </p:txBody>
      </p:sp>
      <p:sp>
        <p:nvSpPr>
          <p:cNvPr id="18" name="TextBox 17"/>
          <p:cNvSpPr txBox="1"/>
          <p:nvPr/>
        </p:nvSpPr>
        <p:spPr>
          <a:xfrm>
            <a:off x="548640" y="1828800"/>
            <a:ext cx="1417320" cy="274320"/>
          </a:xfrm>
          <a:prstGeom prst="rect">
            <a:avLst/>
          </a:prstGeom>
          <a:noFill/>
        </p:spPr>
        <p:txBody>
          <a:bodyPr wrap="square" lIns="36576" rIns="36576" tIns="18288" bIns="18288" anchor="t">
            <a:spAutoFit/>
          </a:bodyPr>
          <a:lstStyle/>
          <a:p>
            <a:pPr algn="ctr">
              <a:spcAft>
                <a:spcPts val="0"/>
              </a:spcAft>
            </a:pPr>
            <a:r>
              <a:rPr sz="1300" b="0" i="0">
                <a:solidFill>
                  <a:srgbClr val="3D4D55"/>
                </a:solidFill>
                <a:latin typeface="Calibri"/>
              </a:rPr>
              <a:t>path start</a:t>
            </a:r>
          </a:p>
        </p:txBody>
      </p:sp>
      <p:sp>
        <p:nvSpPr>
          <p:cNvPr id="19" name="TextBox 18"/>
          <p:cNvSpPr txBox="1"/>
          <p:nvPr/>
        </p:nvSpPr>
        <p:spPr>
          <a:xfrm>
            <a:off x="502919" y="3273552"/>
            <a:ext cx="1508760" cy="548640"/>
          </a:xfrm>
          <a:prstGeom prst="rect">
            <a:avLst/>
          </a:prstGeom>
          <a:noFill/>
        </p:spPr>
        <p:txBody>
          <a:bodyPr wrap="square" lIns="36576" rIns="36576" tIns="18288" bIns="18288" anchor="t">
            <a:spAutoFit/>
          </a:bodyPr>
          <a:lstStyle/>
          <a:p>
            <a:pPr algn="ctr">
              <a:spcAft>
                <a:spcPts val="0"/>
              </a:spcAft>
            </a:pPr>
            <a:r>
              <a:rPr sz="1200" b="0" i="0">
                <a:solidFill>
                  <a:srgbClr val="3D4D55"/>
                </a:solidFill>
                <a:latin typeface="Consolas"/>
              </a:rPr>
              <a:t>10.10.1.1</a:t>
            </a:r>
          </a:p>
        </p:txBody>
      </p:sp>
      <p:sp>
        <p:nvSpPr>
          <p:cNvPr id="20" name="ns-r1 shadow"/>
          <p:cNvSpPr/>
          <p:nvPr/>
        </p:nvSpPr>
        <p:spPr>
          <a:xfrm>
            <a:off x="2542032" y="2304288"/>
            <a:ext cx="1417320" cy="960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s-r1"/>
          <p:cNvSpPr/>
          <p:nvPr/>
        </p:nvSpPr>
        <p:spPr>
          <a:xfrm>
            <a:off x="2478024" y="2240280"/>
            <a:ext cx="1417320" cy="960120"/>
          </a:xfrm>
          <a:prstGeom prst="roundRect">
            <a:avLst>
              <a:gd name="adj" fmla="val 12000"/>
            </a:avLst>
          </a:prstGeom>
          <a:solidFill>
            <a:srgbClr val="E7EFF2"/>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23744" y="2331720"/>
            <a:ext cx="1325880" cy="777240"/>
          </a:xfrm>
          <a:prstGeom prst="rect">
            <a:avLst/>
          </a:prstGeom>
          <a:noFill/>
        </p:spPr>
        <p:txBody>
          <a:bodyPr wrap="square" lIns="36576" rIns="36576" tIns="18288" bIns="18288" anchor="ctr">
            <a:spAutoFit/>
          </a:bodyPr>
          <a:lstStyle/>
          <a:p>
            <a:pPr algn="ctr">
              <a:spcAft>
                <a:spcPts val="0"/>
              </a:spcAft>
            </a:pPr>
            <a:r>
              <a:rPr sz="1700" b="1" i="0">
                <a:solidFill>
                  <a:srgbClr val="14181A"/>
                </a:solidFill>
                <a:latin typeface="Calibri"/>
              </a:rPr>
              <a:t>ns-r1</a:t>
            </a:r>
          </a:p>
          <a:p>
            <a:pPr algn="ctr">
              <a:spcAft>
                <a:spcPts val="0"/>
              </a:spcAft>
            </a:pPr>
            <a:r>
              <a:rPr sz="1400" b="0" i="0">
                <a:solidFill>
                  <a:srgbClr val="3D4D55"/>
                </a:solidFill>
                <a:latin typeface="Calibri"/>
              </a:rPr>
              <a:t>router</a:t>
            </a:r>
          </a:p>
        </p:txBody>
      </p:sp>
      <p:sp>
        <p:nvSpPr>
          <p:cNvPr id="23" name="pill"/>
          <p:cNvSpPr/>
          <p:nvPr/>
        </p:nvSpPr>
        <p:spPr>
          <a:xfrm>
            <a:off x="2775203" y="1783080"/>
            <a:ext cx="822960" cy="329184"/>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1" i="0">
                <a:solidFill>
                  <a:srgbClr val="14181A"/>
                </a:solidFill>
                <a:latin typeface="Calibri"/>
              </a:rPr>
              <a:t>Hop 1</a:t>
            </a:r>
          </a:p>
        </p:txBody>
      </p:sp>
      <p:sp>
        <p:nvSpPr>
          <p:cNvPr id="24" name="TextBox 23"/>
          <p:cNvSpPr txBox="1"/>
          <p:nvPr/>
        </p:nvSpPr>
        <p:spPr>
          <a:xfrm>
            <a:off x="2432304" y="3273552"/>
            <a:ext cx="1508760" cy="548640"/>
          </a:xfrm>
          <a:prstGeom prst="rect">
            <a:avLst/>
          </a:prstGeom>
          <a:noFill/>
        </p:spPr>
        <p:txBody>
          <a:bodyPr wrap="square" lIns="36576" rIns="36576" tIns="18288" bIns="18288" anchor="t">
            <a:spAutoFit/>
          </a:bodyPr>
          <a:lstStyle/>
          <a:p>
            <a:pPr algn="ctr">
              <a:spcAft>
                <a:spcPts val="0"/>
              </a:spcAft>
            </a:pPr>
            <a:r>
              <a:rPr sz="1200" b="0" i="0">
                <a:solidFill>
                  <a:srgbClr val="3D4D55"/>
                </a:solidFill>
                <a:latin typeface="Consolas"/>
              </a:rPr>
              <a:t>10.10.1.2</a:t>
            </a:r>
          </a:p>
          <a:p>
            <a:pPr algn="ctr">
              <a:spcAft>
                <a:spcPts val="0"/>
              </a:spcAft>
            </a:pPr>
            <a:r>
              <a:rPr sz="1200" b="0" i="0">
                <a:solidFill>
                  <a:srgbClr val="3D4D55"/>
                </a:solidFill>
                <a:latin typeface="Consolas"/>
              </a:rPr>
              <a:t>10.10.2.1</a:t>
            </a:r>
          </a:p>
        </p:txBody>
      </p:sp>
      <p:sp>
        <p:nvSpPr>
          <p:cNvPr id="25" name="ns-r2 shadow"/>
          <p:cNvSpPr/>
          <p:nvPr/>
        </p:nvSpPr>
        <p:spPr>
          <a:xfrm>
            <a:off x="4471416" y="2304288"/>
            <a:ext cx="1417320" cy="960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s-r2"/>
          <p:cNvSpPr/>
          <p:nvPr/>
        </p:nvSpPr>
        <p:spPr>
          <a:xfrm>
            <a:off x="4407407" y="2240280"/>
            <a:ext cx="1417320" cy="960120"/>
          </a:xfrm>
          <a:prstGeom prst="roundRect">
            <a:avLst>
              <a:gd name="adj" fmla="val 12000"/>
            </a:avLst>
          </a:prstGeom>
          <a:solidFill>
            <a:srgbClr val="E7EFF2"/>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53127" y="2331720"/>
            <a:ext cx="1325880" cy="777240"/>
          </a:xfrm>
          <a:prstGeom prst="rect">
            <a:avLst/>
          </a:prstGeom>
          <a:noFill/>
        </p:spPr>
        <p:txBody>
          <a:bodyPr wrap="square" lIns="36576" rIns="36576" tIns="18288" bIns="18288" anchor="ctr">
            <a:spAutoFit/>
          </a:bodyPr>
          <a:lstStyle/>
          <a:p>
            <a:pPr algn="ctr">
              <a:spcAft>
                <a:spcPts val="0"/>
              </a:spcAft>
            </a:pPr>
            <a:r>
              <a:rPr sz="1700" b="1" i="0">
                <a:solidFill>
                  <a:srgbClr val="14181A"/>
                </a:solidFill>
                <a:latin typeface="Calibri"/>
              </a:rPr>
              <a:t>ns-r2</a:t>
            </a:r>
          </a:p>
          <a:p>
            <a:pPr algn="ctr">
              <a:spcAft>
                <a:spcPts val="0"/>
              </a:spcAft>
            </a:pPr>
            <a:r>
              <a:rPr sz="1400" b="0" i="0">
                <a:solidFill>
                  <a:srgbClr val="3D4D55"/>
                </a:solidFill>
                <a:latin typeface="Calibri"/>
              </a:rPr>
              <a:t>router</a:t>
            </a:r>
          </a:p>
        </p:txBody>
      </p:sp>
      <p:sp>
        <p:nvSpPr>
          <p:cNvPr id="28" name="pill"/>
          <p:cNvSpPr/>
          <p:nvPr/>
        </p:nvSpPr>
        <p:spPr>
          <a:xfrm>
            <a:off x="4704588" y="1783080"/>
            <a:ext cx="822960" cy="329184"/>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1" i="0">
                <a:solidFill>
                  <a:srgbClr val="14181A"/>
                </a:solidFill>
                <a:latin typeface="Calibri"/>
              </a:rPr>
              <a:t>Hop 2</a:t>
            </a:r>
          </a:p>
        </p:txBody>
      </p:sp>
      <p:sp>
        <p:nvSpPr>
          <p:cNvPr id="29" name="TextBox 28"/>
          <p:cNvSpPr txBox="1"/>
          <p:nvPr/>
        </p:nvSpPr>
        <p:spPr>
          <a:xfrm>
            <a:off x="4361688" y="3273552"/>
            <a:ext cx="1508760" cy="548640"/>
          </a:xfrm>
          <a:prstGeom prst="rect">
            <a:avLst/>
          </a:prstGeom>
          <a:noFill/>
        </p:spPr>
        <p:txBody>
          <a:bodyPr wrap="square" lIns="36576" rIns="36576" tIns="18288" bIns="18288" anchor="t">
            <a:spAutoFit/>
          </a:bodyPr>
          <a:lstStyle/>
          <a:p>
            <a:pPr algn="ctr">
              <a:spcAft>
                <a:spcPts val="0"/>
              </a:spcAft>
            </a:pPr>
            <a:r>
              <a:rPr sz="1200" b="0" i="0">
                <a:solidFill>
                  <a:srgbClr val="3D4D55"/>
                </a:solidFill>
                <a:latin typeface="Consolas"/>
              </a:rPr>
              <a:t>10.10.2.2</a:t>
            </a:r>
          </a:p>
          <a:p>
            <a:pPr algn="ctr">
              <a:spcAft>
                <a:spcPts val="0"/>
              </a:spcAft>
            </a:pPr>
            <a:r>
              <a:rPr sz="1200" b="0" i="0">
                <a:solidFill>
                  <a:srgbClr val="3D4D55"/>
                </a:solidFill>
                <a:latin typeface="Consolas"/>
              </a:rPr>
              <a:t>10.10.3.1</a:t>
            </a:r>
          </a:p>
        </p:txBody>
      </p:sp>
      <p:sp>
        <p:nvSpPr>
          <p:cNvPr id="30" name="ns-r3 shadow"/>
          <p:cNvSpPr/>
          <p:nvPr/>
        </p:nvSpPr>
        <p:spPr>
          <a:xfrm>
            <a:off x="6400800" y="2304288"/>
            <a:ext cx="1417320" cy="960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ns-r3"/>
          <p:cNvSpPr/>
          <p:nvPr/>
        </p:nvSpPr>
        <p:spPr>
          <a:xfrm>
            <a:off x="6336792" y="2240280"/>
            <a:ext cx="1417320" cy="960120"/>
          </a:xfrm>
          <a:prstGeom prst="roundRect">
            <a:avLst>
              <a:gd name="adj" fmla="val 12000"/>
            </a:avLst>
          </a:prstGeom>
          <a:solidFill>
            <a:srgbClr val="E7EFF2"/>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82512" y="2331720"/>
            <a:ext cx="1325880" cy="777240"/>
          </a:xfrm>
          <a:prstGeom prst="rect">
            <a:avLst/>
          </a:prstGeom>
          <a:noFill/>
        </p:spPr>
        <p:txBody>
          <a:bodyPr wrap="square" lIns="36576" rIns="36576" tIns="18288" bIns="18288" anchor="ctr">
            <a:spAutoFit/>
          </a:bodyPr>
          <a:lstStyle/>
          <a:p>
            <a:pPr algn="ctr">
              <a:spcAft>
                <a:spcPts val="0"/>
              </a:spcAft>
            </a:pPr>
            <a:r>
              <a:rPr sz="1700" b="1" i="0">
                <a:solidFill>
                  <a:srgbClr val="14181A"/>
                </a:solidFill>
                <a:latin typeface="Calibri"/>
              </a:rPr>
              <a:t>ns-r3</a:t>
            </a:r>
          </a:p>
          <a:p>
            <a:pPr algn="ctr">
              <a:spcAft>
                <a:spcPts val="0"/>
              </a:spcAft>
            </a:pPr>
            <a:r>
              <a:rPr sz="1400" b="0" i="0">
                <a:solidFill>
                  <a:srgbClr val="3D4D55"/>
                </a:solidFill>
                <a:latin typeface="Calibri"/>
              </a:rPr>
              <a:t>router</a:t>
            </a:r>
          </a:p>
        </p:txBody>
      </p:sp>
      <p:sp>
        <p:nvSpPr>
          <p:cNvPr id="33" name="pill"/>
          <p:cNvSpPr/>
          <p:nvPr/>
        </p:nvSpPr>
        <p:spPr>
          <a:xfrm>
            <a:off x="6633972" y="1783080"/>
            <a:ext cx="822960" cy="329184"/>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1" i="0">
                <a:solidFill>
                  <a:srgbClr val="14181A"/>
                </a:solidFill>
                <a:latin typeface="Calibri"/>
              </a:rPr>
              <a:t>Hop 3</a:t>
            </a:r>
          </a:p>
        </p:txBody>
      </p:sp>
      <p:sp>
        <p:nvSpPr>
          <p:cNvPr id="34" name="TextBox 33"/>
          <p:cNvSpPr txBox="1"/>
          <p:nvPr/>
        </p:nvSpPr>
        <p:spPr>
          <a:xfrm>
            <a:off x="6291072" y="3273552"/>
            <a:ext cx="1508760" cy="548640"/>
          </a:xfrm>
          <a:prstGeom prst="rect">
            <a:avLst/>
          </a:prstGeom>
          <a:noFill/>
        </p:spPr>
        <p:txBody>
          <a:bodyPr wrap="square" lIns="36576" rIns="36576" tIns="18288" bIns="18288" anchor="t">
            <a:spAutoFit/>
          </a:bodyPr>
          <a:lstStyle/>
          <a:p>
            <a:pPr algn="ctr">
              <a:spcAft>
                <a:spcPts val="0"/>
              </a:spcAft>
            </a:pPr>
            <a:r>
              <a:rPr sz="1200" b="0" i="0">
                <a:solidFill>
                  <a:srgbClr val="3D4D55"/>
                </a:solidFill>
                <a:latin typeface="Consolas"/>
              </a:rPr>
              <a:t>10.10.3.2</a:t>
            </a:r>
          </a:p>
          <a:p>
            <a:pPr algn="ctr">
              <a:spcAft>
                <a:spcPts val="0"/>
              </a:spcAft>
            </a:pPr>
            <a:r>
              <a:rPr sz="1200" b="0" i="0">
                <a:solidFill>
                  <a:srgbClr val="3D4D55"/>
                </a:solidFill>
                <a:latin typeface="Consolas"/>
              </a:rPr>
              <a:t>10.10.4.1</a:t>
            </a:r>
          </a:p>
        </p:txBody>
      </p:sp>
      <p:sp>
        <p:nvSpPr>
          <p:cNvPr id="35" name="ns-r4 shadow"/>
          <p:cNvSpPr/>
          <p:nvPr/>
        </p:nvSpPr>
        <p:spPr>
          <a:xfrm>
            <a:off x="8330183" y="2304288"/>
            <a:ext cx="1417320" cy="960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ns-r4"/>
          <p:cNvSpPr/>
          <p:nvPr/>
        </p:nvSpPr>
        <p:spPr>
          <a:xfrm>
            <a:off x="8266175" y="2240280"/>
            <a:ext cx="1417320" cy="960120"/>
          </a:xfrm>
          <a:prstGeom prst="roundRect">
            <a:avLst>
              <a:gd name="adj" fmla="val 12000"/>
            </a:avLst>
          </a:prstGeom>
          <a:solidFill>
            <a:srgbClr val="E7EFF2"/>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11896" y="2331720"/>
            <a:ext cx="1325880" cy="777240"/>
          </a:xfrm>
          <a:prstGeom prst="rect">
            <a:avLst/>
          </a:prstGeom>
          <a:noFill/>
        </p:spPr>
        <p:txBody>
          <a:bodyPr wrap="square" lIns="36576" rIns="36576" tIns="18288" bIns="18288" anchor="ctr">
            <a:spAutoFit/>
          </a:bodyPr>
          <a:lstStyle/>
          <a:p>
            <a:pPr algn="ctr">
              <a:spcAft>
                <a:spcPts val="0"/>
              </a:spcAft>
            </a:pPr>
            <a:r>
              <a:rPr sz="1700" b="1" i="0">
                <a:solidFill>
                  <a:srgbClr val="14181A"/>
                </a:solidFill>
                <a:latin typeface="Calibri"/>
              </a:rPr>
              <a:t>ns-r4</a:t>
            </a:r>
          </a:p>
          <a:p>
            <a:pPr algn="ctr">
              <a:spcAft>
                <a:spcPts val="0"/>
              </a:spcAft>
            </a:pPr>
            <a:r>
              <a:rPr sz="1400" b="0" i="0">
                <a:solidFill>
                  <a:srgbClr val="3D4D55"/>
                </a:solidFill>
                <a:latin typeface="Calibri"/>
              </a:rPr>
              <a:t>router</a:t>
            </a:r>
          </a:p>
        </p:txBody>
      </p:sp>
      <p:sp>
        <p:nvSpPr>
          <p:cNvPr id="38" name="pill"/>
          <p:cNvSpPr/>
          <p:nvPr/>
        </p:nvSpPr>
        <p:spPr>
          <a:xfrm>
            <a:off x="8563356" y="1783080"/>
            <a:ext cx="822960" cy="329184"/>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1" i="0">
                <a:solidFill>
                  <a:srgbClr val="14181A"/>
                </a:solidFill>
                <a:latin typeface="Calibri"/>
              </a:rPr>
              <a:t>Hop 4</a:t>
            </a:r>
          </a:p>
        </p:txBody>
      </p:sp>
      <p:sp>
        <p:nvSpPr>
          <p:cNvPr id="39" name="TextBox 38"/>
          <p:cNvSpPr txBox="1"/>
          <p:nvPr/>
        </p:nvSpPr>
        <p:spPr>
          <a:xfrm>
            <a:off x="8220455" y="3273552"/>
            <a:ext cx="1508760" cy="548640"/>
          </a:xfrm>
          <a:prstGeom prst="rect">
            <a:avLst/>
          </a:prstGeom>
          <a:noFill/>
        </p:spPr>
        <p:txBody>
          <a:bodyPr wrap="square" lIns="36576" rIns="36576" tIns="18288" bIns="18288" anchor="t">
            <a:spAutoFit/>
          </a:bodyPr>
          <a:lstStyle/>
          <a:p>
            <a:pPr algn="ctr">
              <a:spcAft>
                <a:spcPts val="0"/>
              </a:spcAft>
            </a:pPr>
            <a:r>
              <a:rPr sz="1200" b="0" i="0">
                <a:solidFill>
                  <a:srgbClr val="3D4D55"/>
                </a:solidFill>
                <a:latin typeface="Consolas"/>
              </a:rPr>
              <a:t>10.10.4.2</a:t>
            </a:r>
          </a:p>
          <a:p>
            <a:pPr algn="ctr">
              <a:spcAft>
                <a:spcPts val="0"/>
              </a:spcAft>
            </a:pPr>
            <a:r>
              <a:rPr sz="1200" b="0" i="0">
                <a:solidFill>
                  <a:srgbClr val="3D4D55"/>
                </a:solidFill>
                <a:latin typeface="Consolas"/>
              </a:rPr>
              <a:t>10.10.5.1</a:t>
            </a:r>
          </a:p>
        </p:txBody>
      </p:sp>
      <p:sp>
        <p:nvSpPr>
          <p:cNvPr id="40" name="ns-server shadow"/>
          <p:cNvSpPr/>
          <p:nvPr/>
        </p:nvSpPr>
        <p:spPr>
          <a:xfrm>
            <a:off x="10259567" y="2304288"/>
            <a:ext cx="1417320" cy="960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s-server"/>
          <p:cNvSpPr/>
          <p:nvPr/>
        </p:nvSpPr>
        <p:spPr>
          <a:xfrm>
            <a:off x="10195559" y="2240280"/>
            <a:ext cx="1417320" cy="96012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80" y="2331720"/>
            <a:ext cx="1325880" cy="777240"/>
          </a:xfrm>
          <a:prstGeom prst="rect">
            <a:avLst/>
          </a:prstGeom>
          <a:noFill/>
        </p:spPr>
        <p:txBody>
          <a:bodyPr wrap="square" lIns="36576" rIns="36576" tIns="18288" bIns="18288" anchor="ctr">
            <a:spAutoFit/>
          </a:bodyPr>
          <a:lstStyle/>
          <a:p>
            <a:pPr algn="ctr">
              <a:spcAft>
                <a:spcPts val="0"/>
              </a:spcAft>
            </a:pPr>
            <a:r>
              <a:rPr sz="1700" b="1" i="0">
                <a:solidFill>
                  <a:srgbClr val="14181A"/>
                </a:solidFill>
                <a:latin typeface="Calibri"/>
              </a:rPr>
              <a:t>ns-server</a:t>
            </a:r>
          </a:p>
          <a:p>
            <a:pPr algn="ctr">
              <a:spcAft>
                <a:spcPts val="0"/>
              </a:spcAft>
            </a:pPr>
            <a:r>
              <a:rPr sz="1400" b="0" i="0">
                <a:solidFill>
                  <a:srgbClr val="3D4D55"/>
                </a:solidFill>
                <a:latin typeface="Calibri"/>
              </a:rPr>
              <a:t>server</a:t>
            </a:r>
          </a:p>
        </p:txBody>
      </p:sp>
      <p:sp>
        <p:nvSpPr>
          <p:cNvPr id="43" name="pill"/>
          <p:cNvSpPr/>
          <p:nvPr/>
        </p:nvSpPr>
        <p:spPr>
          <a:xfrm>
            <a:off x="10492740" y="1783080"/>
            <a:ext cx="822960" cy="329184"/>
          </a:xfrm>
          <a:prstGeom prst="roundRect">
            <a:avLst>
              <a:gd name="adj" fmla="val 50000"/>
            </a:avLst>
          </a:prstGeom>
          <a:solidFill>
            <a:srgbClr val="FFFF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400" b="1" i="0">
                <a:solidFill>
                  <a:srgbClr val="14181A"/>
                </a:solidFill>
                <a:latin typeface="Calibri"/>
              </a:rPr>
              <a:t>Hop 5</a:t>
            </a:r>
          </a:p>
        </p:txBody>
      </p:sp>
      <p:sp>
        <p:nvSpPr>
          <p:cNvPr id="44" name="TextBox 43"/>
          <p:cNvSpPr txBox="1"/>
          <p:nvPr/>
        </p:nvSpPr>
        <p:spPr>
          <a:xfrm>
            <a:off x="10149839" y="3273552"/>
            <a:ext cx="1508760" cy="548640"/>
          </a:xfrm>
          <a:prstGeom prst="rect">
            <a:avLst/>
          </a:prstGeom>
          <a:noFill/>
        </p:spPr>
        <p:txBody>
          <a:bodyPr wrap="square" lIns="36576" rIns="36576" tIns="18288" bIns="18288" anchor="t">
            <a:spAutoFit/>
          </a:bodyPr>
          <a:lstStyle/>
          <a:p>
            <a:pPr algn="ctr">
              <a:spcAft>
                <a:spcPts val="0"/>
              </a:spcAft>
            </a:pPr>
            <a:r>
              <a:rPr sz="1200" b="0" i="0">
                <a:solidFill>
                  <a:srgbClr val="3D4D55"/>
                </a:solidFill>
                <a:latin typeface="Consolas"/>
              </a:rPr>
              <a:t>10.10.5.2</a:t>
            </a:r>
          </a:p>
        </p:txBody>
      </p:sp>
      <p:sp>
        <p:nvSpPr>
          <p:cNvPr id="45" name="prober box shadow"/>
          <p:cNvSpPr/>
          <p:nvPr/>
        </p:nvSpPr>
        <p:spPr>
          <a:xfrm>
            <a:off x="612647" y="4224528"/>
            <a:ext cx="356616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rober box"/>
          <p:cNvSpPr/>
          <p:nvPr/>
        </p:nvSpPr>
        <p:spPr>
          <a:xfrm>
            <a:off x="548640" y="4160520"/>
            <a:ext cx="3566160" cy="10058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4206240"/>
            <a:ext cx="3291840" cy="914400"/>
          </a:xfrm>
          <a:prstGeom prst="rect">
            <a:avLst/>
          </a:prstGeom>
          <a:noFill/>
        </p:spPr>
        <p:txBody>
          <a:bodyPr wrap="square" lIns="36576" rIns="36576" tIns="18288" bIns="18288" anchor="ctr">
            <a:spAutoFit/>
          </a:bodyPr>
          <a:lstStyle/>
          <a:p>
            <a:pPr algn="l">
              <a:spcAft>
                <a:spcPts val="0"/>
              </a:spcAft>
            </a:pPr>
            <a:r>
              <a:rPr sz="1600" b="1" i="0">
                <a:solidFill>
                  <a:srgbClr val="14181A"/>
                </a:solidFill>
                <a:latin typeface="Calibri"/>
              </a:rPr>
              <a:t>Path prober + app client</a:t>
            </a:r>
          </a:p>
          <a:p>
            <a:pPr algn="l">
              <a:spcAft>
                <a:spcPts val="0"/>
              </a:spcAft>
            </a:pPr>
            <a:r>
              <a:rPr sz="1300" b="0" i="0">
                <a:solidFill>
                  <a:srgbClr val="3D4D55"/>
                </a:solidFill>
                <a:latin typeface="Calibri"/>
              </a:rPr>
              <a:t>co-located: one CLOCK_MONOTONIC</a:t>
            </a:r>
          </a:p>
        </p:txBody>
      </p:sp>
      <p:cxnSp>
        <p:nvCxnSpPr>
          <p:cNvPr id="48" name="line"/>
          <p:cNvCxnSpPr/>
          <p:nvPr/>
        </p:nvCxnSpPr>
        <p:spPr>
          <a:xfrm>
            <a:off x="1257300" y="3840480"/>
            <a:ext cx="0" cy="320040"/>
          </a:xfrm>
          <a:prstGeom prst="line">
            <a:avLst/>
          </a:prstGeom>
          <a:ln w="25400">
            <a:solidFill>
              <a:srgbClr val="14181A"/>
            </a:solidFill>
            <a:prstDash val="dash"/>
          </a:ln>
        </p:spPr>
        <p:style>
          <a:lnRef idx="2">
            <a:schemeClr val="accent1"/>
          </a:lnRef>
          <a:fillRef idx="0">
            <a:schemeClr val="accent1"/>
          </a:fillRef>
          <a:effectRef idx="1">
            <a:schemeClr val="accent1"/>
          </a:effectRef>
          <a:fontRef idx="minor">
            <a:schemeClr val="tx1"/>
          </a:fontRef>
        </p:style>
      </p:cxnSp>
      <p:sp>
        <p:nvSpPr>
          <p:cNvPr id="49" name="fault box shadow"/>
          <p:cNvSpPr/>
          <p:nvPr/>
        </p:nvSpPr>
        <p:spPr>
          <a:xfrm>
            <a:off x="4407408" y="4224528"/>
            <a:ext cx="347472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ault box"/>
          <p:cNvSpPr/>
          <p:nvPr/>
        </p:nvSpPr>
        <p:spPr>
          <a:xfrm>
            <a:off x="4343400" y="4160520"/>
            <a:ext cx="3474720" cy="1005840"/>
          </a:xfrm>
          <a:prstGeom prst="roundRect">
            <a:avLst>
              <a:gd name="adj" fmla="val 12000"/>
            </a:avLst>
          </a:prstGeom>
          <a:solidFill>
            <a:srgbClr val="FFE3DC"/>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34840" y="4206240"/>
            <a:ext cx="3291840" cy="914400"/>
          </a:xfrm>
          <a:prstGeom prst="rect">
            <a:avLst/>
          </a:prstGeom>
          <a:noFill/>
        </p:spPr>
        <p:txBody>
          <a:bodyPr wrap="square" lIns="36576" rIns="36576" tIns="18288" bIns="18288" anchor="ctr">
            <a:spAutoFit/>
          </a:bodyPr>
          <a:lstStyle/>
          <a:p>
            <a:pPr algn="ctr">
              <a:spcAft>
                <a:spcPts val="0"/>
              </a:spcAft>
            </a:pPr>
            <a:r>
              <a:rPr sz="1600" b="1" i="0">
                <a:solidFill>
                  <a:srgbClr val="14181A"/>
                </a:solidFill>
                <a:latin typeface="Calibri"/>
              </a:rPr>
              <a:t>Fault controller</a:t>
            </a:r>
          </a:p>
          <a:p>
            <a:pPr algn="ctr">
              <a:spcAft>
                <a:spcPts val="0"/>
              </a:spcAft>
            </a:pPr>
            <a:r>
              <a:rPr sz="1300" b="0" i="0">
                <a:solidFill>
                  <a:srgbClr val="14181A"/>
                </a:solidFill>
                <a:latin typeface="Calibri"/>
              </a:rPr>
              <a:t>tc netem/tbf on ns-r2 egress (example)</a:t>
            </a:r>
          </a:p>
        </p:txBody>
      </p:sp>
      <p:cxnSp>
        <p:nvCxnSpPr>
          <p:cNvPr id="52" name="arrow"/>
          <p:cNvCxnSpPr/>
          <p:nvPr/>
        </p:nvCxnSpPr>
        <p:spPr>
          <a:xfrm flipV="1">
            <a:off x="6080759" y="2784348"/>
            <a:ext cx="0" cy="1376172"/>
          </a:xfrm>
          <a:prstGeom prst="line">
            <a:avLst/>
          </a:prstGeom>
          <a:ln w="38100">
            <a:solidFill>
              <a:srgbClr val="FF6B4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server box shadow"/>
          <p:cNvSpPr/>
          <p:nvPr/>
        </p:nvSpPr>
        <p:spPr>
          <a:xfrm>
            <a:off x="8110728" y="4224528"/>
            <a:ext cx="3566160" cy="1005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erver box"/>
          <p:cNvSpPr/>
          <p:nvPr/>
        </p:nvSpPr>
        <p:spPr>
          <a:xfrm>
            <a:off x="8046720" y="4160520"/>
            <a:ext cx="3566160" cy="10058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83879" y="4206240"/>
            <a:ext cx="3291840" cy="914400"/>
          </a:xfrm>
          <a:prstGeom prst="rect">
            <a:avLst/>
          </a:prstGeom>
          <a:noFill/>
        </p:spPr>
        <p:txBody>
          <a:bodyPr wrap="square" lIns="36576" rIns="36576" tIns="18288" bIns="18288" anchor="ctr">
            <a:spAutoFit/>
          </a:bodyPr>
          <a:lstStyle/>
          <a:p>
            <a:pPr algn="r">
              <a:spcAft>
                <a:spcPts val="0"/>
              </a:spcAft>
            </a:pPr>
            <a:r>
              <a:rPr sz="1600" b="1" i="0">
                <a:solidFill>
                  <a:srgbClr val="14181A"/>
                </a:solidFill>
                <a:latin typeface="Calibri"/>
              </a:rPr>
              <a:t>Application server</a:t>
            </a:r>
          </a:p>
          <a:p>
            <a:pPr algn="r">
              <a:spcAft>
                <a:spcPts val="0"/>
              </a:spcAft>
            </a:pPr>
            <a:r>
              <a:rPr sz="1300" b="0" i="0">
                <a:solidFill>
                  <a:srgbClr val="3D4D55"/>
                </a:solidFill>
                <a:latin typeface="Calibri"/>
              </a:rPr>
              <a:t>WebSocket echo in ns-server</a:t>
            </a:r>
          </a:p>
        </p:txBody>
      </p:sp>
      <p:cxnSp>
        <p:nvCxnSpPr>
          <p:cNvPr id="56" name="line"/>
          <p:cNvCxnSpPr/>
          <p:nvPr/>
        </p:nvCxnSpPr>
        <p:spPr>
          <a:xfrm>
            <a:off x="10904219" y="3840480"/>
            <a:ext cx="0" cy="320040"/>
          </a:xfrm>
          <a:prstGeom prst="line">
            <a:avLst/>
          </a:prstGeom>
          <a:ln w="25400">
            <a:solidFill>
              <a:srgbClr val="14181A"/>
            </a:solidFill>
            <a:prstDash val="dash"/>
          </a:ln>
        </p:spPr>
        <p:style>
          <a:lnRef idx="2">
            <a:schemeClr val="accent1"/>
          </a:lnRef>
          <a:fillRef idx="0">
            <a:schemeClr val="accent1"/>
          </a:fillRef>
          <a:effectRef idx="1">
            <a:schemeClr val="accent1"/>
          </a:effectRef>
          <a:fontRef idx="minor">
            <a:schemeClr val="tx1"/>
          </a:fontRef>
        </p:style>
      </p:cxnSp>
      <p:sp>
        <p:nvSpPr>
          <p:cNvPr id="57" name="rule"/>
          <p:cNvSpPr/>
          <p:nvPr/>
        </p:nvSpPr>
        <p:spPr>
          <a:xfrm>
            <a:off x="548640" y="5440680"/>
            <a:ext cx="11064240" cy="868680"/>
          </a:xfrm>
          <a:prstGeom prst="roundRect">
            <a:avLst>
              <a:gd name="adj" fmla="val 12000"/>
            </a:avLst>
          </a:prstGeom>
          <a:solidFill>
            <a:srgbClr val="FFF4C4"/>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7240" y="5468112"/>
            <a:ext cx="10607040" cy="822960"/>
          </a:xfrm>
          <a:prstGeom prst="rect">
            <a:avLst/>
          </a:prstGeom>
          <a:noFill/>
        </p:spPr>
        <p:txBody>
          <a:bodyPr wrap="square" lIns="36576" rIns="36576" tIns="18288" bIns="18288" anchor="ctr">
            <a:spAutoFit/>
          </a:bodyPr>
          <a:lstStyle/>
          <a:p>
            <a:pPr algn="l">
              <a:spcAft>
                <a:spcPts val="0"/>
              </a:spcAft>
            </a:pPr>
            <a:r>
              <a:rPr sz="1500" b="1" i="0">
                <a:solidFill>
                  <a:srgbClr val="14181A"/>
                </a:solidFill>
                <a:latin typeface="Calibri"/>
              </a:rPr>
              <a:t>“Hop N onward” rule: </a:t>
            </a:r>
            <a:r>
              <a:rPr sz="1500" b="0" i="0">
                <a:solidFill>
                  <a:srgbClr val="14181A"/>
                </a:solidFill>
                <a:latin typeface="Calibri"/>
              </a:rPr>
              <a:t>a fault on the link leaving Hop N is first visible at Hop N+1, because Hop N's own reply is generated before that link. Verified here: 200/200 packets, hops 10.10.1.2 → 10.10.5.2 in 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Data collection: two streams, one clock</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7</a:t>
            </a:r>
          </a:p>
        </p:txBody>
      </p:sp>
      <p:sp>
        <p:nvSpPr>
          <p:cNvPr id="5" name="card shadow"/>
          <p:cNvSpPr/>
          <p:nvPr/>
        </p:nvSpPr>
        <p:spPr>
          <a:xfrm>
            <a:off x="612647" y="1389888"/>
            <a:ext cx="3520440" cy="3246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325880"/>
            <a:ext cx="3520440" cy="324612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89888"/>
            <a:ext cx="3154680" cy="457200"/>
          </a:xfrm>
          <a:prstGeom prst="rect">
            <a:avLst/>
          </a:prstGeom>
          <a:noFill/>
        </p:spPr>
        <p:txBody>
          <a:bodyPr wrap="square" lIns="36576" rIns="36576" tIns="18288" bIns="18288" anchor="t">
            <a:spAutoFit/>
          </a:bodyPr>
          <a:lstStyle/>
          <a:p>
            <a:pPr algn="l">
              <a:spcAft>
                <a:spcPts val="0"/>
              </a:spcAft>
            </a:pPr>
            <a:r>
              <a:rPr sz="2100" b="1" i="0">
                <a:solidFill>
                  <a:srgbClr val="14181A"/>
                </a:solidFill>
                <a:latin typeface="Calibri"/>
              </a:rPr>
              <a:t>Path prober</a:t>
            </a:r>
          </a:p>
        </p:txBody>
      </p:sp>
      <p:sp>
        <p:nvSpPr>
          <p:cNvPr id="8" name="TextBox 7"/>
          <p:cNvSpPr txBox="1"/>
          <p:nvPr/>
        </p:nvSpPr>
        <p:spPr>
          <a:xfrm>
            <a:off x="731520" y="1920240"/>
            <a:ext cx="3154680" cy="2606040"/>
          </a:xfrm>
          <a:prstGeom prst="rect">
            <a:avLst/>
          </a:prstGeom>
          <a:noFill/>
        </p:spPr>
        <p:txBody>
          <a:bodyPr wrap="square" lIns="36576" rIns="36576" tIns="18288" bIns="18288" anchor="t">
            <a:spAutoFit/>
          </a:bodyPr>
          <a:lstStyle/>
          <a:p>
            <a:pPr algn="l">
              <a:spcAft>
                <a:spcPts val="500"/>
              </a:spcAft>
            </a:pPr>
            <a:r>
              <a:rPr sz="1600" b="1" i="0">
                <a:solidFill>
                  <a:srgbClr val="14181A"/>
                </a:solidFill>
                <a:latin typeface="Calibri"/>
              </a:rPr>
              <a:t>•  </a:t>
            </a:r>
            <a:r>
              <a:rPr sz="1600" b="0" i="0">
                <a:solidFill>
                  <a:srgbClr val="14181A"/>
                </a:solidFill>
                <a:latin typeface="Calibri"/>
              </a:rPr>
              <a:t>5 hops (TTL 1-5)</a:t>
            </a:r>
          </a:p>
          <a:p>
            <a:pPr algn="l">
              <a:spcAft>
                <a:spcPts val="500"/>
              </a:spcAft>
            </a:pPr>
            <a:r>
              <a:rPr sz="1600" b="1" i="0">
                <a:solidFill>
                  <a:srgbClr val="14181A"/>
                </a:solidFill>
                <a:latin typeface="Calibri"/>
              </a:rPr>
              <a:t>•  </a:t>
            </a:r>
            <a:r>
              <a:rPr sz="1600" b="0" i="0">
                <a:solidFill>
                  <a:srgbClr val="14181A"/>
                </a:solidFill>
                <a:latin typeface="Calibri"/>
              </a:rPr>
              <a:t>2 probes per hop per round</a:t>
            </a:r>
          </a:p>
          <a:p>
            <a:pPr algn="l">
              <a:spcAft>
                <a:spcPts val="500"/>
              </a:spcAft>
            </a:pPr>
            <a:r>
              <a:rPr sz="1600" b="1" i="0">
                <a:solidFill>
                  <a:srgbClr val="14181A"/>
                </a:solidFill>
                <a:latin typeface="Calibri"/>
              </a:rPr>
              <a:t>•  </a:t>
            </a:r>
            <a:r>
              <a:rPr sz="1600" b="0" i="0">
                <a:solidFill>
                  <a:srgbClr val="14181A"/>
                </a:solidFill>
                <a:latin typeface="Calibri"/>
              </a:rPr>
              <a:t>A round every 0.5 s</a:t>
            </a:r>
          </a:p>
          <a:p>
            <a:pPr algn="l">
              <a:spcAft>
                <a:spcPts val="500"/>
              </a:spcAft>
            </a:pPr>
            <a:r>
              <a:rPr sz="1600" b="1" i="0">
                <a:solidFill>
                  <a:srgbClr val="14181A"/>
                </a:solidFill>
                <a:latin typeface="Calibri"/>
              </a:rPr>
              <a:t>•  </a:t>
            </a:r>
            <a:r>
              <a:rPr sz="1600" b="0" i="0">
                <a:solidFill>
                  <a:srgbClr val="14181A"/>
                </a:solidFill>
                <a:latin typeface="Calibri"/>
              </a:rPr>
              <a:t>0.3 s timeout; TCP-SYN (default) or UDP</a:t>
            </a:r>
          </a:p>
          <a:p>
            <a:pPr algn="l">
              <a:spcAft>
                <a:spcPts val="500"/>
              </a:spcAft>
            </a:pPr>
            <a:r>
              <a:rPr sz="1600" b="1" i="0">
                <a:solidFill>
                  <a:srgbClr val="14181A"/>
                </a:solidFill>
                <a:latin typeface="Calibri"/>
              </a:rPr>
              <a:t>•  </a:t>
            </a:r>
            <a:r>
              <a:rPr sz="1600" b="0" i="0">
                <a:solidFill>
                  <a:srgbClr val="14181A"/>
                </a:solidFill>
                <a:latin typeface="Calibri"/>
              </a:rPr>
              <a:t>No answer = unknown, never interpolated</a:t>
            </a:r>
          </a:p>
        </p:txBody>
      </p:sp>
      <p:sp>
        <p:nvSpPr>
          <p:cNvPr id="9" name="card shadow"/>
          <p:cNvSpPr/>
          <p:nvPr/>
        </p:nvSpPr>
        <p:spPr>
          <a:xfrm>
            <a:off x="4384548" y="1389888"/>
            <a:ext cx="3520440" cy="3246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4320540" y="1325880"/>
            <a:ext cx="3520440" cy="3246120"/>
          </a:xfrm>
          <a:prstGeom prst="roundRect">
            <a:avLst>
              <a:gd name="adj" fmla="val 12000"/>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3420" y="1389888"/>
            <a:ext cx="3154680" cy="457200"/>
          </a:xfrm>
          <a:prstGeom prst="rect">
            <a:avLst/>
          </a:prstGeom>
          <a:noFill/>
        </p:spPr>
        <p:txBody>
          <a:bodyPr wrap="square" lIns="36576" rIns="36576" tIns="18288" bIns="18288" anchor="t">
            <a:spAutoFit/>
          </a:bodyPr>
          <a:lstStyle/>
          <a:p>
            <a:pPr algn="l">
              <a:spcAft>
                <a:spcPts val="0"/>
              </a:spcAft>
            </a:pPr>
            <a:r>
              <a:rPr sz="2100" b="1" i="0">
                <a:solidFill>
                  <a:srgbClr val="14181A"/>
                </a:solidFill>
                <a:latin typeface="Calibri"/>
              </a:rPr>
              <a:t>Application client</a:t>
            </a:r>
          </a:p>
        </p:txBody>
      </p:sp>
      <p:sp>
        <p:nvSpPr>
          <p:cNvPr id="12" name="TextBox 11"/>
          <p:cNvSpPr txBox="1"/>
          <p:nvPr/>
        </p:nvSpPr>
        <p:spPr>
          <a:xfrm>
            <a:off x="4503420" y="1920240"/>
            <a:ext cx="3154680" cy="2606040"/>
          </a:xfrm>
          <a:prstGeom prst="rect">
            <a:avLst/>
          </a:prstGeom>
          <a:noFill/>
        </p:spPr>
        <p:txBody>
          <a:bodyPr wrap="square" lIns="36576" rIns="36576" tIns="18288" bIns="18288" anchor="t">
            <a:spAutoFit/>
          </a:bodyPr>
          <a:lstStyle/>
          <a:p>
            <a:pPr algn="l">
              <a:spcAft>
                <a:spcPts val="500"/>
              </a:spcAft>
            </a:pPr>
            <a:r>
              <a:rPr sz="1600" b="1" i="0">
                <a:solidFill>
                  <a:srgbClr val="14181A"/>
                </a:solidFill>
                <a:latin typeface="Calibri"/>
              </a:rPr>
              <a:t>•  </a:t>
            </a:r>
            <a:r>
              <a:rPr sz="1600" b="0" i="0">
                <a:solidFill>
                  <a:srgbClr val="14181A"/>
                </a:solidFill>
                <a:latin typeface="Calibri"/>
              </a:rPr>
              <a:t>Hand-written RFC 6455 WebSocket</a:t>
            </a:r>
          </a:p>
          <a:p>
            <a:pPr algn="l">
              <a:spcAft>
                <a:spcPts val="500"/>
              </a:spcAft>
            </a:pPr>
            <a:r>
              <a:rPr sz="1600" b="1" i="0">
                <a:solidFill>
                  <a:srgbClr val="14181A"/>
                </a:solidFill>
                <a:latin typeface="Calibri"/>
              </a:rPr>
              <a:t>•  </a:t>
            </a:r>
            <a:r>
              <a:rPr sz="1600" b="0" i="0">
                <a:solidFill>
                  <a:srgbClr val="14181A"/>
                </a:solidFill>
                <a:latin typeface="Calibri"/>
              </a:rPr>
              <a:t>Ping at 20 Hz (feeds the detector)</a:t>
            </a:r>
          </a:p>
          <a:p>
            <a:pPr algn="l">
              <a:spcAft>
                <a:spcPts val="500"/>
              </a:spcAft>
            </a:pPr>
            <a:r>
              <a:rPr sz="1600" b="1" i="0">
                <a:solidFill>
                  <a:srgbClr val="14181A"/>
                </a:solidFill>
                <a:latin typeface="Calibri"/>
              </a:rPr>
              <a:t>•  </a:t>
            </a:r>
            <a:r>
              <a:rPr sz="1600" b="0" i="0">
                <a:solidFill>
                  <a:srgbClr val="14181A"/>
                </a:solidFill>
                <a:latin typeface="Calibri"/>
              </a:rPr>
              <a:t>Interactions: Poisson, mean 2/s, 150 ms budget</a:t>
            </a:r>
          </a:p>
          <a:p>
            <a:pPr algn="l">
              <a:spcAft>
                <a:spcPts val="500"/>
              </a:spcAft>
            </a:pPr>
            <a:r>
              <a:rPr sz="1600" b="1" i="0">
                <a:solidFill>
                  <a:srgbClr val="14181A"/>
                </a:solidFill>
                <a:latin typeface="Calibri"/>
              </a:rPr>
              <a:t>•  </a:t>
            </a:r>
            <a:r>
              <a:rPr sz="1600" b="0" i="0">
                <a:solidFill>
                  <a:srgbClr val="14181A"/>
                </a:solidFill>
                <a:latin typeface="Calibri"/>
              </a:rPr>
              <a:t>Missing reply after 2 s: RTT stays null</a:t>
            </a:r>
          </a:p>
          <a:p>
            <a:pPr algn="l">
              <a:spcAft>
                <a:spcPts val="500"/>
              </a:spcAft>
            </a:pPr>
            <a:r>
              <a:rPr sz="1600" b="1" i="0">
                <a:solidFill>
                  <a:srgbClr val="14181A"/>
                </a:solidFill>
                <a:latin typeface="Calibri"/>
              </a:rPr>
              <a:t>•  </a:t>
            </a:r>
            <a:r>
              <a:rPr sz="1600" b="0" i="0">
                <a:solidFill>
                  <a:srgbClr val="14181A"/>
                </a:solidFill>
                <a:latin typeface="Calibri"/>
              </a:rPr>
              <a:t>RTT computed client-side only</a:t>
            </a:r>
          </a:p>
        </p:txBody>
      </p:sp>
      <p:sp>
        <p:nvSpPr>
          <p:cNvPr id="13" name="card shadow"/>
          <p:cNvSpPr/>
          <p:nvPr/>
        </p:nvSpPr>
        <p:spPr>
          <a:xfrm>
            <a:off x="8156448" y="1389888"/>
            <a:ext cx="3520440" cy="32461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p:cNvSpPr/>
          <p:nvPr/>
        </p:nvSpPr>
        <p:spPr>
          <a:xfrm>
            <a:off x="8092440" y="1325880"/>
            <a:ext cx="3520440" cy="3246120"/>
          </a:xfrm>
          <a:prstGeom prst="roundRect">
            <a:avLst>
              <a:gd name="adj" fmla="val 12000"/>
            </a:avLst>
          </a:prstGeom>
          <a:solidFill>
            <a:srgbClr val="FFF4C4"/>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389888"/>
            <a:ext cx="3154680" cy="457200"/>
          </a:xfrm>
          <a:prstGeom prst="rect">
            <a:avLst/>
          </a:prstGeom>
          <a:noFill/>
        </p:spPr>
        <p:txBody>
          <a:bodyPr wrap="square" lIns="36576" rIns="36576" tIns="18288" bIns="18288" anchor="t">
            <a:spAutoFit/>
          </a:bodyPr>
          <a:lstStyle/>
          <a:p>
            <a:pPr algn="l">
              <a:spcAft>
                <a:spcPts val="0"/>
              </a:spcAft>
            </a:pPr>
            <a:r>
              <a:rPr sz="2100" b="1" i="0">
                <a:solidFill>
                  <a:srgbClr val="14181A"/>
                </a:solidFill>
                <a:latin typeface="Calibri"/>
              </a:rPr>
              <a:t>One shared clock</a:t>
            </a:r>
          </a:p>
        </p:txBody>
      </p:sp>
      <p:sp>
        <p:nvSpPr>
          <p:cNvPr id="16" name="TextBox 15"/>
          <p:cNvSpPr txBox="1"/>
          <p:nvPr/>
        </p:nvSpPr>
        <p:spPr>
          <a:xfrm>
            <a:off x="8275319" y="1920240"/>
            <a:ext cx="3154680" cy="2606040"/>
          </a:xfrm>
          <a:prstGeom prst="rect">
            <a:avLst/>
          </a:prstGeom>
          <a:noFill/>
        </p:spPr>
        <p:txBody>
          <a:bodyPr wrap="square" lIns="36576" rIns="36576" tIns="18288" bIns="18288" anchor="t">
            <a:spAutoFit/>
          </a:bodyPr>
          <a:lstStyle/>
          <a:p>
            <a:pPr algn="l">
              <a:spcAft>
                <a:spcPts val="500"/>
              </a:spcAft>
            </a:pPr>
            <a:r>
              <a:rPr sz="1600" b="1" i="0">
                <a:solidFill>
                  <a:srgbClr val="14181A"/>
                </a:solidFill>
                <a:latin typeface="Calibri"/>
              </a:rPr>
              <a:t>•  </a:t>
            </a:r>
            <a:r>
              <a:rPr sz="1600" b="0" i="0">
                <a:solidFill>
                  <a:srgbClr val="14181A"/>
                </a:solidFill>
                <a:latin typeface="Calibri"/>
              </a:rPr>
              <a:t>Both in ns-client</a:t>
            </a:r>
          </a:p>
          <a:p>
            <a:pPr algn="l">
              <a:spcAft>
                <a:spcPts val="500"/>
              </a:spcAft>
            </a:pPr>
            <a:r>
              <a:rPr sz="1600" b="1" i="0">
                <a:solidFill>
                  <a:srgbClr val="14181A"/>
                </a:solidFill>
                <a:latin typeface="Calibri"/>
              </a:rPr>
              <a:t>•  </a:t>
            </a:r>
            <a:r>
              <a:rPr sz="1600" b="0" i="0">
                <a:solidFill>
                  <a:srgbClr val="14181A"/>
                </a:solidFill>
                <a:latin typeface="Calibri"/>
              </a:rPr>
              <a:t>One CLOCK_MONOTONIC call</a:t>
            </a:r>
          </a:p>
          <a:p>
            <a:pPr algn="l">
              <a:spcAft>
                <a:spcPts val="500"/>
              </a:spcAft>
            </a:pPr>
            <a:r>
              <a:rPr sz="1600" b="1" i="0">
                <a:solidFill>
                  <a:srgbClr val="14181A"/>
                </a:solidFill>
                <a:latin typeface="Calibri"/>
              </a:rPr>
              <a:t>•  </a:t>
            </a:r>
            <a:r>
              <a:rPr sz="1600" b="0" i="0">
                <a:solidFill>
                  <a:srgbClr val="14181A"/>
                </a:solidFill>
                <a:latin typeface="Calibri"/>
              </a:rPr>
              <a:t>Onsets directly comparable</a:t>
            </a:r>
          </a:p>
          <a:p>
            <a:pPr algn="l">
              <a:spcAft>
                <a:spcPts val="500"/>
              </a:spcAft>
            </a:pPr>
            <a:r>
              <a:rPr sz="1600" b="1" i="0">
                <a:solidFill>
                  <a:srgbClr val="14181A"/>
                </a:solidFill>
                <a:latin typeface="Calibri"/>
              </a:rPr>
              <a:t>•  </a:t>
            </a:r>
            <a:r>
              <a:rPr sz="1600" b="0" i="0">
                <a:solidFill>
                  <a:srgbClr val="14181A"/>
                </a:solidFill>
                <a:latin typeface="Calibri"/>
              </a:rPr>
              <a:t>No cross-host synchronisation</a:t>
            </a:r>
          </a:p>
          <a:p>
            <a:pPr algn="l">
              <a:spcAft>
                <a:spcPts val="500"/>
              </a:spcAft>
            </a:pPr>
            <a:r>
              <a:rPr sz="1600" b="1" i="0">
                <a:solidFill>
                  <a:srgbClr val="14181A"/>
                </a:solidFill>
                <a:latin typeface="Calibri"/>
              </a:rPr>
              <a:t>•  </a:t>
            </a:r>
            <a:r>
              <a:rPr sz="1600" b="0" i="0">
                <a:solidFill>
                  <a:srgbClr val="14181A"/>
                </a:solidFill>
                <a:latin typeface="Calibri"/>
              </a:rPr>
              <a:t>Bucket width 0.5 s = probe round</a:t>
            </a:r>
          </a:p>
        </p:txBody>
      </p:sp>
      <p:sp>
        <p:nvSpPr>
          <p:cNvPr id="17" name="TextBox 16"/>
          <p:cNvSpPr txBox="1"/>
          <p:nvPr/>
        </p:nvSpPr>
        <p:spPr>
          <a:xfrm>
            <a:off x="548640" y="4663440"/>
            <a:ext cx="5486400" cy="274320"/>
          </a:xfrm>
          <a:prstGeom prst="rect">
            <a:avLst/>
          </a:prstGeom>
          <a:noFill/>
        </p:spPr>
        <p:txBody>
          <a:bodyPr wrap="square" lIns="36576" rIns="36576" tIns="18288" bIns="18288" anchor="t">
            <a:spAutoFit/>
          </a:bodyPr>
          <a:lstStyle/>
          <a:p>
            <a:pPr algn="l">
              <a:spcAft>
                <a:spcPts val="0"/>
              </a:spcAft>
            </a:pPr>
            <a:r>
              <a:rPr sz="1300" b="1" i="0">
                <a:solidFill>
                  <a:srgbClr val="3D4D55"/>
                </a:solidFill>
                <a:latin typeface="Consolas"/>
              </a:rPr>
              <a:t>hop.jsonl  (one line per probe)</a:t>
            </a:r>
          </a:p>
        </p:txBody>
      </p:sp>
      <p:sp>
        <p:nvSpPr>
          <p:cNvPr id="18" name="card"/>
          <p:cNvSpPr/>
          <p:nvPr/>
        </p:nvSpPr>
        <p:spPr>
          <a:xfrm>
            <a:off x="548640" y="4956048"/>
            <a:ext cx="5440680" cy="1325880"/>
          </a:xfrm>
          <a:prstGeom prst="roundRect">
            <a:avLst>
              <a:gd name="adj" fmla="val 8000"/>
            </a:avLst>
          </a:prstGeom>
          <a:solidFill>
            <a:srgbClr val="14181A"/>
          </a:solidFill>
          <a:ln w="12700">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029200"/>
            <a:ext cx="5221224" cy="1179576"/>
          </a:xfrm>
          <a:prstGeom prst="rect">
            <a:avLst/>
          </a:prstGeom>
          <a:noFill/>
        </p:spPr>
        <p:txBody>
          <a:bodyPr wrap="square" lIns="0" rIns="0" tIns="18288" bIns="18288" anchor="ctr">
            <a:spAutoFit/>
          </a:bodyPr>
          <a:lstStyle/>
          <a:p>
            <a:pPr algn="l">
              <a:spcAft>
                <a:spcPts val="0"/>
              </a:spcAft>
            </a:pPr>
            <a:r>
              <a:rPr sz="1200" b="0" i="0">
                <a:solidFill>
                  <a:srgbClr val="E8F1F3"/>
                </a:solidFill>
                <a:latin typeface="Consolas"/>
              </a:rPr>
              <a:t>{"round_id":0,"ttl":1,"hop_ip":"10.10.1.2",</a:t>
            </a:r>
          </a:p>
          <a:p>
            <a:pPr algn="l">
              <a:spcAft>
                <a:spcPts val="0"/>
              </a:spcAft>
            </a:pPr>
            <a:r>
              <a:rPr sz="1200" b="0" i="0">
                <a:solidFill>
                  <a:srgbClr val="E8F1F3"/>
                </a:solidFill>
                <a:latin typeface="Consolas"/>
              </a:rPr>
              <a:t> "rtt_ms":0.050222,"responded":true,"probe_index":0,</a:t>
            </a:r>
          </a:p>
          <a:p>
            <a:pPr algn="l">
              <a:spcAft>
                <a:spcPts val="0"/>
              </a:spcAft>
            </a:pPr>
            <a:r>
              <a:rPr sz="1200" b="0" i="0">
                <a:solidFill>
                  <a:srgbClr val="E8F1F3"/>
                </a:solidFill>
                <a:latin typeface="Consolas"/>
              </a:rPr>
              <a:t> "t_send_mono_ns":16726703720,</a:t>
            </a:r>
          </a:p>
          <a:p>
            <a:pPr algn="l">
              <a:spcAft>
                <a:spcPts val="0"/>
              </a:spcAft>
            </a:pPr>
            <a:r>
              <a:rPr sz="1200" b="0" i="0">
                <a:solidFill>
                  <a:srgbClr val="E8F1F3"/>
                </a:solidFill>
                <a:latin typeface="Consolas"/>
              </a:rPr>
              <a:t> "t_recv_mono_ns":16726784215}</a:t>
            </a:r>
          </a:p>
        </p:txBody>
      </p:sp>
      <p:sp>
        <p:nvSpPr>
          <p:cNvPr id="20" name="TextBox 19"/>
          <p:cNvSpPr txBox="1"/>
          <p:nvPr/>
        </p:nvSpPr>
        <p:spPr>
          <a:xfrm>
            <a:off x="6172200" y="4663440"/>
            <a:ext cx="5486400" cy="274320"/>
          </a:xfrm>
          <a:prstGeom prst="rect">
            <a:avLst/>
          </a:prstGeom>
          <a:noFill/>
        </p:spPr>
        <p:txBody>
          <a:bodyPr wrap="square" lIns="36576" rIns="36576" tIns="18288" bIns="18288" anchor="t">
            <a:spAutoFit/>
          </a:bodyPr>
          <a:lstStyle/>
          <a:p>
            <a:pPr algn="l">
              <a:spcAft>
                <a:spcPts val="0"/>
              </a:spcAft>
            </a:pPr>
            <a:r>
              <a:rPr sz="1300" b="1" i="0">
                <a:solidFill>
                  <a:srgbClr val="3D4D55"/>
                </a:solidFill>
                <a:latin typeface="Consolas"/>
              </a:rPr>
              <a:t>app.jsonl  (one line per application sample)</a:t>
            </a:r>
          </a:p>
        </p:txBody>
      </p:sp>
      <p:sp>
        <p:nvSpPr>
          <p:cNvPr id="21" name="card"/>
          <p:cNvSpPr/>
          <p:nvPr/>
        </p:nvSpPr>
        <p:spPr>
          <a:xfrm>
            <a:off x="6172200" y="4956048"/>
            <a:ext cx="5440680" cy="1325880"/>
          </a:xfrm>
          <a:prstGeom prst="roundRect">
            <a:avLst>
              <a:gd name="adj" fmla="val 8000"/>
            </a:avLst>
          </a:prstGeom>
          <a:solidFill>
            <a:srgbClr val="14181A"/>
          </a:solidFill>
          <a:ln w="12700">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1928" y="5029200"/>
            <a:ext cx="5221224" cy="1179576"/>
          </a:xfrm>
          <a:prstGeom prst="rect">
            <a:avLst/>
          </a:prstGeom>
          <a:noFill/>
        </p:spPr>
        <p:txBody>
          <a:bodyPr wrap="square" lIns="0" rIns="0" tIns="18288" bIns="18288" anchor="ctr">
            <a:spAutoFit/>
          </a:bodyPr>
          <a:lstStyle/>
          <a:p>
            <a:pPr algn="l">
              <a:spcAft>
                <a:spcPts val="0"/>
              </a:spcAft>
            </a:pPr>
            <a:r>
              <a:rPr sz="1200" b="0" i="0">
                <a:solidFill>
                  <a:srgbClr val="E8F1F3"/>
                </a:solidFill>
                <a:latin typeface="Consolas"/>
              </a:rPr>
              <a:t>{"seq":0,"kind":"ping",</a:t>
            </a:r>
          </a:p>
          <a:p>
            <a:pPr algn="l">
              <a:spcAft>
                <a:spcPts val="0"/>
              </a:spcAft>
            </a:pPr>
            <a:r>
              <a:rPr sz="1200" b="0" i="0">
                <a:solidFill>
                  <a:srgbClr val="E8F1F3"/>
                </a:solidFill>
                <a:latin typeface="Consolas"/>
              </a:rPr>
              <a:t> "t_send_mono_ns":16793313189,</a:t>
            </a:r>
          </a:p>
          <a:p>
            <a:pPr algn="l">
              <a:spcAft>
                <a:spcPts val="0"/>
              </a:spcAft>
            </a:pPr>
            <a:r>
              <a:rPr sz="1200" b="0" i="0">
                <a:solidFill>
                  <a:srgbClr val="E8F1F3"/>
                </a:solidFill>
                <a:latin typeface="Consolas"/>
              </a:rPr>
              <a:t> "t_recv_mono_ns":16793623395,</a:t>
            </a:r>
          </a:p>
          <a:p>
            <a:pPr algn="l">
              <a:spcAft>
                <a:spcPts val="0"/>
              </a:spcAft>
            </a:pPr>
            <a:r>
              <a:rPr sz="1200" b="0" i="0">
                <a:solidFill>
                  <a:srgbClr val="E8F1F3"/>
                </a:solidFill>
                <a:latin typeface="Consolas"/>
              </a:rPr>
              <a:t> "rtt_ms":0.310206,"responded":true,"missed_budget":false}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Correlation methodology</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8</a:t>
            </a:r>
          </a:p>
        </p:txBody>
      </p:sp>
      <p:sp>
        <p:nvSpPr>
          <p:cNvPr id="5" name="card shadow"/>
          <p:cNvSpPr/>
          <p:nvPr/>
        </p:nvSpPr>
        <p:spPr>
          <a:xfrm>
            <a:off x="612647" y="1435608"/>
            <a:ext cx="5120640" cy="1188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371600"/>
            <a:ext cx="5120640" cy="1188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4380" y="1668780"/>
            <a:ext cx="594360" cy="594360"/>
          </a:xfrm>
          <a:prstGeom prst="ellipse">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14181A"/>
                </a:solidFill>
                <a:latin typeface="Arial Black"/>
              </a:rPr>
              <a:t>1</a:t>
            </a:r>
          </a:p>
        </p:txBody>
      </p:sp>
      <p:sp>
        <p:nvSpPr>
          <p:cNvPr id="8" name="TextBox 7"/>
          <p:cNvSpPr txBox="1"/>
          <p:nvPr/>
        </p:nvSpPr>
        <p:spPr>
          <a:xfrm>
            <a:off x="1508760" y="1426464"/>
            <a:ext cx="4069080" cy="36576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Bucket</a:t>
            </a:r>
          </a:p>
        </p:txBody>
      </p:sp>
      <p:sp>
        <p:nvSpPr>
          <p:cNvPr id="9" name="TextBox 8"/>
          <p:cNvSpPr txBox="1"/>
          <p:nvPr/>
        </p:nvSpPr>
        <p:spPr>
          <a:xfrm>
            <a:off x="1508760" y="1792224"/>
            <a:ext cx="4069080" cy="749808"/>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Mean RTT per 500 ms bucket for the app and for each hop. No answer = unknown.</a:t>
            </a:r>
          </a:p>
        </p:txBody>
      </p:sp>
      <p:sp>
        <p:nvSpPr>
          <p:cNvPr id="10" name="card shadow"/>
          <p:cNvSpPr/>
          <p:nvPr/>
        </p:nvSpPr>
        <p:spPr>
          <a:xfrm>
            <a:off x="612647" y="2807208"/>
            <a:ext cx="5120640" cy="1188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p:cNvSpPr/>
          <p:nvPr/>
        </p:nvSpPr>
        <p:spPr>
          <a:xfrm>
            <a:off x="548640" y="2743200"/>
            <a:ext cx="5120640" cy="1188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54380" y="3040379"/>
            <a:ext cx="594360" cy="594360"/>
          </a:xfrm>
          <a:prstGeom prst="ellipse">
            <a:avLst/>
          </a:prstGeom>
          <a:solidFill>
            <a:srgbClr val="2FD3E0"/>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14181A"/>
                </a:solidFill>
                <a:latin typeface="Arial Black"/>
              </a:rPr>
              <a:t>2</a:t>
            </a:r>
          </a:p>
        </p:txBody>
      </p:sp>
      <p:sp>
        <p:nvSpPr>
          <p:cNvPr id="13" name="TextBox 12"/>
          <p:cNvSpPr txBox="1"/>
          <p:nvPr/>
        </p:nvSpPr>
        <p:spPr>
          <a:xfrm>
            <a:off x="1508760" y="2798064"/>
            <a:ext cx="4069080" cy="36576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Onset</a:t>
            </a:r>
          </a:p>
        </p:txBody>
      </p:sp>
      <p:sp>
        <p:nvSpPr>
          <p:cNvPr id="14" name="TextBox 13"/>
          <p:cNvSpPr txBox="1"/>
          <p:nvPr/>
        </p:nvSpPr>
        <p:spPr>
          <a:xfrm>
            <a:off x="1508760" y="3163824"/>
            <a:ext cx="4069080" cy="749808"/>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T = median + 5 × MAD over the series. Onset = first of 3 consecutive buckets above T.</a:t>
            </a:r>
          </a:p>
        </p:txBody>
      </p:sp>
      <p:sp>
        <p:nvSpPr>
          <p:cNvPr id="15" name="card shadow"/>
          <p:cNvSpPr/>
          <p:nvPr/>
        </p:nvSpPr>
        <p:spPr>
          <a:xfrm>
            <a:off x="612647" y="4178808"/>
            <a:ext cx="5120640" cy="1188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cNvSpPr/>
          <p:nvPr/>
        </p:nvSpPr>
        <p:spPr>
          <a:xfrm>
            <a:off x="548640" y="4114800"/>
            <a:ext cx="5120640" cy="1188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4380" y="4411980"/>
            <a:ext cx="594360" cy="594360"/>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14181A"/>
                </a:solidFill>
                <a:latin typeface="Arial Black"/>
              </a:rPr>
              <a:t>3</a:t>
            </a:r>
          </a:p>
        </p:txBody>
      </p:sp>
      <p:sp>
        <p:nvSpPr>
          <p:cNvPr id="18" name="TextBox 17"/>
          <p:cNvSpPr txBox="1"/>
          <p:nvPr/>
        </p:nvSpPr>
        <p:spPr>
          <a:xfrm>
            <a:off x="1508760" y="4169663"/>
            <a:ext cx="4069080" cy="36576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Align</a:t>
            </a:r>
          </a:p>
        </p:txBody>
      </p:sp>
      <p:sp>
        <p:nvSpPr>
          <p:cNvPr id="19" name="TextBox 18"/>
          <p:cNvSpPr txBox="1"/>
          <p:nvPr/>
        </p:nvSpPr>
        <p:spPr>
          <a:xfrm>
            <a:off x="1508760" y="4535424"/>
            <a:ext cx="4069080" cy="749808"/>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|t_hop − t_app| ≤ 1.5 s, and every deeper hop must also show a concurrent onset.</a:t>
            </a:r>
          </a:p>
        </p:txBody>
      </p:sp>
      <p:sp>
        <p:nvSpPr>
          <p:cNvPr id="20" name="caveat"/>
          <p:cNvSpPr/>
          <p:nvPr/>
        </p:nvSpPr>
        <p:spPr>
          <a:xfrm>
            <a:off x="548640" y="5486400"/>
            <a:ext cx="5120640" cy="822960"/>
          </a:xfrm>
          <a:prstGeom prst="roundRect">
            <a:avLst>
              <a:gd name="adj" fmla="val 12000"/>
            </a:avLst>
          </a:prstGeom>
          <a:solidFill>
            <a:srgbClr val="FFE3DC"/>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504688"/>
            <a:ext cx="4892040" cy="786384"/>
          </a:xfrm>
          <a:prstGeom prst="rect">
            <a:avLst/>
          </a:prstGeom>
          <a:noFill/>
        </p:spPr>
        <p:txBody>
          <a:bodyPr wrap="square" lIns="36576" rIns="36576" tIns="18288" bIns="18288" anchor="ctr">
            <a:spAutoFit/>
          </a:bodyPr>
          <a:lstStyle/>
          <a:p>
            <a:pPr algn="l">
              <a:spcAft>
                <a:spcPts val="0"/>
              </a:spcAft>
            </a:pPr>
            <a:r>
              <a:rPr sz="1350" b="1" i="0">
                <a:solidFill>
                  <a:srgbClr val="14181A"/>
                </a:solidFill>
                <a:latin typeface="Calibri"/>
              </a:rPr>
              <a:t>Caveat: </a:t>
            </a:r>
            <a:r>
              <a:rPr sz="1350" b="0" i="0">
                <a:solidFill>
                  <a:srgbClr val="14181A"/>
                </a:solidFill>
                <a:latin typeface="Calibri"/>
              </a:rPr>
              <a:t>global baseline: a fault covering most of the window can yield “no onset”.</a:t>
            </a:r>
          </a:p>
        </p:txBody>
      </p:sp>
      <p:pic>
        <p:nvPicPr>
          <p:cNvPr id="22" name="Measured RTT series for application, Hop" descr="Measured RTT series for application, Hop 2 and Hop 3 from demo-run-01"/>
          <p:cNvPicPr>
            <a:picLocks noChangeAspect="1"/>
          </p:cNvPicPr>
          <p:nvPr/>
        </p:nvPicPr>
        <p:blipFill>
          <a:blip r:embed="rId3"/>
          <a:stretch>
            <a:fillRect/>
          </a:stretch>
        </p:blipFill>
        <p:spPr>
          <a:xfrm>
            <a:off x="5989320" y="1325880"/>
            <a:ext cx="5286375" cy="4572000"/>
          </a:xfrm>
          <a:prstGeom prst="rect">
            <a:avLst/>
          </a:prstGeom>
          <a:ln w="25400">
            <a:solidFill>
              <a:srgbClr val="14181A"/>
            </a:solidFill>
          </a:ln>
        </p:spPr>
      </p:pic>
      <p:sp>
        <p:nvSpPr>
          <p:cNvPr id="23" name="TextBox 22"/>
          <p:cNvSpPr txBox="1"/>
          <p:nvPr/>
        </p:nvSpPr>
        <p:spPr>
          <a:xfrm>
            <a:off x="5989320" y="5943600"/>
            <a:ext cx="5669280" cy="457200"/>
          </a:xfrm>
          <a:prstGeom prst="rect">
            <a:avLst/>
          </a:prstGeom>
          <a:noFill/>
        </p:spPr>
        <p:txBody>
          <a:bodyPr wrap="square" lIns="36576" rIns="36576" tIns="18288" bIns="18288" anchor="t">
            <a:spAutoFit/>
          </a:bodyPr>
          <a:lstStyle/>
          <a:p>
            <a:pPr algn="l">
              <a:spcAft>
                <a:spcPts val="0"/>
              </a:spcAft>
            </a:pPr>
            <a:r>
              <a:rPr sz="1200" b="0" i="1">
                <a:solidFill>
                  <a:srgbClr val="3D4D55"/>
                </a:solidFill>
                <a:latin typeface="Calibri"/>
              </a:rPr>
              <a:t>Measured: demo-run-01. App and Hop 3 onset at +25.0 s; Hop 2's single noisy bucket is ignored.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Evidence model and confidence</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9</a:t>
            </a:r>
          </a:p>
        </p:txBody>
      </p:sp>
      <p:sp>
        <p:nvSpPr>
          <p:cNvPr id="5" name="card shadow"/>
          <p:cNvSpPr/>
          <p:nvPr/>
        </p:nvSpPr>
        <p:spPr>
          <a:xfrm>
            <a:off x="612647" y="1435608"/>
            <a:ext cx="1993392" cy="12344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371600"/>
            <a:ext cx="1993392" cy="12344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ill"/>
          <p:cNvSpPr/>
          <p:nvPr/>
        </p:nvSpPr>
        <p:spPr>
          <a:xfrm>
            <a:off x="731520" y="1536192"/>
            <a:ext cx="1627632" cy="365760"/>
          </a:xfrm>
          <a:prstGeom prst="roundRect">
            <a:avLst>
              <a:gd name="adj" fmla="val 50000"/>
            </a:avLst>
          </a:prstGeom>
          <a:solidFill>
            <a:srgbClr val="2FD3E0"/>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14181A"/>
                </a:solidFill>
                <a:latin typeface="Consolas"/>
              </a:rPr>
              <a:t>fact</a:t>
            </a:r>
          </a:p>
        </p:txBody>
      </p:sp>
      <p:sp>
        <p:nvSpPr>
          <p:cNvPr id="8" name="TextBox 7"/>
          <p:cNvSpPr txBox="1"/>
          <p:nvPr/>
        </p:nvSpPr>
        <p:spPr>
          <a:xfrm>
            <a:off x="640080" y="2011680"/>
            <a:ext cx="1810512" cy="457200"/>
          </a:xfrm>
          <a:prstGeom prst="rect">
            <a:avLst/>
          </a:prstGeom>
          <a:noFill/>
        </p:spPr>
        <p:txBody>
          <a:bodyPr wrap="square" lIns="36576" rIns="36576" tIns="18288" bIns="18288" anchor="t">
            <a:spAutoFit/>
          </a:bodyPr>
          <a:lstStyle/>
          <a:p>
            <a:pPr algn="ctr">
              <a:spcAft>
                <a:spcPts val="0"/>
              </a:spcAft>
            </a:pPr>
            <a:r>
              <a:rPr sz="1600" b="0" i="0">
                <a:solidFill>
                  <a:srgbClr val="3D4D55"/>
                </a:solidFill>
                <a:latin typeface="Calibri"/>
              </a:rPr>
              <a:t>measured</a:t>
            </a:r>
          </a:p>
        </p:txBody>
      </p:sp>
      <p:sp>
        <p:nvSpPr>
          <p:cNvPr id="9" name="card shadow"/>
          <p:cNvSpPr/>
          <p:nvPr/>
        </p:nvSpPr>
        <p:spPr>
          <a:xfrm>
            <a:off x="2880360" y="1435608"/>
            <a:ext cx="1993392" cy="12344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2816352" y="1371600"/>
            <a:ext cx="1993392" cy="12344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ill"/>
          <p:cNvSpPr/>
          <p:nvPr/>
        </p:nvSpPr>
        <p:spPr>
          <a:xfrm>
            <a:off x="2999232" y="1536192"/>
            <a:ext cx="1627632" cy="365760"/>
          </a:xfrm>
          <a:prstGeom prst="roundRect">
            <a:avLst>
              <a:gd name="adj" fmla="val 50000"/>
            </a:avLst>
          </a:prstGeom>
          <a:solidFill>
            <a:srgbClr val="6A4DF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FFFFFF"/>
                </a:solidFill>
                <a:latin typeface="Consolas"/>
              </a:rPr>
              <a:t>inference</a:t>
            </a:r>
          </a:p>
        </p:txBody>
      </p:sp>
      <p:sp>
        <p:nvSpPr>
          <p:cNvPr id="12" name="TextBox 11"/>
          <p:cNvSpPr txBox="1"/>
          <p:nvPr/>
        </p:nvSpPr>
        <p:spPr>
          <a:xfrm>
            <a:off x="2907792" y="2011680"/>
            <a:ext cx="1810512" cy="457200"/>
          </a:xfrm>
          <a:prstGeom prst="rect">
            <a:avLst/>
          </a:prstGeom>
          <a:noFill/>
        </p:spPr>
        <p:txBody>
          <a:bodyPr wrap="square" lIns="36576" rIns="36576" tIns="18288" bIns="18288" anchor="t">
            <a:spAutoFit/>
          </a:bodyPr>
          <a:lstStyle/>
          <a:p>
            <a:pPr algn="ctr">
              <a:spcAft>
                <a:spcPts val="0"/>
              </a:spcAft>
            </a:pPr>
            <a:r>
              <a:rPr sz="1600" b="0" i="0">
                <a:solidFill>
                  <a:srgbClr val="3D4D55"/>
                </a:solidFill>
                <a:latin typeface="Calibri"/>
              </a:rPr>
              <a:t>consistent with</a:t>
            </a:r>
          </a:p>
        </p:txBody>
      </p:sp>
      <p:sp>
        <p:nvSpPr>
          <p:cNvPr id="13" name="card shadow"/>
          <p:cNvSpPr/>
          <p:nvPr/>
        </p:nvSpPr>
        <p:spPr>
          <a:xfrm>
            <a:off x="5148072" y="1435608"/>
            <a:ext cx="1993392" cy="12344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p:cNvSpPr/>
          <p:nvPr/>
        </p:nvSpPr>
        <p:spPr>
          <a:xfrm>
            <a:off x="5084064" y="1371600"/>
            <a:ext cx="1993392" cy="12344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ill"/>
          <p:cNvSpPr/>
          <p:nvPr/>
        </p:nvSpPr>
        <p:spPr>
          <a:xfrm>
            <a:off x="5266944" y="1536192"/>
            <a:ext cx="1627632" cy="365760"/>
          </a:xfrm>
          <a:prstGeom prst="roundRect">
            <a:avLst>
              <a:gd name="adj" fmla="val 50000"/>
            </a:avLst>
          </a:prstGeom>
          <a:solidFill>
            <a:srgbClr val="B4FF3D"/>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14181A"/>
                </a:solidFill>
                <a:latin typeface="Consolas"/>
              </a:rPr>
              <a:t>correlation</a:t>
            </a:r>
          </a:p>
        </p:txBody>
      </p:sp>
      <p:sp>
        <p:nvSpPr>
          <p:cNvPr id="16" name="TextBox 15"/>
          <p:cNvSpPr txBox="1"/>
          <p:nvPr/>
        </p:nvSpPr>
        <p:spPr>
          <a:xfrm>
            <a:off x="5175503" y="2011680"/>
            <a:ext cx="1810512" cy="457200"/>
          </a:xfrm>
          <a:prstGeom prst="rect">
            <a:avLst/>
          </a:prstGeom>
          <a:noFill/>
        </p:spPr>
        <p:txBody>
          <a:bodyPr wrap="square" lIns="36576" rIns="36576" tIns="18288" bIns="18288" anchor="t">
            <a:spAutoFit/>
          </a:bodyPr>
          <a:lstStyle/>
          <a:p>
            <a:pPr algn="ctr">
              <a:spcAft>
                <a:spcPts val="0"/>
              </a:spcAft>
            </a:pPr>
            <a:r>
              <a:rPr sz="1600" b="0" i="0">
                <a:solidFill>
                  <a:srgbClr val="3D4D55"/>
                </a:solidFill>
                <a:latin typeface="Calibri"/>
              </a:rPr>
              <a:t>timing only</a:t>
            </a:r>
          </a:p>
        </p:txBody>
      </p:sp>
      <p:sp>
        <p:nvSpPr>
          <p:cNvPr id="17" name="card shadow"/>
          <p:cNvSpPr/>
          <p:nvPr/>
        </p:nvSpPr>
        <p:spPr>
          <a:xfrm>
            <a:off x="7415783" y="1435608"/>
            <a:ext cx="1993392" cy="12344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
          <p:cNvSpPr/>
          <p:nvPr/>
        </p:nvSpPr>
        <p:spPr>
          <a:xfrm>
            <a:off x="7351775" y="1371600"/>
            <a:ext cx="1993392" cy="12344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ill"/>
          <p:cNvSpPr/>
          <p:nvPr/>
        </p:nvSpPr>
        <p:spPr>
          <a:xfrm>
            <a:off x="7534655" y="1536192"/>
            <a:ext cx="1627632" cy="365760"/>
          </a:xfrm>
          <a:prstGeom prst="roundRect">
            <a:avLst>
              <a:gd name="adj" fmla="val 50000"/>
            </a:avLst>
          </a:prstGeom>
          <a:solidFill>
            <a:srgbClr val="FFD23F"/>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14181A"/>
                </a:solidFill>
                <a:latin typeface="Consolas"/>
              </a:rPr>
              <a:t>confidence</a:t>
            </a:r>
          </a:p>
        </p:txBody>
      </p:sp>
      <p:sp>
        <p:nvSpPr>
          <p:cNvPr id="20" name="TextBox 19"/>
          <p:cNvSpPr txBox="1"/>
          <p:nvPr/>
        </p:nvSpPr>
        <p:spPr>
          <a:xfrm>
            <a:off x="7443215" y="2011680"/>
            <a:ext cx="1810512" cy="457200"/>
          </a:xfrm>
          <a:prstGeom prst="rect">
            <a:avLst/>
          </a:prstGeom>
          <a:noFill/>
        </p:spPr>
        <p:txBody>
          <a:bodyPr wrap="square" lIns="36576" rIns="36576" tIns="18288" bIns="18288" anchor="t">
            <a:spAutoFit/>
          </a:bodyPr>
          <a:lstStyle/>
          <a:p>
            <a:pPr algn="ctr">
              <a:spcAft>
                <a:spcPts val="0"/>
              </a:spcAft>
            </a:pPr>
            <a:r>
              <a:rPr sz="1600" b="0" i="0">
                <a:solidFill>
                  <a:srgbClr val="3D4D55"/>
                </a:solidFill>
                <a:latin typeface="Calibri"/>
              </a:rPr>
              <a:t>heuristic</a:t>
            </a:r>
          </a:p>
        </p:txBody>
      </p:sp>
      <p:sp>
        <p:nvSpPr>
          <p:cNvPr id="21" name="card shadow"/>
          <p:cNvSpPr/>
          <p:nvPr/>
        </p:nvSpPr>
        <p:spPr>
          <a:xfrm>
            <a:off x="9683496" y="1435608"/>
            <a:ext cx="1993392" cy="12344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cNvSpPr/>
          <p:nvPr/>
        </p:nvSpPr>
        <p:spPr>
          <a:xfrm>
            <a:off x="9619488" y="1371600"/>
            <a:ext cx="1993392" cy="12344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
          <p:cNvSpPr/>
          <p:nvPr/>
        </p:nvSpPr>
        <p:spPr>
          <a:xfrm>
            <a:off x="9802367" y="1536192"/>
            <a:ext cx="1627632" cy="365760"/>
          </a:xfrm>
          <a:prstGeom prst="roundRect">
            <a:avLst>
              <a:gd name="adj" fmla="val 50000"/>
            </a:avLst>
          </a:prstGeom>
          <a:solidFill>
            <a:srgbClr val="FFFFFF"/>
          </a:solidFill>
          <a:ln w="2222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14181A"/>
                </a:solidFill>
                <a:latin typeface="Consolas"/>
              </a:rPr>
              <a:t>unknown</a:t>
            </a:r>
          </a:p>
        </p:txBody>
      </p:sp>
      <p:sp>
        <p:nvSpPr>
          <p:cNvPr id="24" name="TextBox 23"/>
          <p:cNvSpPr txBox="1"/>
          <p:nvPr/>
        </p:nvSpPr>
        <p:spPr>
          <a:xfrm>
            <a:off x="9710928" y="2011680"/>
            <a:ext cx="1810512" cy="457200"/>
          </a:xfrm>
          <a:prstGeom prst="rect">
            <a:avLst/>
          </a:prstGeom>
          <a:noFill/>
        </p:spPr>
        <p:txBody>
          <a:bodyPr wrap="square" lIns="36576" rIns="36576" tIns="18288" bIns="18288" anchor="t">
            <a:spAutoFit/>
          </a:bodyPr>
          <a:lstStyle/>
          <a:p>
            <a:pPr algn="ctr">
              <a:spcAft>
                <a:spcPts val="0"/>
              </a:spcAft>
            </a:pPr>
            <a:r>
              <a:rPr sz="1600" b="0" i="0">
                <a:solidFill>
                  <a:srgbClr val="3D4D55"/>
                </a:solidFill>
                <a:latin typeface="Calibri"/>
              </a:rPr>
              <a:t>not observed</a:t>
            </a:r>
          </a:p>
        </p:txBody>
      </p:sp>
      <p:sp>
        <p:nvSpPr>
          <p:cNvPr id="25" name="formula card shadow"/>
          <p:cNvSpPr/>
          <p:nvPr/>
        </p:nvSpPr>
        <p:spPr>
          <a:xfrm>
            <a:off x="612647" y="2944368"/>
            <a:ext cx="6309360" cy="33832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ormula card"/>
          <p:cNvSpPr/>
          <p:nvPr/>
        </p:nvSpPr>
        <p:spPr>
          <a:xfrm>
            <a:off x="548640" y="2880360"/>
            <a:ext cx="6309360" cy="338328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2944368"/>
            <a:ext cx="5943600" cy="411480"/>
          </a:xfrm>
          <a:prstGeom prst="rect">
            <a:avLst/>
          </a:prstGeom>
          <a:noFill/>
        </p:spPr>
        <p:txBody>
          <a:bodyPr wrap="square" lIns="36576" rIns="36576" tIns="18288" bIns="18288" anchor="t">
            <a:spAutoFit/>
          </a:bodyPr>
          <a:lstStyle/>
          <a:p>
            <a:pPr algn="l">
              <a:spcAft>
                <a:spcPts val="0"/>
              </a:spcAft>
            </a:pPr>
            <a:r>
              <a:rPr sz="2000" b="1" i="0">
                <a:solidFill>
                  <a:srgbClr val="14181A"/>
                </a:solidFill>
                <a:latin typeface="Calibri"/>
              </a:rPr>
              <a:t>Confidence: a fixed heuristic</a:t>
            </a:r>
          </a:p>
        </p:txBody>
      </p:sp>
      <p:sp>
        <p:nvSpPr>
          <p:cNvPr id="28" name="TextBox 27"/>
          <p:cNvSpPr txBox="1"/>
          <p:nvPr/>
        </p:nvSpPr>
        <p:spPr>
          <a:xfrm>
            <a:off x="777240" y="3474720"/>
            <a:ext cx="5852160" cy="82296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onsolas"/>
              </a:rPr>
              <a:t>score = corroborating fraction × (1 − unknown hops / 5)</a:t>
            </a:r>
          </a:p>
        </p:txBody>
      </p:sp>
      <p:graphicFrame>
        <p:nvGraphicFramePr>
          <p:cNvPr id="29" name="Table 28"/>
          <p:cNvGraphicFramePr>
            <a:graphicFrameLocks noGrp="1"/>
          </p:cNvGraphicFramePr>
          <p:nvPr/>
        </p:nvGraphicFramePr>
        <p:xfrm>
          <a:off x="777240" y="4160520"/>
          <a:ext cx="5852160" cy="1920240"/>
        </p:xfrm>
        <a:graphic>
          <a:graphicData uri="http://schemas.openxmlformats.org/drawingml/2006/table">
            <a:tbl>
              <a:tblPr firstRow="0" bandRow="0">
                <a:tableStyleId>{2D5ABB26-0587-4C30-8999-92F81FD0307C}</a:tableStyleId>
              </a:tblPr>
              <a:tblGrid>
                <a:gridCol w="2194560"/>
                <a:gridCol w="1828800"/>
                <a:gridCol w="1828800"/>
              </a:tblGrid>
              <a:tr h="384048">
                <a:tc>
                  <a:txBody>
                    <a:bodyPr wrap="square"/>
                    <a:lstStyle/>
                    <a:p>
                      <a:pPr algn="l"/>
                      <a:r>
                        <a:rPr sz="1500" b="1" i="0">
                          <a:solidFill>
                            <a:srgbClr val="FFFFFF"/>
                          </a:solidFill>
                          <a:latin typeface="Calibri"/>
                        </a:rPr>
                        <a:t>unknown hops</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c>
                  <a:txBody>
                    <a:bodyPr wrap="square"/>
                    <a:lstStyle/>
                    <a:p>
                      <a:pPr algn="ctr"/>
                      <a:r>
                        <a:rPr sz="1500" b="1" i="0">
                          <a:solidFill>
                            <a:srgbClr val="FFFFFF"/>
                          </a:solidFill>
                          <a:latin typeface="Calibri"/>
                        </a:rPr>
                        <a:t>score</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c>
                  <a:txBody>
                    <a:bodyPr wrap="square"/>
                    <a:lstStyle/>
                    <a:p>
                      <a:pPr algn="ctr"/>
                      <a:r>
                        <a:rPr sz="1500" b="1" i="0">
                          <a:solidFill>
                            <a:srgbClr val="FFFFFF"/>
                          </a:solidFill>
                          <a:latin typeface="Calibri"/>
                        </a:rPr>
                        <a:t>level</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r>
              <a:tr h="384048">
                <a:tc>
                  <a:txBody>
                    <a:bodyPr wrap="square"/>
                    <a:lstStyle/>
                    <a:p>
                      <a:pPr algn="l"/>
                      <a:r>
                        <a:rPr sz="1500" b="0" i="0">
                          <a:solidFill>
                            <a:srgbClr val="14181A"/>
                          </a:solidFill>
                          <a:latin typeface="Calibri"/>
                        </a:rPr>
                        <a:t>0</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500" b="0" i="0">
                          <a:solidFill>
                            <a:srgbClr val="14181A"/>
                          </a:solidFill>
                          <a:latin typeface="Calibri"/>
                        </a:rPr>
                        <a:t>1.0</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500" b="0" i="0">
                          <a:solidFill>
                            <a:srgbClr val="14181A"/>
                          </a:solidFill>
                          <a:latin typeface="Calibri"/>
                        </a:rPr>
                        <a:t>high</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r>
              <a:tr h="384048">
                <a:tc>
                  <a:txBody>
                    <a:bodyPr wrap="square"/>
                    <a:lstStyle/>
                    <a:p>
                      <a:pPr algn="l"/>
                      <a:r>
                        <a:rPr sz="1500" b="0" i="0">
                          <a:solidFill>
                            <a:srgbClr val="14181A"/>
                          </a:solidFill>
                          <a:latin typeface="Calibri"/>
                        </a:rPr>
                        <a:t>1</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500" b="0" i="0">
                          <a:solidFill>
                            <a:srgbClr val="14181A"/>
                          </a:solidFill>
                          <a:latin typeface="Calibri"/>
                        </a:rPr>
                        <a:t>0.8</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500" b="0" i="0">
                          <a:solidFill>
                            <a:srgbClr val="14181A"/>
                          </a:solidFill>
                          <a:latin typeface="Calibri"/>
                        </a:rPr>
                        <a:t>high</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r>
              <a:tr h="384048">
                <a:tc>
                  <a:txBody>
                    <a:bodyPr wrap="square"/>
                    <a:lstStyle/>
                    <a:p>
                      <a:pPr algn="l"/>
                      <a:r>
                        <a:rPr sz="1500" b="0" i="0">
                          <a:solidFill>
                            <a:srgbClr val="14181A"/>
                          </a:solidFill>
                          <a:latin typeface="Calibri"/>
                        </a:rPr>
                        <a:t>2</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500" b="0" i="0">
                          <a:solidFill>
                            <a:srgbClr val="14181A"/>
                          </a:solidFill>
                          <a:latin typeface="Calibri"/>
                        </a:rPr>
                        <a:t>0.6</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500" b="0" i="0">
                          <a:solidFill>
                            <a:srgbClr val="14181A"/>
                          </a:solidFill>
                          <a:latin typeface="Calibri"/>
                        </a:rPr>
                        <a:t>medium</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r>
              <a:tr h="384048">
                <a:tc>
                  <a:txBody>
                    <a:bodyPr wrap="square"/>
                    <a:lstStyle/>
                    <a:p>
                      <a:pPr algn="l"/>
                      <a:r>
                        <a:rPr sz="1500" b="0" i="0">
                          <a:solidFill>
                            <a:srgbClr val="14181A"/>
                          </a:solidFill>
                          <a:latin typeface="Calibri"/>
                        </a:rPr>
                        <a:t>3</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500" b="0" i="0">
                          <a:solidFill>
                            <a:srgbClr val="14181A"/>
                          </a:solidFill>
                          <a:latin typeface="Calibri"/>
                        </a:rPr>
                        <a:t>0.4</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500" b="0" i="0">
                          <a:solidFill>
                            <a:srgbClr val="14181A"/>
                          </a:solidFill>
                          <a:latin typeface="Calibri"/>
                        </a:rPr>
                        <a:t>low</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E3DC"/>
                    </a:solidFill>
                  </a:tcPr>
                </a:tc>
              </a:tr>
            </a:tbl>
          </a:graphicData>
        </a:graphic>
      </p:graphicFrame>
      <p:sp>
        <p:nvSpPr>
          <p:cNvPr id="30" name="warning card"/>
          <p:cNvSpPr/>
          <p:nvPr/>
        </p:nvSpPr>
        <p:spPr>
          <a:xfrm>
            <a:off x="7132320" y="2880360"/>
            <a:ext cx="4480560" cy="3383280"/>
          </a:xfrm>
          <a:prstGeom prst="roundRect">
            <a:avLst>
              <a:gd name="adj" fmla="val 12000"/>
            </a:avLst>
          </a:prstGeom>
          <a:solidFill>
            <a:srgbClr val="FFF4C4"/>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60920" y="2944368"/>
            <a:ext cx="4114800" cy="411480"/>
          </a:xfrm>
          <a:prstGeom prst="rect">
            <a:avLst/>
          </a:prstGeom>
          <a:noFill/>
        </p:spPr>
        <p:txBody>
          <a:bodyPr wrap="square" lIns="36576" rIns="36576" tIns="18288" bIns="18288" anchor="t">
            <a:spAutoFit/>
          </a:bodyPr>
          <a:lstStyle/>
          <a:p>
            <a:pPr algn="l">
              <a:spcAft>
                <a:spcPts val="0"/>
              </a:spcAft>
            </a:pPr>
            <a:r>
              <a:rPr sz="2000" b="1" i="0">
                <a:solidFill>
                  <a:srgbClr val="14181A"/>
                </a:solidFill>
                <a:latin typeface="Calibri"/>
              </a:rPr>
              <a:t>Read it correctly</a:t>
            </a:r>
          </a:p>
        </p:txBody>
      </p:sp>
      <p:sp>
        <p:nvSpPr>
          <p:cNvPr id="32" name="TextBox 31"/>
          <p:cNvSpPr txBox="1"/>
          <p:nvPr/>
        </p:nvSpPr>
        <p:spPr>
          <a:xfrm>
            <a:off x="7360920" y="3474720"/>
            <a:ext cx="4069080" cy="2743200"/>
          </a:xfrm>
          <a:prstGeom prst="rect">
            <a:avLst/>
          </a:prstGeom>
          <a:noFill/>
        </p:spPr>
        <p:txBody>
          <a:bodyPr wrap="square" lIns="36576" rIns="36576" tIns="18288" bIns="18288" anchor="t">
            <a:spAutoFit/>
          </a:bodyPr>
          <a:lstStyle/>
          <a:p>
            <a:pPr algn="l">
              <a:spcAft>
                <a:spcPts val="700"/>
              </a:spcAft>
            </a:pPr>
            <a:r>
              <a:rPr sz="1700" b="1" i="0">
                <a:solidFill>
                  <a:srgbClr val="14181A"/>
                </a:solidFill>
                <a:latin typeface="Calibri"/>
              </a:rPr>
              <a:t>•  </a:t>
            </a:r>
            <a:r>
              <a:rPr sz="1700" b="0" i="0">
                <a:solidFill>
                  <a:srgbClr val="14181A"/>
                </a:solidFill>
                <a:latin typeface="Calibri"/>
              </a:rPr>
              <a:t>Not a probability; not calibrated</a:t>
            </a:r>
          </a:p>
          <a:p>
            <a:pPr algn="l">
              <a:spcAft>
                <a:spcPts val="700"/>
              </a:spcAft>
            </a:pPr>
            <a:r>
              <a:rPr sz="1700" b="1" i="0">
                <a:solidFill>
                  <a:srgbClr val="14181A"/>
                </a:solidFill>
                <a:latin typeface="Calibri"/>
              </a:rPr>
              <a:t>•  </a:t>
            </a:r>
            <a:r>
              <a:rPr sz="1700" b="0" i="0">
                <a:solidFill>
                  <a:srgbClr val="14181A"/>
                </a:solidFill>
                <a:latin typeface="Calibri"/>
              </a:rPr>
              <a:t>Ignores signal strength</a:t>
            </a:r>
          </a:p>
          <a:p>
            <a:pPr algn="l">
              <a:spcAft>
                <a:spcPts val="700"/>
              </a:spcAft>
            </a:pPr>
            <a:r>
              <a:rPr sz="1700" b="1" i="0">
                <a:solidFill>
                  <a:srgbClr val="14181A"/>
                </a:solidFill>
                <a:latin typeface="Calibri"/>
              </a:rPr>
              <a:t>•  </a:t>
            </a:r>
            <a:r>
              <a:rPr sz="1700" b="0" i="0">
                <a:solidFill>
                  <a:srgbClr val="14181A"/>
                </a:solidFill>
                <a:latin typeface="Calibri"/>
              </a:rPr>
              <a:t>Unknown ≠ healthy</a:t>
            </a:r>
          </a:p>
          <a:p>
            <a:pPr algn="l">
              <a:spcAft>
                <a:spcPts val="700"/>
              </a:spcAft>
            </a:pPr>
            <a:r>
              <a:rPr sz="1700" b="1" i="0">
                <a:solidFill>
                  <a:srgbClr val="14181A"/>
                </a:solidFill>
                <a:latin typeface="Calibri"/>
              </a:rPr>
              <a:t>•  </a:t>
            </a:r>
            <a:r>
              <a:rPr sz="1700" b="0" i="0">
                <a:solidFill>
                  <a:srgbClr val="14181A"/>
                </a:solidFill>
                <a:latin typeface="Calibri"/>
              </a:rPr>
              <a:t>“No onset” ≠ “no fault”</a:t>
            </a:r>
          </a:p>
          <a:p>
            <a:pPr algn="l">
              <a:spcAft>
                <a:spcPts val="700"/>
              </a:spcAft>
            </a:pPr>
            <a:r>
              <a:rPr sz="1700" b="1" i="0">
                <a:solidFill>
                  <a:srgbClr val="14181A"/>
                </a:solidFill>
                <a:latin typeface="Calibri"/>
              </a:rPr>
              <a:t>•  </a:t>
            </a:r>
            <a:r>
              <a:rPr sz="1700" b="0" i="0">
                <a:solidFill>
                  <a:srgbClr val="14181A"/>
                </a:solidFill>
                <a:latin typeface="Calibri"/>
              </a:rPr>
              <a:t>Only high confidence prints “…at or after Hop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Implementation and technology stack</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10</a:t>
            </a:r>
          </a:p>
        </p:txBody>
      </p:sp>
      <p:sp>
        <p:nvSpPr>
          <p:cNvPr id="5" name="card shadow"/>
          <p:cNvSpPr/>
          <p:nvPr/>
        </p:nvSpPr>
        <p:spPr>
          <a:xfrm>
            <a:off x="612647" y="1389888"/>
            <a:ext cx="2606040" cy="13258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325880"/>
            <a:ext cx="2606040" cy="132588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05840" cy="1234440"/>
          </a:xfrm>
          <a:prstGeom prst="rect">
            <a:avLst/>
          </a:prstGeom>
          <a:noFill/>
        </p:spPr>
        <p:txBody>
          <a:bodyPr wrap="square" lIns="36576" rIns="36576" tIns="18288" bIns="18288" anchor="ctr">
            <a:spAutoFit/>
          </a:bodyPr>
          <a:lstStyle/>
          <a:p>
            <a:pPr algn="ctr">
              <a:spcAft>
                <a:spcPts val="0"/>
              </a:spcAft>
            </a:pPr>
            <a:r>
              <a:rPr sz="4400" b="0" i="0">
                <a:solidFill>
                  <a:srgbClr val="14181A"/>
                </a:solidFill>
                <a:latin typeface="Arial Black"/>
              </a:rPr>
              <a:t>0</a:t>
            </a:r>
          </a:p>
        </p:txBody>
      </p:sp>
      <p:sp>
        <p:nvSpPr>
          <p:cNvPr id="8" name="TextBox 7"/>
          <p:cNvSpPr txBox="1"/>
          <p:nvPr/>
        </p:nvSpPr>
        <p:spPr>
          <a:xfrm>
            <a:off x="1600200" y="1371600"/>
            <a:ext cx="1508760" cy="1234440"/>
          </a:xfrm>
          <a:prstGeom prst="rect">
            <a:avLst/>
          </a:prstGeom>
          <a:noFill/>
        </p:spPr>
        <p:txBody>
          <a:bodyPr wrap="square" lIns="36576" rIns="36576" tIns="18288" bIns="18288" anchor="ctr">
            <a:spAutoFit/>
          </a:bodyPr>
          <a:lstStyle/>
          <a:p>
            <a:pPr algn="l">
              <a:spcAft>
                <a:spcPts val="0"/>
              </a:spcAft>
            </a:pPr>
            <a:r>
              <a:rPr sz="1550" b="0" i="0">
                <a:solidFill>
                  <a:srgbClr val="14181A"/>
                </a:solidFill>
                <a:latin typeface="Calibri"/>
              </a:rPr>
              <a:t>third-party</a:t>
            </a:r>
          </a:p>
          <a:p>
            <a:pPr algn="l">
              <a:spcAft>
                <a:spcPts val="0"/>
              </a:spcAft>
            </a:pPr>
            <a:r>
              <a:rPr sz="1550" b="0" i="0">
                <a:solidFill>
                  <a:srgbClr val="14181A"/>
                </a:solidFill>
                <a:latin typeface="Calibri"/>
              </a:rPr>
              <a:t>Python packages</a:t>
            </a:r>
          </a:p>
        </p:txBody>
      </p:sp>
      <p:sp>
        <p:nvSpPr>
          <p:cNvPr id="9" name="card shadow"/>
          <p:cNvSpPr/>
          <p:nvPr/>
        </p:nvSpPr>
        <p:spPr>
          <a:xfrm>
            <a:off x="3429000" y="1389888"/>
            <a:ext cx="2606040" cy="13258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3364992" y="1325880"/>
            <a:ext cx="2606040" cy="1325880"/>
          </a:xfrm>
          <a:prstGeom prst="roundRect">
            <a:avLst>
              <a:gd name="adj" fmla="val 12000"/>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371600"/>
            <a:ext cx="1005840" cy="1234440"/>
          </a:xfrm>
          <a:prstGeom prst="rect">
            <a:avLst/>
          </a:prstGeom>
          <a:noFill/>
        </p:spPr>
        <p:txBody>
          <a:bodyPr wrap="square" lIns="36576" rIns="36576" tIns="18288" bIns="18288" anchor="ctr">
            <a:spAutoFit/>
          </a:bodyPr>
          <a:lstStyle/>
          <a:p>
            <a:pPr algn="ctr">
              <a:spcAft>
                <a:spcPts val="0"/>
              </a:spcAft>
            </a:pPr>
            <a:r>
              <a:rPr sz="4400" b="0" i="0">
                <a:solidFill>
                  <a:srgbClr val="14181A"/>
                </a:solidFill>
                <a:latin typeface="Arial Black"/>
              </a:rPr>
              <a:t>6</a:t>
            </a:r>
          </a:p>
        </p:txBody>
      </p:sp>
      <p:sp>
        <p:nvSpPr>
          <p:cNvPr id="12" name="TextBox 11"/>
          <p:cNvSpPr txBox="1"/>
          <p:nvPr/>
        </p:nvSpPr>
        <p:spPr>
          <a:xfrm>
            <a:off x="4416552" y="1371600"/>
            <a:ext cx="1508760" cy="1234440"/>
          </a:xfrm>
          <a:prstGeom prst="rect">
            <a:avLst/>
          </a:prstGeom>
          <a:noFill/>
        </p:spPr>
        <p:txBody>
          <a:bodyPr wrap="square" lIns="36576" rIns="36576" tIns="18288" bIns="18288" anchor="ctr">
            <a:spAutoFit/>
          </a:bodyPr>
          <a:lstStyle/>
          <a:p>
            <a:pPr algn="l">
              <a:spcAft>
                <a:spcPts val="0"/>
              </a:spcAft>
            </a:pPr>
            <a:r>
              <a:rPr sz="1550" b="0" i="0">
                <a:solidFill>
                  <a:srgbClr val="14181A"/>
                </a:solidFill>
                <a:latin typeface="Calibri"/>
              </a:rPr>
              <a:t>network</a:t>
            </a:r>
          </a:p>
          <a:p>
            <a:pPr algn="l">
              <a:spcAft>
                <a:spcPts val="0"/>
              </a:spcAft>
            </a:pPr>
            <a:r>
              <a:rPr sz="1550" b="0" i="0">
                <a:solidFill>
                  <a:srgbClr val="14181A"/>
                </a:solidFill>
                <a:latin typeface="Calibri"/>
              </a:rPr>
              <a:t>namespaces</a:t>
            </a:r>
          </a:p>
        </p:txBody>
      </p:sp>
      <p:sp>
        <p:nvSpPr>
          <p:cNvPr id="13" name="card shadow"/>
          <p:cNvSpPr/>
          <p:nvPr/>
        </p:nvSpPr>
        <p:spPr>
          <a:xfrm>
            <a:off x="6245352" y="1389888"/>
            <a:ext cx="2606040" cy="13258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p:cNvSpPr/>
          <p:nvPr/>
        </p:nvSpPr>
        <p:spPr>
          <a:xfrm>
            <a:off x="6181344" y="1325880"/>
            <a:ext cx="2606040" cy="1325880"/>
          </a:xfrm>
          <a:prstGeom prst="roundRect">
            <a:avLst>
              <a:gd name="adj" fmla="val 12000"/>
            </a:avLst>
          </a:prstGeom>
          <a:solidFill>
            <a:srgbClr val="FFE3DC"/>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3" y="1371600"/>
            <a:ext cx="1005840" cy="1234440"/>
          </a:xfrm>
          <a:prstGeom prst="rect">
            <a:avLst/>
          </a:prstGeom>
          <a:noFill/>
        </p:spPr>
        <p:txBody>
          <a:bodyPr wrap="square" lIns="36576" rIns="36576" tIns="18288" bIns="18288" anchor="ctr">
            <a:spAutoFit/>
          </a:bodyPr>
          <a:lstStyle/>
          <a:p>
            <a:pPr algn="ctr">
              <a:spcAft>
                <a:spcPts val="0"/>
              </a:spcAft>
            </a:pPr>
            <a:r>
              <a:rPr sz="4400" b="0" i="0">
                <a:solidFill>
                  <a:srgbClr val="14181A"/>
                </a:solidFill>
                <a:latin typeface="Arial Black"/>
              </a:rPr>
              <a:t>5</a:t>
            </a:r>
          </a:p>
        </p:txBody>
      </p:sp>
      <p:sp>
        <p:nvSpPr>
          <p:cNvPr id="16" name="TextBox 15"/>
          <p:cNvSpPr txBox="1"/>
          <p:nvPr/>
        </p:nvSpPr>
        <p:spPr>
          <a:xfrm>
            <a:off x="7232904" y="1371600"/>
            <a:ext cx="1508760" cy="1234440"/>
          </a:xfrm>
          <a:prstGeom prst="rect">
            <a:avLst/>
          </a:prstGeom>
          <a:noFill/>
        </p:spPr>
        <p:txBody>
          <a:bodyPr wrap="square" lIns="36576" rIns="36576" tIns="18288" bIns="18288" anchor="ctr">
            <a:spAutoFit/>
          </a:bodyPr>
          <a:lstStyle/>
          <a:p>
            <a:pPr algn="l">
              <a:spcAft>
                <a:spcPts val="0"/>
              </a:spcAft>
            </a:pPr>
            <a:r>
              <a:rPr sz="1550" b="0" i="0">
                <a:solidFill>
                  <a:srgbClr val="14181A"/>
                </a:solidFill>
                <a:latin typeface="Calibri"/>
              </a:rPr>
              <a:t>hops</a:t>
            </a:r>
          </a:p>
          <a:p>
            <a:pPr algn="l">
              <a:spcAft>
                <a:spcPts val="0"/>
              </a:spcAft>
            </a:pPr>
            <a:r>
              <a:rPr sz="1550" b="0" i="0">
                <a:solidFill>
                  <a:srgbClr val="14181A"/>
                </a:solidFill>
                <a:latin typeface="Calibri"/>
              </a:rPr>
              <a:t>measured</a:t>
            </a:r>
          </a:p>
        </p:txBody>
      </p:sp>
      <p:sp>
        <p:nvSpPr>
          <p:cNvPr id="17" name="card shadow"/>
          <p:cNvSpPr/>
          <p:nvPr/>
        </p:nvSpPr>
        <p:spPr>
          <a:xfrm>
            <a:off x="9061704" y="1389888"/>
            <a:ext cx="2606040" cy="13258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
          <p:cNvSpPr/>
          <p:nvPr/>
        </p:nvSpPr>
        <p:spPr>
          <a:xfrm>
            <a:off x="8997696" y="1325880"/>
            <a:ext cx="2606040" cy="1325880"/>
          </a:xfrm>
          <a:prstGeom prst="roundRect">
            <a:avLst>
              <a:gd name="adj" fmla="val 12000"/>
            </a:avLst>
          </a:prstGeom>
          <a:solidFill>
            <a:srgbClr val="FFF4C4"/>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9136" y="1371600"/>
            <a:ext cx="1005840" cy="1234440"/>
          </a:xfrm>
          <a:prstGeom prst="rect">
            <a:avLst/>
          </a:prstGeom>
          <a:noFill/>
        </p:spPr>
        <p:txBody>
          <a:bodyPr wrap="square" lIns="36576" rIns="36576" tIns="18288" bIns="18288" anchor="ctr">
            <a:spAutoFit/>
          </a:bodyPr>
          <a:lstStyle/>
          <a:p>
            <a:pPr algn="ctr">
              <a:spcAft>
                <a:spcPts val="0"/>
              </a:spcAft>
            </a:pPr>
            <a:r>
              <a:rPr sz="4400" b="0" i="0">
                <a:solidFill>
                  <a:srgbClr val="14181A"/>
                </a:solidFill>
                <a:latin typeface="Arial Black"/>
              </a:rPr>
              <a:t>2</a:t>
            </a:r>
          </a:p>
        </p:txBody>
      </p:sp>
      <p:sp>
        <p:nvSpPr>
          <p:cNvPr id="20" name="TextBox 19"/>
          <p:cNvSpPr txBox="1"/>
          <p:nvPr/>
        </p:nvSpPr>
        <p:spPr>
          <a:xfrm>
            <a:off x="10049256" y="1371600"/>
            <a:ext cx="1508760" cy="1234440"/>
          </a:xfrm>
          <a:prstGeom prst="rect">
            <a:avLst/>
          </a:prstGeom>
          <a:noFill/>
        </p:spPr>
        <p:txBody>
          <a:bodyPr wrap="square" lIns="36576" rIns="36576" tIns="18288" bIns="18288" anchor="ctr">
            <a:spAutoFit/>
          </a:bodyPr>
          <a:lstStyle/>
          <a:p>
            <a:pPr algn="l">
              <a:spcAft>
                <a:spcPts val="0"/>
              </a:spcAft>
            </a:pPr>
            <a:r>
              <a:rPr sz="1550" b="0" i="0">
                <a:solidFill>
                  <a:srgbClr val="14181A"/>
                </a:solidFill>
                <a:latin typeface="Calibri"/>
              </a:rPr>
              <a:t>OS identities</a:t>
            </a:r>
          </a:p>
          <a:p>
            <a:pPr algn="l">
              <a:spcAft>
                <a:spcPts val="0"/>
              </a:spcAft>
            </a:pPr>
            <a:r>
              <a:rPr sz="1550" b="0" i="0">
                <a:solidFill>
                  <a:srgbClr val="14181A"/>
                </a:solidFill>
                <a:latin typeface="Calibri"/>
              </a:rPr>
              <a:t>isolate labels</a:t>
            </a:r>
          </a:p>
        </p:txBody>
      </p:sp>
      <p:sp>
        <p:nvSpPr>
          <p:cNvPr id="21" name="card shadow"/>
          <p:cNvSpPr/>
          <p:nvPr/>
        </p:nvSpPr>
        <p:spPr>
          <a:xfrm>
            <a:off x="612647" y="2990088"/>
            <a:ext cx="3566160" cy="274320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d"/>
          <p:cNvSpPr/>
          <p:nvPr/>
        </p:nvSpPr>
        <p:spPr>
          <a:xfrm>
            <a:off x="548640" y="2926080"/>
            <a:ext cx="3566160" cy="274320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990088"/>
            <a:ext cx="320040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Measure and control</a:t>
            </a:r>
          </a:p>
        </p:txBody>
      </p:sp>
      <p:sp>
        <p:nvSpPr>
          <p:cNvPr id="24" name="TextBox 23"/>
          <p:cNvSpPr txBox="1"/>
          <p:nvPr/>
        </p:nvSpPr>
        <p:spPr>
          <a:xfrm>
            <a:off x="731520" y="3474720"/>
            <a:ext cx="3246120" cy="2194560"/>
          </a:xfrm>
          <a:prstGeom prst="rect">
            <a:avLst/>
          </a:prstGeom>
          <a:noFill/>
        </p:spPr>
        <p:txBody>
          <a:bodyPr wrap="square" lIns="36576" rIns="36576" tIns="18288" bIns="18288" anchor="t">
            <a:spAutoFit/>
          </a:bodyPr>
          <a:lstStyle/>
          <a:p>
            <a:pPr algn="l">
              <a:spcAft>
                <a:spcPts val="400"/>
              </a:spcAft>
            </a:pPr>
            <a:r>
              <a:rPr sz="1550" b="1" i="0">
                <a:solidFill>
                  <a:srgbClr val="14181A"/>
                </a:solidFill>
                <a:latin typeface="Calibri"/>
              </a:rPr>
              <a:t>•  </a:t>
            </a:r>
            <a:r>
              <a:rPr sz="1550" b="0" i="0">
                <a:solidFill>
                  <a:srgbClr val="14181A"/>
                </a:solidFill>
                <a:latin typeface="Calibri"/>
              </a:rPr>
              <a:t>Python 3.12.3, stdlib only</a:t>
            </a:r>
          </a:p>
          <a:p>
            <a:pPr algn="l">
              <a:spcAft>
                <a:spcPts val="400"/>
              </a:spcAft>
            </a:pPr>
            <a:r>
              <a:rPr sz="1550" b="1" i="0">
                <a:solidFill>
                  <a:srgbClr val="14181A"/>
                </a:solidFill>
                <a:latin typeface="Calibri"/>
              </a:rPr>
              <a:t>•  </a:t>
            </a:r>
            <a:r>
              <a:rPr sz="1550" b="0" i="0">
                <a:solidFill>
                  <a:srgbClr val="14181A"/>
                </a:solidFill>
                <a:latin typeface="Calibri"/>
              </a:rPr>
              <a:t>Raw sockets (TCP-SYN / UDP)</a:t>
            </a:r>
          </a:p>
          <a:p>
            <a:pPr algn="l">
              <a:spcAft>
                <a:spcPts val="400"/>
              </a:spcAft>
            </a:pPr>
            <a:r>
              <a:rPr sz="1550" b="1" i="0">
                <a:solidFill>
                  <a:srgbClr val="14181A"/>
                </a:solidFill>
                <a:latin typeface="Calibri"/>
              </a:rPr>
              <a:t>•  </a:t>
            </a:r>
            <a:r>
              <a:rPr sz="1550" b="0" i="0">
                <a:solidFill>
                  <a:srgbClr val="14181A"/>
                </a:solidFill>
                <a:latin typeface="Calibri"/>
              </a:rPr>
              <a:t>RFC 6455 WebSocket, hand-written</a:t>
            </a:r>
          </a:p>
          <a:p>
            <a:pPr algn="l">
              <a:spcAft>
                <a:spcPts val="400"/>
              </a:spcAft>
            </a:pPr>
            <a:r>
              <a:rPr sz="1550" b="1" i="0">
                <a:solidFill>
                  <a:srgbClr val="14181A"/>
                </a:solidFill>
                <a:latin typeface="Calibri"/>
              </a:rPr>
              <a:t>•  </a:t>
            </a:r>
            <a:r>
              <a:rPr sz="1550" b="0" i="0">
                <a:solidFill>
                  <a:srgbClr val="14181A"/>
                </a:solidFill>
                <a:latin typeface="Calibri"/>
              </a:rPr>
              <a:t>iproute2 6.1: ip netns, tc netem/tbf</a:t>
            </a:r>
          </a:p>
          <a:p>
            <a:pPr algn="l">
              <a:spcAft>
                <a:spcPts val="400"/>
              </a:spcAft>
            </a:pPr>
            <a:r>
              <a:rPr sz="1550" b="1" i="0">
                <a:solidFill>
                  <a:srgbClr val="14181A"/>
                </a:solidFill>
                <a:latin typeface="Calibri"/>
              </a:rPr>
              <a:t>•  </a:t>
            </a:r>
            <a:r>
              <a:rPr sz="1550" b="0" i="0">
                <a:solidFill>
                  <a:srgbClr val="14181A"/>
                </a:solidFill>
                <a:latin typeface="Calibri"/>
              </a:rPr>
              <a:t>SQLite ground-truth store</a:t>
            </a:r>
          </a:p>
        </p:txBody>
      </p:sp>
      <p:sp>
        <p:nvSpPr>
          <p:cNvPr id="25" name="card shadow"/>
          <p:cNvSpPr/>
          <p:nvPr/>
        </p:nvSpPr>
        <p:spPr>
          <a:xfrm>
            <a:off x="4361688" y="2990088"/>
            <a:ext cx="3566160" cy="274320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
          <p:cNvSpPr/>
          <p:nvPr/>
        </p:nvSpPr>
        <p:spPr>
          <a:xfrm>
            <a:off x="4297679" y="2926080"/>
            <a:ext cx="3566160" cy="274320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59" y="2990088"/>
            <a:ext cx="320040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Analyse and present</a:t>
            </a:r>
          </a:p>
        </p:txBody>
      </p:sp>
      <p:sp>
        <p:nvSpPr>
          <p:cNvPr id="28" name="TextBox 27"/>
          <p:cNvSpPr txBox="1"/>
          <p:nvPr/>
        </p:nvSpPr>
        <p:spPr>
          <a:xfrm>
            <a:off x="4480559" y="3474720"/>
            <a:ext cx="3246120" cy="2194560"/>
          </a:xfrm>
          <a:prstGeom prst="rect">
            <a:avLst/>
          </a:prstGeom>
          <a:noFill/>
        </p:spPr>
        <p:txBody>
          <a:bodyPr wrap="square" lIns="36576" rIns="36576" tIns="18288" bIns="18288" anchor="t">
            <a:spAutoFit/>
          </a:bodyPr>
          <a:lstStyle/>
          <a:p>
            <a:pPr algn="l">
              <a:spcAft>
                <a:spcPts val="400"/>
              </a:spcAft>
            </a:pPr>
            <a:r>
              <a:rPr sz="1550" b="1" i="0">
                <a:solidFill>
                  <a:srgbClr val="14181A"/>
                </a:solidFill>
                <a:latin typeface="Calibri"/>
              </a:rPr>
              <a:t>•  </a:t>
            </a:r>
            <a:r>
              <a:rPr sz="1550" b="0" i="0">
                <a:solidFill>
                  <a:srgbClr val="14181A"/>
                </a:solidFill>
                <a:latin typeface="Calibri"/>
              </a:rPr>
              <a:t>synchronize → onset → align → evidence</a:t>
            </a:r>
          </a:p>
          <a:p>
            <a:pPr algn="l">
              <a:spcAft>
                <a:spcPts val="400"/>
              </a:spcAft>
            </a:pPr>
            <a:r>
              <a:rPr sz="1550" b="1" i="0">
                <a:solidFill>
                  <a:srgbClr val="14181A"/>
                </a:solidFill>
                <a:latin typeface="Calibri"/>
              </a:rPr>
              <a:t>•  </a:t>
            </a:r>
            <a:r>
              <a:rPr sz="1550" b="0" i="0">
                <a:solidFill>
                  <a:srgbClr val="14181A"/>
                </a:solidFill>
                <a:latin typeface="Calibri"/>
              </a:rPr>
              <a:t>Locked result sentences</a:t>
            </a:r>
          </a:p>
          <a:p>
            <a:pPr algn="l">
              <a:spcAft>
                <a:spcPts val="400"/>
              </a:spcAft>
            </a:pPr>
            <a:r>
              <a:rPr sz="1550" b="1" i="0">
                <a:solidFill>
                  <a:srgbClr val="14181A"/>
                </a:solidFill>
                <a:latin typeface="Calibri"/>
              </a:rPr>
              <a:t>•  </a:t>
            </a:r>
            <a:r>
              <a:rPr sz="1550" b="0" i="0">
                <a:solidFill>
                  <a:srgbClr val="14181A"/>
                </a:solidFill>
                <a:latin typeface="Calibri"/>
              </a:rPr>
              <a:t>path_bundle.json export</a:t>
            </a:r>
          </a:p>
          <a:p>
            <a:pPr algn="l">
              <a:spcAft>
                <a:spcPts val="400"/>
              </a:spcAft>
            </a:pPr>
            <a:r>
              <a:rPr sz="1550" b="1" i="0">
                <a:solidFill>
                  <a:srgbClr val="14181A"/>
                </a:solidFill>
                <a:latin typeface="Calibri"/>
              </a:rPr>
              <a:t>•  </a:t>
            </a:r>
            <a:r>
              <a:rPr sz="1550" b="0" i="0">
                <a:solidFill>
                  <a:srgbClr val="14181A"/>
                </a:solidFill>
                <a:latin typeface="Calibri"/>
              </a:rPr>
              <a:t>Metrics: Wilson CI, Brier score</a:t>
            </a:r>
          </a:p>
          <a:p>
            <a:pPr algn="l">
              <a:spcAft>
                <a:spcPts val="400"/>
              </a:spcAft>
            </a:pPr>
            <a:r>
              <a:rPr sz="1550" b="1" i="0">
                <a:solidFill>
                  <a:srgbClr val="14181A"/>
                </a:solidFill>
                <a:latin typeface="Calibri"/>
              </a:rPr>
              <a:t>•  </a:t>
            </a:r>
            <a:r>
              <a:rPr sz="1550" b="0" i="0">
                <a:solidFill>
                  <a:srgbClr val="14181A"/>
                </a:solidFill>
                <a:latin typeface="Calibri"/>
              </a:rPr>
              <a:t>unittest: 117 tests</a:t>
            </a:r>
          </a:p>
        </p:txBody>
      </p:sp>
      <p:sp>
        <p:nvSpPr>
          <p:cNvPr id="29" name="card shadow"/>
          <p:cNvSpPr/>
          <p:nvPr/>
        </p:nvSpPr>
        <p:spPr>
          <a:xfrm>
            <a:off x="8110727" y="2990088"/>
            <a:ext cx="3566160" cy="274320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ard"/>
          <p:cNvSpPr/>
          <p:nvPr/>
        </p:nvSpPr>
        <p:spPr>
          <a:xfrm>
            <a:off x="8046719" y="2926080"/>
            <a:ext cx="3566160" cy="274320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9" y="2990088"/>
            <a:ext cx="320040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Dashboard</a:t>
            </a:r>
          </a:p>
        </p:txBody>
      </p:sp>
      <p:sp>
        <p:nvSpPr>
          <p:cNvPr id="32" name="TextBox 31"/>
          <p:cNvSpPr txBox="1"/>
          <p:nvPr/>
        </p:nvSpPr>
        <p:spPr>
          <a:xfrm>
            <a:off x="8229599" y="3474720"/>
            <a:ext cx="3246120" cy="2194560"/>
          </a:xfrm>
          <a:prstGeom prst="rect">
            <a:avLst/>
          </a:prstGeom>
          <a:noFill/>
        </p:spPr>
        <p:txBody>
          <a:bodyPr wrap="square" lIns="36576" rIns="36576" tIns="18288" bIns="18288" anchor="t">
            <a:spAutoFit/>
          </a:bodyPr>
          <a:lstStyle/>
          <a:p>
            <a:pPr algn="l">
              <a:spcAft>
                <a:spcPts val="400"/>
              </a:spcAft>
            </a:pPr>
            <a:r>
              <a:rPr sz="1550" b="1" i="0">
                <a:solidFill>
                  <a:srgbClr val="14181A"/>
                </a:solidFill>
                <a:latin typeface="Calibri"/>
              </a:rPr>
              <a:t>•  </a:t>
            </a:r>
            <a:r>
              <a:rPr sz="1550" b="0" i="0">
                <a:solidFill>
                  <a:srgbClr val="14181A"/>
                </a:solidFill>
                <a:latin typeface="Calibri"/>
              </a:rPr>
              <a:t>React 19 · TypeScript (strict)</a:t>
            </a:r>
          </a:p>
          <a:p>
            <a:pPr algn="l">
              <a:spcAft>
                <a:spcPts val="400"/>
              </a:spcAft>
            </a:pPr>
            <a:r>
              <a:rPr sz="1550" b="1" i="0">
                <a:solidFill>
                  <a:srgbClr val="14181A"/>
                </a:solidFill>
                <a:latin typeface="Calibri"/>
              </a:rPr>
              <a:t>•  </a:t>
            </a:r>
            <a:r>
              <a:rPr sz="1550" b="0" i="0">
                <a:solidFill>
                  <a:srgbClr val="14181A"/>
                </a:solidFill>
                <a:latin typeface="Calibri"/>
              </a:rPr>
              <a:t>Vite 8 · Tailwind 4 · Motion</a:t>
            </a:r>
          </a:p>
          <a:p>
            <a:pPr algn="l">
              <a:spcAft>
                <a:spcPts val="400"/>
              </a:spcAft>
            </a:pPr>
            <a:r>
              <a:rPr sz="1550" b="1" i="0">
                <a:solidFill>
                  <a:srgbClr val="14181A"/>
                </a:solidFill>
                <a:latin typeface="Calibri"/>
              </a:rPr>
              <a:t>•  </a:t>
            </a:r>
            <a:r>
              <a:rPr sz="1550" b="0" i="0">
                <a:solidFill>
                  <a:srgbClr val="14181A"/>
                </a:solidFill>
                <a:latin typeface="Calibri"/>
              </a:rPr>
              <a:t>Zod schema validation</a:t>
            </a:r>
          </a:p>
          <a:p>
            <a:pPr algn="l">
              <a:spcAft>
                <a:spcPts val="400"/>
              </a:spcAft>
            </a:pPr>
            <a:r>
              <a:rPr sz="1550" b="1" i="0">
                <a:solidFill>
                  <a:srgbClr val="14181A"/>
                </a:solidFill>
                <a:latin typeface="Calibri"/>
              </a:rPr>
              <a:t>•  </a:t>
            </a:r>
            <a:r>
              <a:rPr sz="1550" b="0" i="0">
                <a:solidFill>
                  <a:srgbClr val="14181A"/>
                </a:solidFill>
                <a:latin typeface="Calibri"/>
              </a:rPr>
              <a:t>Vitest: 310 tests; axe, ESLint a11y</a:t>
            </a:r>
          </a:p>
          <a:p>
            <a:pPr algn="l">
              <a:spcAft>
                <a:spcPts val="400"/>
              </a:spcAft>
            </a:pPr>
            <a:r>
              <a:rPr sz="1550" b="1" i="0">
                <a:solidFill>
                  <a:srgbClr val="14181A"/>
                </a:solidFill>
                <a:latin typeface="Calibri"/>
              </a:rPr>
              <a:t>•  </a:t>
            </a:r>
            <a:r>
              <a:rPr sz="1550" b="0" i="0">
                <a:solidFill>
                  <a:srgbClr val="14181A"/>
                </a:solidFill>
                <a:latin typeface="Calibri"/>
              </a:rPr>
              <a:t>Node ≥ 22.12; no CDN at runtime</a:t>
            </a:r>
          </a:p>
        </p:txBody>
      </p:sp>
      <p:sp>
        <p:nvSpPr>
          <p:cNvPr id="33" name="TextBox 32"/>
          <p:cNvSpPr txBox="1"/>
          <p:nvPr/>
        </p:nvSpPr>
        <p:spPr>
          <a:xfrm>
            <a:off x="548640" y="5852160"/>
            <a:ext cx="11064240" cy="457200"/>
          </a:xfrm>
          <a:prstGeom prst="rect">
            <a:avLst/>
          </a:prstGeom>
          <a:noFill/>
        </p:spPr>
        <p:txBody>
          <a:bodyPr wrap="square" lIns="36576" rIns="36576" tIns="18288" bIns="18288" anchor="t">
            <a:spAutoFit/>
          </a:bodyPr>
          <a:lstStyle/>
          <a:p>
            <a:pPr algn="l">
              <a:spcAft>
                <a:spcPts val="0"/>
              </a:spcAft>
            </a:pPr>
            <a:r>
              <a:rPr sz="1400" b="1" i="0">
                <a:solidFill>
                  <a:srgbClr val="3D4D55"/>
                </a:solidFill>
                <a:latin typeface="Calibri"/>
              </a:rPr>
              <a:t>Environment: </a:t>
            </a:r>
            <a:r>
              <a:rPr sz="1400" b="0" i="0">
                <a:solidFill>
                  <a:srgbClr val="3D4D55"/>
                </a:solidFill>
                <a:latin typeface="Calibri"/>
              </a:rPr>
              <a:t>WSL2 Ubuntu 24.04 (kernel 6.18.33.2) for the testbed; Windows 11 + Node 24.14.1 for the dashboard checks. Windows-native Python is unsupported.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Dashboard: from symptom to hop</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11</a:t>
            </a:r>
          </a:p>
        </p:txBody>
      </p:sp>
      <p:pic>
        <p:nvPicPr>
          <p:cNvPr id="5" name="Dashboard: application RTT chart for dem" descr="Dashboard: application RTT chart for demo-run-01"/>
          <p:cNvPicPr>
            <a:picLocks noChangeAspect="1"/>
          </p:cNvPicPr>
          <p:nvPr/>
        </p:nvPicPr>
        <p:blipFill>
          <a:blip r:embed="rId3"/>
          <a:stretch>
            <a:fillRect/>
          </a:stretch>
        </p:blipFill>
        <p:spPr>
          <a:xfrm>
            <a:off x="1325880" y="1280160"/>
            <a:ext cx="5037302" cy="4023360"/>
          </a:xfrm>
          <a:prstGeom prst="rect">
            <a:avLst/>
          </a:prstGeom>
          <a:ln w="25400">
            <a:solidFill>
              <a:srgbClr val="14181A"/>
            </a:solidFill>
          </a:ln>
        </p:spPr>
      </p:pic>
      <p:pic>
        <p:nvPicPr>
          <p:cNvPr id="6" name="Dashboard: path with hop statuses and ho" descr="Dashboard: path with hop statuses and hop inspector for Hop 3"/>
          <p:cNvPicPr>
            <a:picLocks noChangeAspect="1"/>
          </p:cNvPicPr>
          <p:nvPr/>
        </p:nvPicPr>
        <p:blipFill>
          <a:blip r:embed="rId4"/>
          <a:stretch>
            <a:fillRect/>
          </a:stretch>
        </p:blipFill>
        <p:spPr>
          <a:xfrm>
            <a:off x="6638544" y="1280160"/>
            <a:ext cx="4102471" cy="4023360"/>
          </a:xfrm>
          <a:prstGeom prst="rect">
            <a:avLst/>
          </a:prstGeom>
          <a:ln w="25400">
            <a:solidFill>
              <a:srgbClr val="14181A"/>
            </a:solidFill>
          </a:ln>
        </p:spPr>
      </p:pic>
      <p:sp>
        <p:nvSpPr>
          <p:cNvPr id="7" name="Oval 6"/>
          <p:cNvSpPr/>
          <p:nvPr/>
        </p:nvSpPr>
        <p:spPr>
          <a:xfrm>
            <a:off x="1362456" y="5568696"/>
            <a:ext cx="384048" cy="384048"/>
          </a:xfrm>
          <a:prstGeom prst="ellipse">
            <a:avLst/>
          </a:prstGeom>
          <a:solidFill>
            <a:srgbClr val="2FD3E0"/>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14181A"/>
                </a:solidFill>
                <a:latin typeface="Arial Black"/>
              </a:rPr>
              <a:t>1</a:t>
            </a:r>
          </a:p>
        </p:txBody>
      </p:sp>
      <p:sp>
        <p:nvSpPr>
          <p:cNvPr id="8" name="Oval 7"/>
          <p:cNvSpPr/>
          <p:nvPr/>
        </p:nvSpPr>
        <p:spPr>
          <a:xfrm>
            <a:off x="6665976" y="5568696"/>
            <a:ext cx="384048" cy="384048"/>
          </a:xfrm>
          <a:prstGeom prst="ellipse">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14181A"/>
                </a:solidFill>
                <a:latin typeface="Arial Black"/>
              </a:rPr>
              <a:t>2</a:t>
            </a:r>
          </a:p>
        </p:txBody>
      </p:sp>
      <p:sp>
        <p:nvSpPr>
          <p:cNvPr id="9" name="TextBox 8"/>
          <p:cNvSpPr txBox="1"/>
          <p:nvPr/>
        </p:nvSpPr>
        <p:spPr>
          <a:xfrm>
            <a:off x="1874519" y="5486400"/>
            <a:ext cx="4480560" cy="822960"/>
          </a:xfrm>
          <a:prstGeom prst="rect">
            <a:avLst/>
          </a:prstGeom>
          <a:noFill/>
        </p:spPr>
        <p:txBody>
          <a:bodyPr wrap="square" lIns="36576" rIns="36576" tIns="18288" bIns="18288" anchor="t">
            <a:spAutoFit/>
          </a:bodyPr>
          <a:lstStyle/>
          <a:p>
            <a:pPr algn="l">
              <a:spcAft>
                <a:spcPts val="0"/>
              </a:spcAft>
            </a:pPr>
            <a:r>
              <a:rPr sz="1400" b="1" i="0">
                <a:solidFill>
                  <a:srgbClr val="14181A"/>
                </a:solidFill>
                <a:latin typeface="Calibri"/>
              </a:rPr>
              <a:t>The symptom. </a:t>
            </a:r>
            <a:r>
              <a:rPr sz="1400" b="0" i="0">
                <a:solidFill>
                  <a:srgbClr val="14181A"/>
                </a:solidFill>
                <a:latin typeface="Calibri"/>
              </a:rPr>
              <a:t>App RTT 0.633 ms → 90.4 ms; onset at +25.0 s (700 pings).</a:t>
            </a:r>
          </a:p>
        </p:txBody>
      </p:sp>
      <p:sp>
        <p:nvSpPr>
          <p:cNvPr id="10" name="TextBox 9"/>
          <p:cNvSpPr txBox="1"/>
          <p:nvPr/>
        </p:nvSpPr>
        <p:spPr>
          <a:xfrm>
            <a:off x="7178040" y="5486400"/>
            <a:ext cx="4480560" cy="822960"/>
          </a:xfrm>
          <a:prstGeom prst="rect">
            <a:avLst/>
          </a:prstGeom>
          <a:noFill/>
        </p:spPr>
        <p:txBody>
          <a:bodyPr wrap="square" lIns="36576" rIns="36576" tIns="18288" bIns="18288" anchor="t">
            <a:spAutoFit/>
          </a:bodyPr>
          <a:lstStyle/>
          <a:p>
            <a:pPr algn="l">
              <a:spcAft>
                <a:spcPts val="0"/>
              </a:spcAft>
            </a:pPr>
            <a:r>
              <a:rPr sz="1400" b="1" i="0">
                <a:solidFill>
                  <a:srgbClr val="14181A"/>
                </a:solidFill>
                <a:latin typeface="Calibri"/>
              </a:rPr>
              <a:t>The path. </a:t>
            </a:r>
            <a:r>
              <a:rPr sz="1400" b="0" i="0">
                <a:solidFill>
                  <a:srgbClr val="14181A"/>
                </a:solidFill>
                <a:latin typeface="Calibri"/>
              </a:rPr>
              <a:t>Hops 3-5 corroborated; Hop 3 inspected: 0.015 → 90.3 ms. Moving packets are </a:t>
            </a:r>
            <a:r>
              <a:rPr sz="1400" b="1" i="0">
                <a:solidFill>
                  <a:srgbClr val="14181A"/>
                </a:solidFill>
                <a:latin typeface="Calibri"/>
              </a:rPr>
              <a:t>illustrative only</a:t>
            </a:r>
            <a:r>
              <a:rPr sz="1400" b="0" i="0">
                <a:solidFill>
                  <a:srgbClr val="14181A"/>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Dashboard: unknowns, evidence, guided mode</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12</a:t>
            </a:r>
          </a:p>
        </p:txBody>
      </p:sp>
      <p:pic>
        <p:nvPicPr>
          <p:cNvPr id="5" name="Dashboard: trial with unknown hops 1 and" descr="Dashboard: trial with unknown hops 1 and 2"/>
          <p:cNvPicPr>
            <a:picLocks noChangeAspect="1"/>
          </p:cNvPicPr>
          <p:nvPr/>
        </p:nvPicPr>
        <p:blipFill>
          <a:blip r:embed="rId3"/>
          <a:stretch>
            <a:fillRect/>
          </a:stretch>
        </p:blipFill>
        <p:spPr>
          <a:xfrm>
            <a:off x="548640" y="1280160"/>
            <a:ext cx="2797139" cy="2743200"/>
          </a:xfrm>
          <a:prstGeom prst="rect">
            <a:avLst/>
          </a:prstGeom>
          <a:ln w="25400">
            <a:solidFill>
              <a:srgbClr val="14181A"/>
            </a:solidFill>
          </a:ln>
        </p:spPr>
      </p:pic>
      <p:sp>
        <p:nvSpPr>
          <p:cNvPr id="6" name="TextBox 5"/>
          <p:cNvSpPr txBox="1"/>
          <p:nvPr/>
        </p:nvSpPr>
        <p:spPr>
          <a:xfrm>
            <a:off x="548640" y="4160520"/>
            <a:ext cx="2797139" cy="1371600"/>
          </a:xfrm>
          <a:prstGeom prst="rect">
            <a:avLst/>
          </a:prstGeom>
          <a:noFill/>
        </p:spPr>
        <p:txBody>
          <a:bodyPr wrap="square" lIns="36576" rIns="36576" tIns="18288" bIns="18288" anchor="t">
            <a:spAutoFit/>
          </a:bodyPr>
          <a:lstStyle/>
          <a:p>
            <a:pPr algn="l">
              <a:spcAft>
                <a:spcPts val="300"/>
              </a:spcAft>
            </a:pPr>
            <a:r>
              <a:rPr sz="1700" b="1" i="0">
                <a:solidFill>
                  <a:srgbClr val="14181A"/>
                </a:solidFill>
                <a:latin typeface="Calibri"/>
              </a:rPr>
              <a:t>Unknown ≠ healthy</a:t>
            </a:r>
          </a:p>
          <a:p>
            <a:pPr algn="l">
              <a:spcAft>
                <a:spcPts val="300"/>
              </a:spcAft>
            </a:pPr>
            <a:r>
              <a:rPr sz="1450" b="0" i="0">
                <a:solidFill>
                  <a:srgbClr val="14181A"/>
                </a:solidFill>
                <a:latin typeface="Calibri"/>
              </a:rPr>
              <a:t>p4-held-12: Hops 1-2 unknown (hatched yellow); partially localized, medium confidence.</a:t>
            </a:r>
          </a:p>
        </p:txBody>
      </p:sp>
      <p:pic>
        <p:nvPicPr>
          <p:cNvPr id="7" name="Dashboard: evidence grouped by kind and " descr="Dashboard: evidence grouped by kind and confidence panel"/>
          <p:cNvPicPr>
            <a:picLocks noChangeAspect="1"/>
          </p:cNvPicPr>
          <p:nvPr/>
        </p:nvPicPr>
        <p:blipFill>
          <a:blip r:embed="rId4"/>
          <a:stretch>
            <a:fillRect/>
          </a:stretch>
        </p:blipFill>
        <p:spPr>
          <a:xfrm>
            <a:off x="3620099" y="1280160"/>
            <a:ext cx="3915261" cy="2743199"/>
          </a:xfrm>
          <a:prstGeom prst="rect">
            <a:avLst/>
          </a:prstGeom>
          <a:ln w="25400">
            <a:solidFill>
              <a:srgbClr val="14181A"/>
            </a:solidFill>
          </a:ln>
        </p:spPr>
      </p:pic>
      <p:sp>
        <p:nvSpPr>
          <p:cNvPr id="8" name="TextBox 7"/>
          <p:cNvSpPr txBox="1"/>
          <p:nvPr/>
        </p:nvSpPr>
        <p:spPr>
          <a:xfrm>
            <a:off x="3620099" y="4160520"/>
            <a:ext cx="3915261" cy="1371600"/>
          </a:xfrm>
          <a:prstGeom prst="rect">
            <a:avLst/>
          </a:prstGeom>
          <a:noFill/>
        </p:spPr>
        <p:txBody>
          <a:bodyPr wrap="square" lIns="36576" rIns="36576" tIns="18288" bIns="18288" anchor="t">
            <a:spAutoFit/>
          </a:bodyPr>
          <a:lstStyle/>
          <a:p>
            <a:pPr algn="l">
              <a:spcAft>
                <a:spcPts val="300"/>
              </a:spcAft>
            </a:pPr>
            <a:r>
              <a:rPr sz="1700" b="1" i="0">
                <a:solidFill>
                  <a:srgbClr val="14181A"/>
                </a:solidFill>
                <a:latin typeface="Calibri"/>
              </a:rPr>
              <a:t>Evidence, kept apart</a:t>
            </a:r>
          </a:p>
          <a:p>
            <a:pPr algn="l">
              <a:spcAft>
                <a:spcPts val="300"/>
              </a:spcAft>
            </a:pPr>
            <a:r>
              <a:rPr sz="1450" b="0" i="0">
                <a:solidFill>
                  <a:srgbClr val="14181A"/>
                </a:solidFill>
                <a:latin typeface="Calibri"/>
              </a:rPr>
              <a:t>Facts, inference, correlation, unknown; confidence panel: “not a probability”.</a:t>
            </a:r>
          </a:p>
        </p:txBody>
      </p:sp>
      <p:pic>
        <p:nvPicPr>
          <p:cNvPr id="9" name="Dashboard: guided explanation overview" descr="Dashboard: guided explanation overview"/>
          <p:cNvPicPr>
            <a:picLocks noChangeAspect="1"/>
          </p:cNvPicPr>
          <p:nvPr/>
        </p:nvPicPr>
        <p:blipFill>
          <a:blip r:embed="rId5"/>
          <a:stretch>
            <a:fillRect/>
          </a:stretch>
        </p:blipFill>
        <p:spPr>
          <a:xfrm>
            <a:off x="7809681" y="1280160"/>
            <a:ext cx="3710987" cy="2743200"/>
          </a:xfrm>
          <a:prstGeom prst="rect">
            <a:avLst/>
          </a:prstGeom>
          <a:ln w="25400">
            <a:solidFill>
              <a:srgbClr val="14181A"/>
            </a:solidFill>
          </a:ln>
        </p:spPr>
      </p:pic>
      <p:sp>
        <p:nvSpPr>
          <p:cNvPr id="10" name="TextBox 9"/>
          <p:cNvSpPr txBox="1"/>
          <p:nvPr/>
        </p:nvSpPr>
        <p:spPr>
          <a:xfrm>
            <a:off x="7809681" y="4160520"/>
            <a:ext cx="3710987" cy="1371600"/>
          </a:xfrm>
          <a:prstGeom prst="rect">
            <a:avLst/>
          </a:prstGeom>
          <a:noFill/>
        </p:spPr>
        <p:txBody>
          <a:bodyPr wrap="square" lIns="36576" rIns="36576" tIns="18288" bIns="18288" anchor="t">
            <a:spAutoFit/>
          </a:bodyPr>
          <a:lstStyle/>
          <a:p>
            <a:pPr algn="l">
              <a:spcAft>
                <a:spcPts val="300"/>
              </a:spcAft>
            </a:pPr>
            <a:r>
              <a:rPr sz="1700" b="1" i="0">
                <a:solidFill>
                  <a:srgbClr val="14181A"/>
                </a:solidFill>
                <a:latin typeface="Calibri"/>
              </a:rPr>
              <a:t>Guided explanation</a:t>
            </a:r>
          </a:p>
          <a:p>
            <a:pPr algn="l">
              <a:spcAft>
                <a:spcPts val="300"/>
              </a:spcAft>
            </a:pPr>
            <a:r>
              <a:rPr sz="1450" b="0" i="0">
                <a:solidFill>
                  <a:srgbClr val="14181A"/>
                </a:solidFill>
                <a:latin typeface="Calibri"/>
              </a:rPr>
              <a:t>Off by default; five-step walkthrough from stored data only.</a:t>
            </a:r>
          </a:p>
        </p:txBody>
      </p:sp>
      <p:sp>
        <p:nvSpPr>
          <p:cNvPr id="11" name="dash note"/>
          <p:cNvSpPr/>
          <p:nvPr/>
        </p:nvSpPr>
        <p:spPr>
          <a:xfrm>
            <a:off x="548640" y="5623560"/>
            <a:ext cx="11064240" cy="68580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641848"/>
            <a:ext cx="10607040" cy="640080"/>
          </a:xfrm>
          <a:prstGeom prst="rect">
            <a:avLst/>
          </a:prstGeom>
          <a:noFill/>
        </p:spPr>
        <p:txBody>
          <a:bodyPr wrap="square" lIns="36576" rIns="36576" tIns="18288" bIns="18288" anchor="ctr">
            <a:spAutoFit/>
          </a:bodyPr>
          <a:lstStyle/>
          <a:p>
            <a:pPr algn="l">
              <a:spcAft>
                <a:spcPts val="0"/>
              </a:spcAft>
            </a:pPr>
            <a:r>
              <a:rPr sz="1450" b="1" i="0">
                <a:solidFill>
                  <a:srgbClr val="14181A"/>
                </a:solidFill>
                <a:latin typeface="Calibri"/>
              </a:rPr>
              <a:t>Screens captured from the current build. </a:t>
            </a:r>
            <a:r>
              <a:rPr sz="1450" b="0" i="0">
                <a:solidFill>
                  <a:srgbClr val="14181A"/>
                </a:solidFill>
                <a:latin typeface="Calibri"/>
              </a:rPr>
              <a:t>The page only formats stored values; statuses, onsets and confidence come from the bundle.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Testing and verification (run 27 Oct 2026)</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13</a:t>
            </a:r>
          </a:p>
        </p:txBody>
      </p:sp>
      <p:sp>
        <p:nvSpPr>
          <p:cNvPr id="5" name="card shadow"/>
          <p:cNvSpPr/>
          <p:nvPr/>
        </p:nvSpPr>
        <p:spPr>
          <a:xfrm>
            <a:off x="612647" y="1389888"/>
            <a:ext cx="2606040" cy="15544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325880"/>
            <a:ext cx="2606040" cy="155448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2423160" cy="777240"/>
          </a:xfrm>
          <a:prstGeom prst="rect">
            <a:avLst/>
          </a:prstGeom>
          <a:noFill/>
        </p:spPr>
        <p:txBody>
          <a:bodyPr wrap="square" lIns="36576" rIns="36576" tIns="18288" bIns="18288" anchor="ctr">
            <a:spAutoFit/>
          </a:bodyPr>
          <a:lstStyle/>
          <a:p>
            <a:pPr algn="ctr">
              <a:spcAft>
                <a:spcPts val="0"/>
              </a:spcAft>
            </a:pPr>
            <a:r>
              <a:rPr sz="4200" b="0" i="0">
                <a:solidFill>
                  <a:srgbClr val="14181A"/>
                </a:solidFill>
                <a:latin typeface="Arial Black"/>
              </a:rPr>
              <a:t>117</a:t>
            </a:r>
          </a:p>
        </p:txBody>
      </p:sp>
      <p:sp>
        <p:nvSpPr>
          <p:cNvPr id="8" name="TextBox 7"/>
          <p:cNvSpPr txBox="1"/>
          <p:nvPr/>
        </p:nvSpPr>
        <p:spPr>
          <a:xfrm>
            <a:off x="640080" y="2148840"/>
            <a:ext cx="2423160" cy="685800"/>
          </a:xfrm>
          <a:prstGeom prst="rect">
            <a:avLst/>
          </a:prstGeom>
          <a:noFill/>
        </p:spPr>
        <p:txBody>
          <a:bodyPr wrap="square" lIns="36576" rIns="36576" tIns="18288" bIns="18288" anchor="t">
            <a:spAutoFit/>
          </a:bodyPr>
          <a:lstStyle/>
          <a:p>
            <a:pPr algn="ctr">
              <a:spcAft>
                <a:spcPts val="0"/>
              </a:spcAft>
            </a:pPr>
            <a:r>
              <a:rPr sz="1400" b="0" i="0">
                <a:solidFill>
                  <a:srgbClr val="14181A"/>
                </a:solidFill>
                <a:latin typeface="Calibri"/>
              </a:rPr>
              <a:t>Python unit tests</a:t>
            </a:r>
          </a:p>
          <a:p>
            <a:pPr algn="ctr">
              <a:spcAft>
                <a:spcPts val="0"/>
              </a:spcAft>
            </a:pPr>
            <a:r>
              <a:rPr sz="1400" b="0" i="0">
                <a:solidFill>
                  <a:srgbClr val="14181A"/>
                </a:solidFill>
                <a:latin typeface="Calibri"/>
              </a:rPr>
              <a:t>all OK (WSL2)</a:t>
            </a:r>
          </a:p>
        </p:txBody>
      </p:sp>
      <p:sp>
        <p:nvSpPr>
          <p:cNvPr id="9" name="card shadow"/>
          <p:cNvSpPr/>
          <p:nvPr/>
        </p:nvSpPr>
        <p:spPr>
          <a:xfrm>
            <a:off x="3429000" y="1389888"/>
            <a:ext cx="2606040" cy="15544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p:cNvSpPr/>
          <p:nvPr/>
        </p:nvSpPr>
        <p:spPr>
          <a:xfrm>
            <a:off x="3364992" y="1325880"/>
            <a:ext cx="2606040" cy="1554480"/>
          </a:xfrm>
          <a:prstGeom prst="roundRect">
            <a:avLst>
              <a:gd name="adj" fmla="val 12000"/>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371600"/>
            <a:ext cx="2423160" cy="777240"/>
          </a:xfrm>
          <a:prstGeom prst="rect">
            <a:avLst/>
          </a:prstGeom>
          <a:noFill/>
        </p:spPr>
        <p:txBody>
          <a:bodyPr wrap="square" lIns="36576" rIns="36576" tIns="18288" bIns="18288" anchor="ctr">
            <a:spAutoFit/>
          </a:bodyPr>
          <a:lstStyle/>
          <a:p>
            <a:pPr algn="ctr">
              <a:spcAft>
                <a:spcPts val="0"/>
              </a:spcAft>
            </a:pPr>
            <a:r>
              <a:rPr sz="4200" b="0" i="0">
                <a:solidFill>
                  <a:srgbClr val="14181A"/>
                </a:solidFill>
                <a:latin typeface="Arial Black"/>
              </a:rPr>
              <a:t>310</a:t>
            </a:r>
          </a:p>
        </p:txBody>
      </p:sp>
      <p:sp>
        <p:nvSpPr>
          <p:cNvPr id="12" name="TextBox 11"/>
          <p:cNvSpPr txBox="1"/>
          <p:nvPr/>
        </p:nvSpPr>
        <p:spPr>
          <a:xfrm>
            <a:off x="3456432" y="2148840"/>
            <a:ext cx="2423160" cy="685800"/>
          </a:xfrm>
          <a:prstGeom prst="rect">
            <a:avLst/>
          </a:prstGeom>
          <a:noFill/>
        </p:spPr>
        <p:txBody>
          <a:bodyPr wrap="square" lIns="36576" rIns="36576" tIns="18288" bIns="18288" anchor="t">
            <a:spAutoFit/>
          </a:bodyPr>
          <a:lstStyle/>
          <a:p>
            <a:pPr algn="ctr">
              <a:spcAft>
                <a:spcPts val="0"/>
              </a:spcAft>
            </a:pPr>
            <a:r>
              <a:rPr sz="1400" b="0" i="0">
                <a:solidFill>
                  <a:srgbClr val="14181A"/>
                </a:solidFill>
                <a:latin typeface="Calibri"/>
              </a:rPr>
              <a:t>frontend tests</a:t>
            </a:r>
          </a:p>
          <a:p>
            <a:pPr algn="ctr">
              <a:spcAft>
                <a:spcPts val="0"/>
              </a:spcAft>
            </a:pPr>
            <a:r>
              <a:rPr sz="1400" b="0" i="0">
                <a:solidFill>
                  <a:srgbClr val="14181A"/>
                </a:solidFill>
                <a:latin typeface="Calibri"/>
              </a:rPr>
              <a:t>14 files, all pass</a:t>
            </a:r>
          </a:p>
        </p:txBody>
      </p:sp>
      <p:sp>
        <p:nvSpPr>
          <p:cNvPr id="13" name="card shadow"/>
          <p:cNvSpPr/>
          <p:nvPr/>
        </p:nvSpPr>
        <p:spPr>
          <a:xfrm>
            <a:off x="6245352" y="1389888"/>
            <a:ext cx="2606040" cy="15544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p:cNvSpPr/>
          <p:nvPr/>
        </p:nvSpPr>
        <p:spPr>
          <a:xfrm>
            <a:off x="6181344" y="1325880"/>
            <a:ext cx="2606040" cy="1554480"/>
          </a:xfrm>
          <a:prstGeom prst="roundRect">
            <a:avLst>
              <a:gd name="adj" fmla="val 12000"/>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3" y="1371600"/>
            <a:ext cx="2423160" cy="777240"/>
          </a:xfrm>
          <a:prstGeom prst="rect">
            <a:avLst/>
          </a:prstGeom>
          <a:noFill/>
        </p:spPr>
        <p:txBody>
          <a:bodyPr wrap="square" lIns="36576" rIns="36576" tIns="18288" bIns="18288" anchor="ctr">
            <a:spAutoFit/>
          </a:bodyPr>
          <a:lstStyle/>
          <a:p>
            <a:pPr algn="ctr">
              <a:spcAft>
                <a:spcPts val="0"/>
              </a:spcAft>
            </a:pPr>
            <a:r>
              <a:rPr sz="4200" b="0" i="0">
                <a:solidFill>
                  <a:srgbClr val="14181A"/>
                </a:solidFill>
                <a:latin typeface="Arial Black"/>
              </a:rPr>
              <a:t>40</a:t>
            </a:r>
          </a:p>
        </p:txBody>
      </p:sp>
      <p:sp>
        <p:nvSpPr>
          <p:cNvPr id="16" name="TextBox 15"/>
          <p:cNvSpPr txBox="1"/>
          <p:nvPr/>
        </p:nvSpPr>
        <p:spPr>
          <a:xfrm>
            <a:off x="6272783" y="2148840"/>
            <a:ext cx="2423160" cy="685800"/>
          </a:xfrm>
          <a:prstGeom prst="rect">
            <a:avLst/>
          </a:prstGeom>
          <a:noFill/>
        </p:spPr>
        <p:txBody>
          <a:bodyPr wrap="square" lIns="36576" rIns="36576" tIns="18288" bIns="18288" anchor="t">
            <a:spAutoFit/>
          </a:bodyPr>
          <a:lstStyle/>
          <a:p>
            <a:pPr algn="ctr">
              <a:spcAft>
                <a:spcPts val="0"/>
              </a:spcAft>
            </a:pPr>
            <a:r>
              <a:rPr sz="1400" b="0" i="0">
                <a:solidFill>
                  <a:srgbClr val="14181A"/>
                </a:solidFill>
                <a:latin typeface="Calibri"/>
              </a:rPr>
              <a:t>layout checks</a:t>
            </a:r>
          </a:p>
          <a:p>
            <a:pPr algn="ctr">
              <a:spcAft>
                <a:spcPts val="0"/>
              </a:spcAft>
            </a:pPr>
            <a:r>
              <a:rPr sz="1400" b="0" i="0">
                <a:solidFill>
                  <a:srgbClr val="14181A"/>
                </a:solidFill>
                <a:latin typeface="Calibri"/>
              </a:rPr>
              <a:t>10 widths × 4 trials</a:t>
            </a:r>
          </a:p>
        </p:txBody>
      </p:sp>
      <p:sp>
        <p:nvSpPr>
          <p:cNvPr id="17" name="card shadow"/>
          <p:cNvSpPr/>
          <p:nvPr/>
        </p:nvSpPr>
        <p:spPr>
          <a:xfrm>
            <a:off x="9061704" y="1389888"/>
            <a:ext cx="2606040" cy="155448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
          <p:cNvSpPr/>
          <p:nvPr/>
        </p:nvSpPr>
        <p:spPr>
          <a:xfrm>
            <a:off x="8997696" y="1325880"/>
            <a:ext cx="2606040" cy="1554480"/>
          </a:xfrm>
          <a:prstGeom prst="roundRect">
            <a:avLst>
              <a:gd name="adj" fmla="val 12000"/>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9136" y="1371600"/>
            <a:ext cx="2423160" cy="777240"/>
          </a:xfrm>
          <a:prstGeom prst="rect">
            <a:avLst/>
          </a:prstGeom>
          <a:noFill/>
        </p:spPr>
        <p:txBody>
          <a:bodyPr wrap="square" lIns="36576" rIns="36576" tIns="18288" bIns="18288" anchor="ctr">
            <a:spAutoFit/>
          </a:bodyPr>
          <a:lstStyle/>
          <a:p>
            <a:pPr algn="ctr">
              <a:spcAft>
                <a:spcPts val="0"/>
              </a:spcAft>
            </a:pPr>
            <a:r>
              <a:rPr sz="3400" b="0" i="0">
                <a:solidFill>
                  <a:srgbClr val="14181A"/>
                </a:solidFill>
                <a:latin typeface="Arial Black"/>
              </a:rPr>
              <a:t>200/200</a:t>
            </a:r>
          </a:p>
        </p:txBody>
      </p:sp>
      <p:sp>
        <p:nvSpPr>
          <p:cNvPr id="20" name="TextBox 19"/>
          <p:cNvSpPr txBox="1"/>
          <p:nvPr/>
        </p:nvSpPr>
        <p:spPr>
          <a:xfrm>
            <a:off x="9089136" y="2148840"/>
            <a:ext cx="2423160" cy="685800"/>
          </a:xfrm>
          <a:prstGeom prst="rect">
            <a:avLst/>
          </a:prstGeom>
          <a:noFill/>
        </p:spPr>
        <p:txBody>
          <a:bodyPr wrap="square" lIns="36576" rIns="36576" tIns="18288" bIns="18288" anchor="t">
            <a:spAutoFit/>
          </a:bodyPr>
          <a:lstStyle/>
          <a:p>
            <a:pPr algn="ctr">
              <a:spcAft>
                <a:spcPts val="0"/>
              </a:spcAft>
            </a:pPr>
            <a:r>
              <a:rPr sz="1400" b="0" i="0">
                <a:solidFill>
                  <a:srgbClr val="14181A"/>
                </a:solidFill>
                <a:latin typeface="Calibri"/>
              </a:rPr>
              <a:t>packets, 0% loss</a:t>
            </a:r>
          </a:p>
          <a:p>
            <a:pPr algn="ctr">
              <a:spcAft>
                <a:spcPts val="0"/>
              </a:spcAft>
            </a:pPr>
            <a:r>
              <a:rPr sz="1400" b="0" i="0">
                <a:solidFill>
                  <a:srgbClr val="14181A"/>
                </a:solidFill>
                <a:latin typeface="Calibri"/>
              </a:rPr>
              <a:t>5 hops in order</a:t>
            </a:r>
          </a:p>
        </p:txBody>
      </p:sp>
      <p:sp>
        <p:nvSpPr>
          <p:cNvPr id="21" name="also pass shadow"/>
          <p:cNvSpPr/>
          <p:nvPr/>
        </p:nvSpPr>
        <p:spPr>
          <a:xfrm>
            <a:off x="612647" y="3218688"/>
            <a:ext cx="6309360" cy="31089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lso pass"/>
          <p:cNvSpPr/>
          <p:nvPr/>
        </p:nvSpPr>
        <p:spPr>
          <a:xfrm>
            <a:off x="548640" y="3154680"/>
            <a:ext cx="6309360" cy="31089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218688"/>
            <a:ext cx="585216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Also verified</a:t>
            </a:r>
          </a:p>
        </p:txBody>
      </p:sp>
      <p:sp>
        <p:nvSpPr>
          <p:cNvPr id="24" name="TextBox 23"/>
          <p:cNvSpPr txBox="1"/>
          <p:nvPr/>
        </p:nvSpPr>
        <p:spPr>
          <a:xfrm>
            <a:off x="777240" y="3657600"/>
            <a:ext cx="5943600" cy="2560320"/>
          </a:xfrm>
          <a:prstGeom prst="rect">
            <a:avLst/>
          </a:prstGeom>
          <a:noFill/>
        </p:spPr>
        <p:txBody>
          <a:bodyPr wrap="square" lIns="36576" rIns="36576" tIns="18288" bIns="18288" anchor="t">
            <a:spAutoFit/>
          </a:bodyPr>
          <a:lstStyle/>
          <a:p>
            <a:pPr algn="l">
              <a:spcAft>
                <a:spcPts val="700"/>
              </a:spcAft>
            </a:pPr>
            <a:r>
              <a:rPr sz="1650" b="1" i="0">
                <a:solidFill>
                  <a:srgbClr val="2E7D32"/>
                </a:solidFill>
                <a:latin typeface="Calibri"/>
              </a:rPr>
              <a:t>✓  </a:t>
            </a:r>
            <a:r>
              <a:rPr sz="1650" b="0" i="0">
                <a:solidFill>
                  <a:srgbClr val="14181A"/>
                </a:solidFill>
                <a:latin typeface="Calibri"/>
              </a:rPr>
              <a:t>TypeScript strict typecheck; ESLint, 0 warnings</a:t>
            </a:r>
          </a:p>
          <a:p>
            <a:pPr algn="l">
              <a:spcAft>
                <a:spcPts val="700"/>
              </a:spcAft>
            </a:pPr>
            <a:r>
              <a:rPr sz="1650" b="1" i="0">
                <a:solidFill>
                  <a:srgbClr val="2E7D32"/>
                </a:solidFill>
                <a:latin typeface="Calibri"/>
              </a:rPr>
              <a:t>✓  </a:t>
            </a:r>
            <a:r>
              <a:rPr sz="1650" b="0" i="0">
                <a:solidFill>
                  <a:srgbClr val="14181A"/>
                </a:solidFill>
                <a:latin typeface="Calibri"/>
              </a:rPr>
              <a:t>Production build + distribution-safety check</a:t>
            </a:r>
          </a:p>
          <a:p>
            <a:pPr algn="l">
              <a:spcAft>
                <a:spcPts val="700"/>
              </a:spcAft>
            </a:pPr>
            <a:r>
              <a:rPr sz="1650" b="1" i="0">
                <a:solidFill>
                  <a:srgbClr val="2E7D32"/>
                </a:solidFill>
                <a:latin typeface="Calibri"/>
              </a:rPr>
              <a:t>✓  </a:t>
            </a:r>
            <a:r>
              <a:rPr sz="1650" b="0" i="0">
                <a:solidFill>
                  <a:srgbClr val="14181A"/>
                </a:solidFill>
                <a:latin typeface="Calibri"/>
              </a:rPr>
              <a:t>4 trials switched in a real browser; packet pause; guided walkthrough</a:t>
            </a:r>
          </a:p>
          <a:p>
            <a:pPr algn="l">
              <a:spcAft>
                <a:spcPts val="700"/>
              </a:spcAft>
            </a:pPr>
            <a:r>
              <a:rPr sz="1650" b="1" i="0">
                <a:solidFill>
                  <a:srgbClr val="2E7D32"/>
                </a:solidFill>
                <a:latin typeface="Calibri"/>
              </a:rPr>
              <a:t>✓  </a:t>
            </a:r>
            <a:r>
              <a:rPr sz="1650" b="0" i="0">
                <a:solidFill>
                  <a:srgbClr val="14181A"/>
                </a:solidFill>
                <a:latin typeface="Calibri"/>
              </a:rPr>
              <a:t>Repository hygiene check; live testbed build + teardown</a:t>
            </a:r>
          </a:p>
          <a:p>
            <a:pPr algn="l">
              <a:spcAft>
                <a:spcPts val="700"/>
              </a:spcAft>
            </a:pPr>
            <a:r>
              <a:rPr sz="1650" b="1" i="0">
                <a:solidFill>
                  <a:srgbClr val="2E7D32"/>
                </a:solidFill>
                <a:latin typeface="Calibri"/>
              </a:rPr>
              <a:t>✓  </a:t>
            </a:r>
            <a:r>
              <a:rPr sz="1650" b="0" i="0">
                <a:solidFill>
                  <a:srgbClr val="14181A"/>
                </a:solidFill>
                <a:latin typeface="Calibri"/>
              </a:rPr>
              <a:t>Report and deck numbers asserted against result files</a:t>
            </a:r>
          </a:p>
        </p:txBody>
      </p:sp>
      <p:sp>
        <p:nvSpPr>
          <p:cNvPr id="25" name="not run"/>
          <p:cNvSpPr/>
          <p:nvPr/>
        </p:nvSpPr>
        <p:spPr>
          <a:xfrm>
            <a:off x="7132320" y="3154680"/>
            <a:ext cx="4480560" cy="3108960"/>
          </a:xfrm>
          <a:prstGeom prst="roundRect">
            <a:avLst>
              <a:gd name="adj" fmla="val 12000"/>
            </a:avLst>
          </a:prstGeom>
          <a:solidFill>
            <a:srgbClr val="FFF4C4"/>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3218688"/>
            <a:ext cx="411480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Not run (disclosed)</a:t>
            </a:r>
          </a:p>
        </p:txBody>
      </p:sp>
      <p:sp>
        <p:nvSpPr>
          <p:cNvPr id="27" name="TextBox 26"/>
          <p:cNvSpPr txBox="1"/>
          <p:nvPr/>
        </p:nvSpPr>
        <p:spPr>
          <a:xfrm>
            <a:off x="7360920" y="3657600"/>
            <a:ext cx="4069080" cy="2560320"/>
          </a:xfrm>
          <a:prstGeom prst="rect">
            <a:avLst/>
          </a:prstGeom>
          <a:noFill/>
        </p:spPr>
        <p:txBody>
          <a:bodyPr wrap="square" lIns="36576" rIns="36576" tIns="18288" bIns="18288" anchor="t">
            <a:spAutoFit/>
          </a:bodyPr>
          <a:lstStyle/>
          <a:p>
            <a:pPr algn="l">
              <a:spcAft>
                <a:spcPts val="800"/>
              </a:spcAft>
            </a:pPr>
            <a:r>
              <a:rPr sz="1650" b="1" i="0">
                <a:solidFill>
                  <a:srgbClr val="14181A"/>
                </a:solidFill>
                <a:latin typeface="Calibri"/>
              </a:rPr>
              <a:t>•  </a:t>
            </a:r>
            <a:r>
              <a:rPr sz="1650" b="0" i="0">
                <a:solidFill>
                  <a:srgbClr val="14181A"/>
                </a:solidFill>
                <a:latin typeface="Calibri"/>
              </a:rPr>
              <a:t>Full live demo (overwrites a recorded trial)</a:t>
            </a:r>
          </a:p>
          <a:p>
            <a:pPr algn="l">
              <a:spcAft>
                <a:spcPts val="800"/>
              </a:spcAft>
            </a:pPr>
            <a:r>
              <a:rPr sz="1650" b="1" i="0">
                <a:solidFill>
                  <a:srgbClr val="14181A"/>
                </a:solidFill>
                <a:latin typeface="Calibri"/>
              </a:rPr>
              <a:t>•  </a:t>
            </a:r>
            <a:r>
              <a:rPr sz="1650" b="0" i="0">
                <a:solidFill>
                  <a:srgbClr val="14181A"/>
                </a:solidFill>
                <a:latin typeface="Calibri"/>
              </a:rPr>
              <a:t>Historical evaluation scripts (overwrite results)</a:t>
            </a:r>
          </a:p>
          <a:p>
            <a:pPr algn="l">
              <a:spcAft>
                <a:spcPts val="800"/>
              </a:spcAft>
            </a:pPr>
            <a:r>
              <a:rPr sz="1650" b="1" i="0">
                <a:solidFill>
                  <a:srgbClr val="14181A"/>
                </a:solidFill>
                <a:latin typeface="Calibri"/>
              </a:rPr>
              <a:t>•  </a:t>
            </a:r>
            <a:r>
              <a:rPr sz="1650" b="0" i="0">
                <a:solidFill>
                  <a:srgbClr val="14181A"/>
                </a:solidFill>
                <a:latin typeface="Calibri"/>
              </a:rPr>
              <a:t>Offline and cross-browser tests</a:t>
            </a:r>
          </a:p>
          <a:p>
            <a:pPr algn="l">
              <a:spcAft>
                <a:spcPts val="800"/>
              </a:spcAft>
            </a:pPr>
            <a:r>
              <a:rPr sz="1650" b="1" i="0">
                <a:solidFill>
                  <a:srgbClr val="14181A"/>
                </a:solidFill>
                <a:latin typeface="Calibri"/>
              </a:rPr>
              <a:t>•  </a:t>
            </a:r>
            <a:r>
              <a:rPr sz="1650" b="0" i="0">
                <a:solidFill>
                  <a:srgbClr val="14181A"/>
                </a:solidFill>
                <a:latin typeface="Calibri"/>
              </a:rPr>
              <a:t>Clean-clone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Results: Phase 4 failed its target</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14</a:t>
            </a:r>
          </a:p>
        </p:txBody>
      </p:sp>
      <p:sp>
        <p:nvSpPr>
          <p:cNvPr id="5" name="phase4 shadow"/>
          <p:cNvSpPr/>
          <p:nvPr/>
        </p:nvSpPr>
        <p:spPr>
          <a:xfrm>
            <a:off x="612647" y="1344168"/>
            <a:ext cx="5440680" cy="21488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hase4"/>
          <p:cNvSpPr/>
          <p:nvPr/>
        </p:nvSpPr>
        <p:spPr>
          <a:xfrm>
            <a:off x="548640" y="1280160"/>
            <a:ext cx="5440680" cy="2148840"/>
          </a:xfrm>
          <a:prstGeom prst="roundRect">
            <a:avLst>
              <a:gd name="adj" fmla="val 12000"/>
            </a:avLst>
          </a:prstGeom>
          <a:solidFill>
            <a:srgbClr val="FFE3DC"/>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25880"/>
            <a:ext cx="5029200" cy="365760"/>
          </a:xfrm>
          <a:prstGeom prst="rect">
            <a:avLst/>
          </a:prstGeom>
          <a:noFill/>
        </p:spPr>
        <p:txBody>
          <a:bodyPr wrap="square" lIns="36576" rIns="36576" tIns="18288" bIns="18288" anchor="t">
            <a:spAutoFit/>
          </a:bodyPr>
          <a:lstStyle/>
          <a:p>
            <a:pPr algn="l">
              <a:spcAft>
                <a:spcPts val="0"/>
              </a:spcAft>
            </a:pPr>
            <a:r>
              <a:rPr sz="1450" b="1" i="0">
                <a:solidFill>
                  <a:srgbClr val="14181A"/>
                </a:solidFill>
                <a:latin typeface="Consolas"/>
              </a:rPr>
              <a:t>Phase 4 · mad · INDEPENDENT held-out run</a:t>
            </a:r>
          </a:p>
        </p:txBody>
      </p:sp>
      <p:sp>
        <p:nvSpPr>
          <p:cNvPr id="8" name="TextBox 7"/>
          <p:cNvSpPr txBox="1"/>
          <p:nvPr/>
        </p:nvSpPr>
        <p:spPr>
          <a:xfrm>
            <a:off x="777240" y="1691640"/>
            <a:ext cx="2834640" cy="1097280"/>
          </a:xfrm>
          <a:prstGeom prst="rect">
            <a:avLst/>
          </a:prstGeom>
          <a:noFill/>
        </p:spPr>
        <p:txBody>
          <a:bodyPr wrap="square" lIns="36576" rIns="36576" tIns="18288" bIns="18288" anchor="ctr">
            <a:spAutoFit/>
          </a:bodyPr>
          <a:lstStyle/>
          <a:p>
            <a:pPr algn="l">
              <a:spcAft>
                <a:spcPts val="0"/>
              </a:spcAft>
            </a:pPr>
            <a:r>
              <a:rPr sz="6000" b="0" i="0">
                <a:solidFill>
                  <a:srgbClr val="14181A"/>
                </a:solidFill>
                <a:latin typeface="Arial Black"/>
              </a:rPr>
              <a:t>3/12</a:t>
            </a:r>
          </a:p>
        </p:txBody>
      </p:sp>
      <p:sp>
        <p:nvSpPr>
          <p:cNvPr id="9" name="TextBox 8"/>
          <p:cNvSpPr txBox="1"/>
          <p:nvPr/>
        </p:nvSpPr>
        <p:spPr>
          <a:xfrm>
            <a:off x="3520440" y="1783080"/>
            <a:ext cx="2377440" cy="1005840"/>
          </a:xfrm>
          <a:prstGeom prst="rect">
            <a:avLst/>
          </a:prstGeom>
          <a:noFill/>
        </p:spPr>
        <p:txBody>
          <a:bodyPr wrap="square" lIns="36576" rIns="36576" tIns="18288" bIns="18288" anchor="ctr">
            <a:spAutoFit/>
          </a:bodyPr>
          <a:lstStyle/>
          <a:p>
            <a:pPr algn="l">
              <a:spcAft>
                <a:spcPts val="0"/>
              </a:spcAft>
            </a:pPr>
            <a:r>
              <a:rPr sz="3000" b="1" i="0">
                <a:solidFill>
                  <a:srgbClr val="14181A"/>
                </a:solidFill>
                <a:latin typeface="Calibri"/>
              </a:rPr>
              <a:t>= 25%</a:t>
            </a:r>
          </a:p>
          <a:p>
            <a:pPr algn="l">
              <a:spcAft>
                <a:spcPts val="0"/>
              </a:spcAft>
            </a:pPr>
            <a:r>
              <a:rPr sz="1400" b="0" i="0">
                <a:solidFill>
                  <a:srgbClr val="14181A"/>
                </a:solidFill>
                <a:latin typeface="Calibri"/>
              </a:rPr>
              <a:t>false attribution</a:t>
            </a:r>
          </a:p>
        </p:txBody>
      </p:sp>
      <p:sp>
        <p:nvSpPr>
          <p:cNvPr id="10" name="pill"/>
          <p:cNvSpPr/>
          <p:nvPr/>
        </p:nvSpPr>
        <p:spPr>
          <a:xfrm>
            <a:off x="777240" y="2852928"/>
            <a:ext cx="4937760" cy="411480"/>
          </a:xfrm>
          <a:prstGeom prst="roundRect">
            <a:avLst>
              <a:gd name="adj" fmla="val 50000"/>
            </a:avLst>
          </a:prstGeom>
          <a:solidFill>
            <a:srgbClr val="FF6B4A"/>
          </a:solidFill>
          <a:ln w="2222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14181A"/>
                </a:solidFill>
                <a:latin typeface="Calibri"/>
              </a:rPr>
              <a:t>✕  TARGET MISSED: at most 10%</a:t>
            </a:r>
          </a:p>
        </p:txBody>
      </p:sp>
      <p:sp>
        <p:nvSpPr>
          <p:cNvPr id="11" name="phase4b"/>
          <p:cNvSpPr/>
          <p:nvPr/>
        </p:nvSpPr>
        <p:spPr>
          <a:xfrm>
            <a:off x="6217920" y="1280160"/>
            <a:ext cx="5394960" cy="2148840"/>
          </a:xfrm>
          <a:prstGeom prst="roundRect">
            <a:avLst>
              <a:gd name="adj" fmla="val 12000"/>
            </a:avLst>
          </a:prstGeom>
          <a:solidFill>
            <a:srgbClr val="FFF4C4"/>
          </a:solidFill>
          <a:ln w="2857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325880"/>
            <a:ext cx="5029200" cy="365760"/>
          </a:xfrm>
          <a:prstGeom prst="rect">
            <a:avLst/>
          </a:prstGeom>
          <a:noFill/>
        </p:spPr>
        <p:txBody>
          <a:bodyPr wrap="square" lIns="36576" rIns="36576" tIns="18288" bIns="18288" anchor="t">
            <a:spAutoFit/>
          </a:bodyPr>
          <a:lstStyle/>
          <a:p>
            <a:pPr algn="l">
              <a:spcAft>
                <a:spcPts val="0"/>
              </a:spcAft>
            </a:pPr>
            <a:r>
              <a:rPr sz="1450" b="1" i="0">
                <a:solidFill>
                  <a:srgbClr val="14181A"/>
                </a:solidFill>
                <a:latin typeface="Consolas"/>
              </a:rPr>
              <a:t>Phase 4b · mad_sustained · EXPOSED set</a:t>
            </a:r>
          </a:p>
        </p:txBody>
      </p:sp>
      <p:sp>
        <p:nvSpPr>
          <p:cNvPr id="13" name="TextBox 12"/>
          <p:cNvSpPr txBox="1"/>
          <p:nvPr/>
        </p:nvSpPr>
        <p:spPr>
          <a:xfrm>
            <a:off x="6446520" y="1691640"/>
            <a:ext cx="2834640" cy="1097280"/>
          </a:xfrm>
          <a:prstGeom prst="rect">
            <a:avLst/>
          </a:prstGeom>
          <a:noFill/>
        </p:spPr>
        <p:txBody>
          <a:bodyPr wrap="square" lIns="36576" rIns="36576" tIns="18288" bIns="18288" anchor="ctr">
            <a:spAutoFit/>
          </a:bodyPr>
          <a:lstStyle/>
          <a:p>
            <a:pPr algn="l">
              <a:spcAft>
                <a:spcPts val="0"/>
              </a:spcAft>
            </a:pPr>
            <a:r>
              <a:rPr sz="6000" b="0" i="0">
                <a:solidFill>
                  <a:srgbClr val="14181A"/>
                </a:solidFill>
                <a:latin typeface="Arial Black"/>
              </a:rPr>
              <a:t>1/12</a:t>
            </a:r>
          </a:p>
        </p:txBody>
      </p:sp>
      <p:sp>
        <p:nvSpPr>
          <p:cNvPr id="14" name="TextBox 13"/>
          <p:cNvSpPr txBox="1"/>
          <p:nvPr/>
        </p:nvSpPr>
        <p:spPr>
          <a:xfrm>
            <a:off x="9189720" y="1783080"/>
            <a:ext cx="2377440" cy="1005840"/>
          </a:xfrm>
          <a:prstGeom prst="rect">
            <a:avLst/>
          </a:prstGeom>
          <a:noFill/>
        </p:spPr>
        <p:txBody>
          <a:bodyPr wrap="square" lIns="36576" rIns="36576" tIns="18288" bIns="18288" anchor="ctr">
            <a:spAutoFit/>
          </a:bodyPr>
          <a:lstStyle/>
          <a:p>
            <a:pPr algn="l">
              <a:spcAft>
                <a:spcPts val="0"/>
              </a:spcAft>
            </a:pPr>
            <a:r>
              <a:rPr sz="3000" b="1" i="0">
                <a:solidFill>
                  <a:srgbClr val="14181A"/>
                </a:solidFill>
                <a:latin typeface="Calibri"/>
              </a:rPr>
              <a:t>= 8.3%</a:t>
            </a:r>
          </a:p>
          <a:p>
            <a:pPr algn="l">
              <a:spcAft>
                <a:spcPts val="0"/>
              </a:spcAft>
            </a:pPr>
            <a:r>
              <a:rPr sz="1400" b="0" i="0">
                <a:solidFill>
                  <a:srgbClr val="14181A"/>
                </a:solidFill>
                <a:latin typeface="Calibri"/>
              </a:rPr>
              <a:t>false attribution</a:t>
            </a:r>
          </a:p>
        </p:txBody>
      </p:sp>
      <p:sp>
        <p:nvSpPr>
          <p:cNvPr id="15" name="pill"/>
          <p:cNvSpPr/>
          <p:nvPr/>
        </p:nvSpPr>
        <p:spPr>
          <a:xfrm>
            <a:off x="6446520" y="2852928"/>
            <a:ext cx="4937760" cy="411480"/>
          </a:xfrm>
          <a:prstGeom prst="roundRect">
            <a:avLst>
              <a:gd name="adj" fmla="val 50000"/>
            </a:avLst>
          </a:prstGeom>
          <a:solidFill>
            <a:srgbClr val="FFD23F"/>
          </a:solidFill>
          <a:ln w="22225">
            <a:solidFill>
              <a:srgbClr val="1418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9144" bIns="9144" wrap="square"/>
          <a:lstStyle/>
          <a:p>
            <a:pPr algn="ctr"/>
            <a:r>
              <a:rPr sz="1500" b="1" i="0">
                <a:solidFill>
                  <a:srgbClr val="14181A"/>
                </a:solidFill>
                <a:latin typeface="Calibri"/>
              </a:rPr>
              <a:t>⚠  same trials, inspected during design</a:t>
            </a:r>
          </a:p>
        </p:txBody>
      </p:sp>
      <p:graphicFrame>
        <p:nvGraphicFramePr>
          <p:cNvPr id="16" name="Table 15"/>
          <p:cNvGraphicFramePr>
            <a:graphicFrameLocks noGrp="1"/>
          </p:cNvGraphicFramePr>
          <p:nvPr/>
        </p:nvGraphicFramePr>
        <p:xfrm>
          <a:off x="548640" y="3611880"/>
          <a:ext cx="11064240" cy="2468880"/>
        </p:xfrm>
        <a:graphic>
          <a:graphicData uri="http://schemas.openxmlformats.org/drawingml/2006/table">
            <a:tbl>
              <a:tblPr firstRow="0" bandRow="0">
                <a:tableStyleId>{2D5ABB26-0587-4C30-8999-92F81FD0307C}</a:tableStyleId>
              </a:tblPr>
              <a:tblGrid>
                <a:gridCol w="4480560"/>
                <a:gridCol w="3200400"/>
                <a:gridCol w="3383280"/>
              </a:tblGrid>
              <a:tr h="411480">
                <a:tc>
                  <a:txBody>
                    <a:bodyPr wrap="square"/>
                    <a:lstStyle/>
                    <a:p>
                      <a:pPr algn="l"/>
                      <a:r>
                        <a:rPr sz="1600" b="1" i="0">
                          <a:solidFill>
                            <a:srgbClr val="FFFFFF"/>
                          </a:solidFill>
                          <a:latin typeface="Calibri"/>
                        </a:rPr>
                        <a:t>Metric (12 trials)</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c>
                  <a:txBody>
                    <a:bodyPr wrap="square"/>
                    <a:lstStyle/>
                    <a:p>
                      <a:pPr algn="ctr"/>
                      <a:r>
                        <a:rPr sz="1600" b="1" i="0">
                          <a:solidFill>
                            <a:srgbClr val="FFFFFF"/>
                          </a:solidFill>
                          <a:latin typeface="Calibri"/>
                        </a:rPr>
                        <a:t>Phase 4 · independent</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c>
                  <a:txBody>
                    <a:bodyPr wrap="square"/>
                    <a:lstStyle/>
                    <a:p>
                      <a:pPr algn="ctr"/>
                      <a:r>
                        <a:rPr sz="1600" b="1" i="0">
                          <a:solidFill>
                            <a:srgbClr val="FFFFFF"/>
                          </a:solidFill>
                          <a:latin typeface="Calibri"/>
                        </a:rPr>
                        <a:t>Phase 4b · exposed</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r>
              <a:tr h="411480">
                <a:tc>
                  <a:txBody>
                    <a:bodyPr wrap="square"/>
                    <a:lstStyle/>
                    <a:p>
                      <a:pPr algn="l"/>
                      <a:r>
                        <a:rPr sz="1600" b="0" i="0">
                          <a:solidFill>
                            <a:srgbClr val="14181A"/>
                          </a:solidFill>
                          <a:latin typeface="Calibri"/>
                        </a:rPr>
                        <a:t>Within ±1 hop (localized trials)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600" b="0" i="0">
                          <a:solidFill>
                            <a:srgbClr val="14181A"/>
                          </a:solidFill>
                          <a:latin typeface="Calibri"/>
                        </a:rPr>
                        <a:t>3/3</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600" b="0" i="0">
                          <a:solidFill>
                            <a:srgbClr val="14181A"/>
                          </a:solidFill>
                          <a:latin typeface="Calibri"/>
                        </a:rPr>
                        <a:t>4/4  (95% CI 51–100%)</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r>
              <a:tr h="411480">
                <a:tc>
                  <a:txBody>
                    <a:bodyPr wrap="square"/>
                    <a:lstStyle/>
                    <a:p>
                      <a:pPr algn="l"/>
                      <a:r>
                        <a:rPr sz="1600" b="0" i="0">
                          <a:solidFill>
                            <a:srgbClr val="14181A"/>
                          </a:solidFill>
                          <a:latin typeface="Calibri"/>
                        </a:rPr>
                        <a:t>Exact first hop (localized trials)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600" b="0" i="0">
                          <a:solidFill>
                            <a:srgbClr val="14181A"/>
                          </a:solidFill>
                          <a:latin typeface="Calibri"/>
                        </a:rPr>
                        <a:t>2/3</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600" b="0" i="0">
                          <a:solidFill>
                            <a:srgbClr val="14181A"/>
                          </a:solidFill>
                          <a:latin typeface="Calibri"/>
                        </a:rPr>
                        <a:t>3/4</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r>
              <a:tr h="411480">
                <a:tc>
                  <a:txBody>
                    <a:bodyPr wrap="square"/>
                    <a:lstStyle/>
                    <a:p>
                      <a:pPr algn="l"/>
                      <a:r>
                        <a:rPr sz="1600" b="0" i="0">
                          <a:solidFill>
                            <a:srgbClr val="14181A"/>
                          </a:solidFill>
                          <a:latin typeface="Calibri"/>
                        </a:rPr>
                        <a:t>Clean-control false positives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600" b="0" i="0">
                          <a:solidFill>
                            <a:srgbClr val="14181A"/>
                          </a:solidFill>
                          <a:latin typeface="Calibri"/>
                        </a:rPr>
                        <a:t>2/4</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D9D0"/>
                    </a:solidFill>
                  </a:tcPr>
                </a:tc>
                <a:tc>
                  <a:txBody>
                    <a:bodyPr wrap="square"/>
                    <a:lstStyle/>
                    <a:p>
                      <a:pPr algn="ctr"/>
                      <a:r>
                        <a:rPr sz="1600" b="0" i="0">
                          <a:solidFill>
                            <a:srgbClr val="14181A"/>
                          </a:solidFill>
                          <a:latin typeface="Calibri"/>
                        </a:rPr>
                        <a:t>0/4</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r>
              <a:tr h="411480">
                <a:tc>
                  <a:txBody>
                    <a:bodyPr wrap="square"/>
                    <a:lstStyle/>
                    <a:p>
                      <a:pPr algn="l"/>
                      <a:r>
                        <a:rPr sz="1600" b="0" i="0">
                          <a:solidFill>
                            <a:srgbClr val="14181A"/>
                          </a:solidFill>
                          <a:latin typeface="Calibri"/>
                        </a:rPr>
                        <a:t>Recall of injected faults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600" b="0" i="0">
                          <a:solidFill>
                            <a:srgbClr val="14181A"/>
                          </a:solidFill>
                          <a:latin typeface="Calibri"/>
                        </a:rPr>
                        <a:t>3/8 = 37.5%</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c>
                  <a:txBody>
                    <a:bodyPr wrap="square"/>
                    <a:lstStyle/>
                    <a:p>
                      <a:pPr algn="ctr"/>
                      <a:r>
                        <a:rPr sz="1600" b="0" i="0">
                          <a:solidFill>
                            <a:srgbClr val="14181A"/>
                          </a:solidFill>
                          <a:latin typeface="Calibri"/>
                        </a:rPr>
                        <a:t>4/8 = 50%</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r>
              <a:tr h="411480">
                <a:tc>
                  <a:txBody>
                    <a:bodyPr wrap="square"/>
                    <a:lstStyle/>
                    <a:p>
                      <a:pPr algn="l"/>
                      <a:r>
                        <a:rPr sz="1600" b="0" i="0">
                          <a:solidFill>
                            <a:srgbClr val="14181A"/>
                          </a:solidFill>
                          <a:latin typeface="Calibri"/>
                        </a:rPr>
                        <a:t>Brier score (confidence check)</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600" b="0" i="0">
                          <a:solidFill>
                            <a:srgbClr val="14181A"/>
                          </a:solidFill>
                          <a:latin typeface="Calibri"/>
                        </a:rPr>
                        <a:t>0.432  (n = 5)</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600" b="0" i="0">
                          <a:solidFill>
                            <a:srgbClr val="14181A"/>
                          </a:solidFill>
                          <a:latin typeface="Calibri"/>
                        </a:rPr>
                        <a:t>0.040  (n = 4)</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r>
            </a:tbl>
          </a:graphicData>
        </a:graphic>
      </p:graphicFrame>
      <p:sp>
        <p:nvSpPr>
          <p:cNvPr id="17" name="TextBox 16"/>
          <p:cNvSpPr txBox="1"/>
          <p:nvPr/>
        </p:nvSpPr>
        <p:spPr>
          <a:xfrm>
            <a:off x="548640" y="6126480"/>
            <a:ext cx="11064240" cy="274320"/>
          </a:xfrm>
          <a:prstGeom prst="rect">
            <a:avLst/>
          </a:prstGeom>
          <a:noFill/>
        </p:spPr>
        <p:txBody>
          <a:bodyPr wrap="square" lIns="36576" rIns="36576" tIns="18288" bIns="18288" anchor="t">
            <a:spAutoFit/>
          </a:bodyPr>
          <a:lstStyle/>
          <a:p>
            <a:pPr algn="l">
              <a:spcAft>
                <a:spcPts val="0"/>
              </a:spcAft>
            </a:pPr>
            <a:r>
              <a:rPr sz="1250" b="0" i="1">
                <a:solidFill>
                  <a:srgbClr val="3D4D55"/>
                </a:solidFill>
                <a:latin typeface="Calibri"/>
              </a:rPr>
              <a:t>Meeting a numeric threshold on an exposed set does not validate the current detector.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What the held-out trials show</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15</a:t>
            </a:r>
          </a:p>
        </p:txBody>
      </p:sp>
      <p:graphicFrame>
        <p:nvGraphicFramePr>
          <p:cNvPr id="5" name="Table 4"/>
          <p:cNvGraphicFramePr>
            <a:graphicFrameLocks noGrp="1"/>
          </p:cNvGraphicFramePr>
          <p:nvPr/>
        </p:nvGraphicFramePr>
        <p:xfrm>
          <a:off x="548640" y="1280160"/>
          <a:ext cx="6309360" cy="4754880"/>
        </p:xfrm>
        <a:graphic>
          <a:graphicData uri="http://schemas.openxmlformats.org/drawingml/2006/table">
            <a:tbl>
              <a:tblPr firstRow="0" bandRow="0">
                <a:tableStyleId>{2D5ABB26-0587-4C30-8999-92F81FD0307C}</a:tableStyleId>
              </a:tblPr>
              <a:tblGrid>
                <a:gridCol w="3566160"/>
                <a:gridCol w="1371600"/>
                <a:gridCol w="1371600"/>
              </a:tblGrid>
              <a:tr h="365760">
                <a:tc>
                  <a:txBody>
                    <a:bodyPr wrap="square"/>
                    <a:lstStyle/>
                    <a:p>
                      <a:pPr algn="l"/>
                      <a:r>
                        <a:rPr sz="1400" b="1" i="0">
                          <a:solidFill>
                            <a:srgbClr val="FFFFFF"/>
                          </a:solidFill>
                          <a:latin typeface="Calibri"/>
                        </a:rPr>
                        <a:t>Held-out trial</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c>
                  <a:txBody>
                    <a:bodyPr wrap="square"/>
                    <a:lstStyle/>
                    <a:p>
                      <a:pPr algn="ctr"/>
                      <a:r>
                        <a:rPr sz="1400" b="1" i="0">
                          <a:solidFill>
                            <a:srgbClr val="FFFFFF"/>
                          </a:solidFill>
                          <a:latin typeface="Calibri"/>
                        </a:rPr>
                        <a:t>Phase 4</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c>
                  <a:txBody>
                    <a:bodyPr wrap="square"/>
                    <a:lstStyle/>
                    <a:p>
                      <a:pPr algn="ctr"/>
                      <a:r>
                        <a:rPr sz="1400" b="1" i="0">
                          <a:solidFill>
                            <a:srgbClr val="FFFFFF"/>
                          </a:solidFill>
                          <a:latin typeface="Calibri"/>
                        </a:rPr>
                        <a:t>Phase 4b</a:t>
                      </a:r>
                    </a:p>
                  </a:txBody>
                  <a:tcPr marL="73152" marR="73152" marT="27432" marB="27432" anchor="ctr">
                    <a:lnL w="12700">
                      <a:solidFill>
                        <a:srgbClr val="14181A"/>
                      </a:solidFill>
                    </a:lnL>
                    <a:lnR w="12700">
                      <a:solidFill>
                        <a:srgbClr val="14181A"/>
                      </a:solidFill>
                    </a:lnR>
                    <a:lnT w="12700">
                      <a:solidFill>
                        <a:srgbClr val="14181A"/>
                      </a:solidFill>
                    </a:lnT>
                    <a:lnB w="12700">
                      <a:solidFill>
                        <a:srgbClr val="14181A"/>
                      </a:solidFill>
                    </a:lnB>
                    <a:solidFill>
                      <a:srgbClr val="14181A"/>
                    </a:solidFill>
                  </a:tcPr>
                </a:tc>
              </a:tr>
              <a:tr h="365760">
                <a:tc>
                  <a:txBody>
                    <a:bodyPr wrap="square"/>
                    <a:lstStyle/>
                    <a:p>
                      <a:pPr algn="l"/>
                      <a:r>
                        <a:rPr sz="1400" b="0" i="0">
                          <a:solidFill>
                            <a:srgbClr val="14181A"/>
                          </a:solidFill>
                          <a:latin typeface="Calibri"/>
                        </a:rPr>
                        <a:t>01 clean</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FA</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D9D0"/>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r>
              <a:tr h="365760">
                <a:tc>
                  <a:txBody>
                    <a:bodyPr wrap="square"/>
                    <a:lstStyle/>
                    <a:p>
                      <a:pPr algn="l"/>
                      <a:r>
                        <a:rPr sz="1400" b="0" i="0">
                          <a:solidFill>
                            <a:srgbClr val="14181A"/>
                          </a:solidFill>
                          <a:latin typeface="Calibri"/>
                        </a:rPr>
                        <a:t>02 clean</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r>
              <a:tr h="365760">
                <a:tc>
                  <a:txBody>
                    <a:bodyPr wrap="square"/>
                    <a:lstStyle/>
                    <a:p>
                      <a:pPr algn="l"/>
                      <a:r>
                        <a:rPr sz="1400" b="0" i="0">
                          <a:solidFill>
                            <a:srgbClr val="14181A"/>
                          </a:solidFill>
                          <a:latin typeface="Calibri"/>
                        </a:rPr>
                        <a:t>03 clean</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FA</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D9D0"/>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r>
              <a:tr h="365760">
                <a:tc>
                  <a:txBody>
                    <a:bodyPr wrap="square"/>
                    <a:lstStyle/>
                    <a:p>
                      <a:pPr algn="l"/>
                      <a:r>
                        <a:rPr sz="1400" b="0" i="0">
                          <a:solidFill>
                            <a:srgbClr val="14181A"/>
                          </a:solidFill>
                          <a:latin typeface="Calibri"/>
                        </a:rPr>
                        <a:t>04 latency · hop 2</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r>
              <a:tr h="365760">
                <a:tc>
                  <a:txBody>
                    <a:bodyPr wrap="square"/>
                    <a:lstStyle/>
                    <a:p>
                      <a:pPr algn="l"/>
                      <a:r>
                        <a:rPr sz="1400" b="0" i="0">
                          <a:solidFill>
                            <a:srgbClr val="14181A"/>
                          </a:solidFill>
                          <a:latin typeface="Calibri"/>
                        </a:rPr>
                        <a:t>05 jitter · hop 3</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r>
              <a:tr h="365760">
                <a:tc>
                  <a:txBody>
                    <a:bodyPr wrap="square"/>
                    <a:lstStyle/>
                    <a:p>
                      <a:pPr algn="l"/>
                      <a:r>
                        <a:rPr sz="1400" b="0" i="0">
                          <a:solidFill>
                            <a:srgbClr val="14181A"/>
                          </a:solidFill>
                          <a:latin typeface="Calibri"/>
                        </a:rPr>
                        <a:t>06 loss · hop 4</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r>
              <a:tr h="365760">
                <a:tc>
                  <a:txBody>
                    <a:bodyPr wrap="square"/>
                    <a:lstStyle/>
                    <a:p>
                      <a:pPr algn="l"/>
                      <a:r>
                        <a:rPr sz="1400" b="0" i="0">
                          <a:solidFill>
                            <a:srgbClr val="14181A"/>
                          </a:solidFill>
                          <a:latin typeface="Calibri"/>
                        </a:rPr>
                        <a:t>07 bandwidth · hop 1</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r>
              <a:tr h="365760">
                <a:tc>
                  <a:txBody>
                    <a:bodyPr wrap="square"/>
                    <a:lstStyle/>
                    <a:p>
                      <a:pPr algn="l"/>
                      <a:r>
                        <a:rPr sz="1400" b="0" i="0">
                          <a:solidFill>
                            <a:srgbClr val="14181A"/>
                          </a:solidFill>
                          <a:latin typeface="Calibri"/>
                        </a:rPr>
                        <a:t>08 jitter · hop 2, transient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E6FFC2"/>
                    </a:solidFill>
                  </a:tcPr>
                </a:tc>
              </a:tr>
              <a:tr h="365760">
                <a:tc>
                  <a:txBody>
                    <a:bodyPr wrap="square"/>
                    <a:lstStyle/>
                    <a:p>
                      <a:pPr algn="l"/>
                      <a:r>
                        <a:rPr sz="1400" b="0" i="0">
                          <a:solidFill>
                            <a:srgbClr val="14181A"/>
                          </a:solidFill>
                          <a:latin typeface="Calibri"/>
                        </a:rPr>
                        <a:t>09 bandwidth · hop 3, transient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r>
              <a:tr h="365760">
                <a:tc>
                  <a:txBody>
                    <a:bodyPr wrap="square"/>
                    <a:lstStyle/>
                    <a:p>
                      <a:pPr algn="l"/>
                      <a:r>
                        <a:rPr sz="1400" b="0" i="0">
                          <a:solidFill>
                            <a:srgbClr val="14181A"/>
                          </a:solidFill>
                          <a:latin typeface="Calibri"/>
                        </a:rPr>
                        <a:t>10 loss · hop 1</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c>
                  <a:txBody>
                    <a:bodyPr wrap="square"/>
                    <a:lstStyle/>
                    <a:p>
                      <a:pPr algn="ctr"/>
                      <a:r>
                        <a:rPr sz="1400" b="0" i="0">
                          <a:solidFill>
                            <a:srgbClr val="14181A"/>
                          </a:solidFill>
                          <a:latin typeface="Calibri"/>
                        </a:rPr>
                        <a:t>miss</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0B8"/>
                    </a:solidFill>
                  </a:tcPr>
                </a:tc>
              </a:tr>
              <a:tr h="365760">
                <a:tc>
                  <a:txBody>
                    <a:bodyPr wrap="square"/>
                    <a:lstStyle/>
                    <a:p>
                      <a:pPr algn="l"/>
                      <a:r>
                        <a:rPr sz="1400" b="0" i="0">
                          <a:solidFill>
                            <a:srgbClr val="14181A"/>
                          </a:solidFill>
                          <a:latin typeface="Calibri"/>
                        </a:rPr>
                        <a:t>11 clean · Hop 1 silent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c>
                  <a:txBody>
                    <a:bodyPr wrap="square"/>
                    <a:lstStyle/>
                    <a:p>
                      <a:pPr algn="ctr"/>
                      <a:r>
                        <a:rPr sz="1400" b="0" i="0">
                          <a:solidFill>
                            <a:srgbClr val="14181A"/>
                          </a:solidFill>
                          <a:latin typeface="Calibri"/>
                        </a:rPr>
                        <a: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FFFF"/>
                    </a:solidFill>
                  </a:tcPr>
                </a:tc>
              </a:tr>
              <a:tr h="365760">
                <a:tc>
                  <a:txBody>
                    <a:bodyPr wrap="square"/>
                    <a:lstStyle/>
                    <a:p>
                      <a:pPr algn="l"/>
                      <a:r>
                        <a:rPr sz="1400" b="0" i="0">
                          <a:solidFill>
                            <a:srgbClr val="14181A"/>
                          </a:solidFill>
                          <a:latin typeface="Calibri"/>
                        </a:rPr>
                        <a:t>12 jitter · Hops 1-2 silent</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3F8F6"/>
                    </a:solidFill>
                  </a:tcPr>
                </a:tc>
                <a:tc>
                  <a:txBody>
                    <a:bodyPr wrap="square"/>
                    <a:lstStyle/>
                    <a:p>
                      <a:pPr algn="ctr"/>
                      <a:r>
                        <a:rPr sz="1400" b="0" i="0">
                          <a:solidFill>
                            <a:srgbClr val="14181A"/>
                          </a:solidFill>
                          <a:latin typeface="Calibri"/>
                        </a:rPr>
                        <a:t>FA</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D9D0"/>
                    </a:solidFill>
                  </a:tcPr>
                </a:tc>
                <a:tc>
                  <a:txBody>
                    <a:bodyPr wrap="square"/>
                    <a:lstStyle/>
                    <a:p>
                      <a:pPr algn="ctr"/>
                      <a:r>
                        <a:rPr sz="1400" b="0" i="0">
                          <a:solidFill>
                            <a:srgbClr val="14181A"/>
                          </a:solidFill>
                          <a:latin typeface="Calibri"/>
                        </a:rPr>
                        <a:t>FA</a:t>
                      </a:r>
                    </a:p>
                  </a:txBody>
                  <a:tcPr marL="73152" marR="73152" marT="27432" marB="27432" anchor="ctr">
                    <a:lnL w="12700">
                      <a:solidFill>
                        <a:srgbClr val="9DB0B7"/>
                      </a:solidFill>
                    </a:lnL>
                    <a:lnR w="12700">
                      <a:solidFill>
                        <a:srgbClr val="9DB0B7"/>
                      </a:solidFill>
                    </a:lnR>
                    <a:lnT w="12700">
                      <a:solidFill>
                        <a:srgbClr val="9DB0B7"/>
                      </a:solidFill>
                    </a:lnT>
                    <a:lnB w="12700">
                      <a:solidFill>
                        <a:srgbClr val="9DB0B7"/>
                      </a:solidFill>
                    </a:lnB>
                    <a:solidFill>
                      <a:srgbClr val="FFD9D0"/>
                    </a:solidFill>
                  </a:tcPr>
                </a:tc>
              </a:tr>
            </a:tbl>
          </a:graphicData>
        </a:graphic>
      </p:graphicFrame>
      <p:sp>
        <p:nvSpPr>
          <p:cNvPr id="6" name="TextBox 5"/>
          <p:cNvSpPr txBox="1"/>
          <p:nvPr/>
        </p:nvSpPr>
        <p:spPr>
          <a:xfrm>
            <a:off x="548640" y="6126480"/>
            <a:ext cx="6309360" cy="274320"/>
          </a:xfrm>
          <a:prstGeom prst="rect">
            <a:avLst/>
          </a:prstGeom>
          <a:noFill/>
        </p:spPr>
        <p:txBody>
          <a:bodyPr wrap="square" lIns="36576" rIns="36576" tIns="18288" bIns="18288" anchor="t">
            <a:spAutoFit/>
          </a:bodyPr>
          <a:lstStyle/>
          <a:p>
            <a:pPr algn="l">
              <a:spcAft>
                <a:spcPts val="0"/>
              </a:spcAft>
            </a:pPr>
            <a:r>
              <a:rPr sz="1200" b="0" i="0">
                <a:solidFill>
                  <a:srgbClr val="3D4D55"/>
                </a:solidFill>
                <a:latin typeface="Calibri"/>
              </a:rPr>
              <a:t>✓ correct claim   FA false attribution   miss no claim   – no claim, correctly</a:t>
            </a:r>
          </a:p>
        </p:txBody>
      </p:sp>
      <p:sp>
        <p:nvSpPr>
          <p:cNvPr id="7" name="card shadow"/>
          <p:cNvSpPr/>
          <p:nvPr/>
        </p:nvSpPr>
        <p:spPr>
          <a:xfrm>
            <a:off x="7196328" y="1344168"/>
            <a:ext cx="4480560" cy="14630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p:cNvSpPr/>
          <p:nvPr/>
        </p:nvSpPr>
        <p:spPr>
          <a:xfrm>
            <a:off x="7132320" y="1280160"/>
            <a:ext cx="4480560" cy="14630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38060" y="1760220"/>
            <a:ext cx="502920" cy="502920"/>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4181A"/>
                </a:solidFill>
                <a:latin typeface="Arial Black"/>
              </a:rPr>
              <a:t>1</a:t>
            </a:r>
          </a:p>
        </p:txBody>
      </p:sp>
      <p:sp>
        <p:nvSpPr>
          <p:cNvPr id="10" name="TextBox 9"/>
          <p:cNvSpPr txBox="1"/>
          <p:nvPr/>
        </p:nvSpPr>
        <p:spPr>
          <a:xfrm>
            <a:off x="7955279" y="1371600"/>
            <a:ext cx="3566160" cy="1325880"/>
          </a:xfrm>
          <a:prstGeom prst="rect">
            <a:avLst/>
          </a:prstGeom>
          <a:noFill/>
        </p:spPr>
        <p:txBody>
          <a:bodyPr wrap="square" lIns="36576" rIns="36576" tIns="18288" bIns="18288" anchor="ctr">
            <a:spAutoFit/>
          </a:bodyPr>
          <a:lstStyle/>
          <a:p>
            <a:pPr algn="l">
              <a:spcAft>
                <a:spcPts val="200"/>
              </a:spcAft>
            </a:pPr>
            <a:r>
              <a:rPr sz="1700" b="1" i="0">
                <a:solidFill>
                  <a:srgbClr val="14181A"/>
                </a:solidFill>
                <a:latin typeface="Calibri"/>
              </a:rPr>
              <a:t>Latency and jitter localized</a:t>
            </a:r>
          </a:p>
          <a:p>
            <a:pPr algn="l">
              <a:spcAft>
                <a:spcPts val="200"/>
              </a:spcAft>
            </a:pPr>
            <a:r>
              <a:rPr sz="1400" b="0" i="0">
                <a:solidFill>
                  <a:srgbClr val="14181A"/>
                </a:solidFill>
                <a:latin typeface="Calibri"/>
              </a:rPr>
              <a:t>when a claim was made (one jitter claim was a false attribution)</a:t>
            </a:r>
          </a:p>
        </p:txBody>
      </p:sp>
      <p:sp>
        <p:nvSpPr>
          <p:cNvPr id="11" name="card shadow"/>
          <p:cNvSpPr/>
          <p:nvPr/>
        </p:nvSpPr>
        <p:spPr>
          <a:xfrm>
            <a:off x="7196328" y="2990088"/>
            <a:ext cx="4480560" cy="14630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d"/>
          <p:cNvSpPr/>
          <p:nvPr/>
        </p:nvSpPr>
        <p:spPr>
          <a:xfrm>
            <a:off x="7132320" y="2926080"/>
            <a:ext cx="4480560" cy="14630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38060" y="3406140"/>
            <a:ext cx="502920" cy="502920"/>
          </a:xfrm>
          <a:prstGeom prst="ellipse">
            <a:avLst/>
          </a:prstGeom>
          <a:solidFill>
            <a:srgbClr val="FF6B4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4181A"/>
                </a:solidFill>
                <a:latin typeface="Arial Black"/>
              </a:rPr>
              <a:t>2</a:t>
            </a:r>
          </a:p>
        </p:txBody>
      </p:sp>
      <p:sp>
        <p:nvSpPr>
          <p:cNvPr id="14" name="TextBox 13"/>
          <p:cNvSpPr txBox="1"/>
          <p:nvPr/>
        </p:nvSpPr>
        <p:spPr>
          <a:xfrm>
            <a:off x="7955279" y="3017520"/>
            <a:ext cx="3566160" cy="1325880"/>
          </a:xfrm>
          <a:prstGeom prst="rect">
            <a:avLst/>
          </a:prstGeom>
          <a:noFill/>
        </p:spPr>
        <p:txBody>
          <a:bodyPr wrap="square" lIns="36576" rIns="36576" tIns="18288" bIns="18288" anchor="ctr">
            <a:spAutoFit/>
          </a:bodyPr>
          <a:lstStyle/>
          <a:p>
            <a:pPr algn="l">
              <a:spcAft>
                <a:spcPts val="200"/>
              </a:spcAft>
            </a:pPr>
            <a:r>
              <a:rPr sz="1700" b="1" i="0">
                <a:solidFill>
                  <a:srgbClr val="14181A"/>
                </a:solidFill>
                <a:latin typeface="Calibri"/>
              </a:rPr>
              <a:t>Loss and bandwidth: 0 of 4</a:t>
            </a:r>
          </a:p>
          <a:p>
            <a:pPr algn="l">
              <a:spcAft>
                <a:spcPts val="200"/>
              </a:spcAft>
            </a:pPr>
            <a:r>
              <a:rPr sz="1400" b="0" i="0">
                <a:solidFill>
                  <a:srgbClr val="14181A"/>
                </a:solidFill>
                <a:latin typeface="Calibri"/>
              </a:rPr>
              <a:t>held-out; also 0 of 4 on the Phase 4b tuning set</a:t>
            </a:r>
          </a:p>
        </p:txBody>
      </p:sp>
      <p:sp>
        <p:nvSpPr>
          <p:cNvPr id="15" name="card shadow"/>
          <p:cNvSpPr/>
          <p:nvPr/>
        </p:nvSpPr>
        <p:spPr>
          <a:xfrm>
            <a:off x="7196328" y="4636008"/>
            <a:ext cx="4480560" cy="14630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cNvSpPr/>
          <p:nvPr/>
        </p:nvSpPr>
        <p:spPr>
          <a:xfrm>
            <a:off x="7132320" y="4572000"/>
            <a:ext cx="4480560" cy="146304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8060" y="5052059"/>
            <a:ext cx="502920" cy="502920"/>
          </a:xfrm>
          <a:prstGeom prst="ellipse">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4181A"/>
                </a:solidFill>
                <a:latin typeface="Arial Black"/>
              </a:rPr>
              <a:t>3</a:t>
            </a:r>
          </a:p>
        </p:txBody>
      </p:sp>
      <p:sp>
        <p:nvSpPr>
          <p:cNvPr id="18" name="TextBox 17"/>
          <p:cNvSpPr txBox="1"/>
          <p:nvPr/>
        </p:nvSpPr>
        <p:spPr>
          <a:xfrm>
            <a:off x="7955279" y="4663440"/>
            <a:ext cx="3566160" cy="1325880"/>
          </a:xfrm>
          <a:prstGeom prst="rect">
            <a:avLst/>
          </a:prstGeom>
          <a:noFill/>
        </p:spPr>
        <p:txBody>
          <a:bodyPr wrap="square" lIns="36576" rIns="36576" tIns="18288" bIns="18288" anchor="ctr">
            <a:spAutoFit/>
          </a:bodyPr>
          <a:lstStyle/>
          <a:p>
            <a:pPr algn="l">
              <a:spcAft>
                <a:spcPts val="200"/>
              </a:spcAft>
            </a:pPr>
            <a:r>
              <a:rPr sz="1700" b="1" i="0">
                <a:solidFill>
                  <a:srgbClr val="14181A"/>
                </a:solidFill>
                <a:latin typeface="Calibri"/>
              </a:rPr>
              <a:t>Small samples</a:t>
            </a:r>
          </a:p>
          <a:p>
            <a:pPr algn="l">
              <a:spcAft>
                <a:spcPts val="200"/>
              </a:spcAft>
            </a:pPr>
            <a:r>
              <a:rPr sz="1400" b="0" i="0">
                <a:solidFill>
                  <a:srgbClr val="14181A"/>
                </a:solidFill>
                <a:latin typeface="Calibri"/>
              </a:rPr>
              <a:t>one trial moves a rate by 8.3 points; 4/4 has a 95% interval of 51–100%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Limitations and threats to validity</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16</a:t>
            </a:r>
          </a:p>
        </p:txBody>
      </p:sp>
      <p:sp>
        <p:nvSpPr>
          <p:cNvPr id="5" name="card shadow"/>
          <p:cNvSpPr/>
          <p:nvPr/>
        </p:nvSpPr>
        <p:spPr>
          <a:xfrm>
            <a:off x="612647" y="1344168"/>
            <a:ext cx="3566160" cy="2331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p:cNvSpPr/>
          <p:nvPr/>
        </p:nvSpPr>
        <p:spPr>
          <a:xfrm>
            <a:off x="548640" y="1280160"/>
            <a:ext cx="3566160" cy="2331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4380" y="1485899"/>
            <a:ext cx="777240" cy="777240"/>
          </a:xfrm>
          <a:prstGeom prst="ellipse">
            <a:avLst/>
          </a:prstGeom>
          <a:solidFill>
            <a:srgbClr val="FF6B4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a:t>
            </a:r>
          </a:p>
        </p:txBody>
      </p:sp>
      <p:sp>
        <p:nvSpPr>
          <p:cNvPr id="8" name="TextBox 7"/>
          <p:cNvSpPr txBox="1"/>
          <p:nvPr/>
        </p:nvSpPr>
        <p:spPr>
          <a:xfrm>
            <a:off x="1645919" y="1463039"/>
            <a:ext cx="2331720" cy="822960"/>
          </a:xfrm>
          <a:prstGeom prst="rect">
            <a:avLst/>
          </a:prstGeom>
          <a:noFill/>
        </p:spPr>
        <p:txBody>
          <a:bodyPr wrap="square" lIns="36576" rIns="36576" tIns="18288" bIns="18288" anchor="ctr">
            <a:spAutoFit/>
          </a:bodyPr>
          <a:lstStyle/>
          <a:p>
            <a:pPr algn="l">
              <a:spcAft>
                <a:spcPts val="0"/>
              </a:spcAft>
            </a:pPr>
            <a:r>
              <a:rPr sz="1700" b="1" i="0">
                <a:solidFill>
                  <a:srgbClr val="14181A"/>
                </a:solidFill>
                <a:latin typeface="Calibri"/>
              </a:rPr>
              <a:t>No independent validation</a:t>
            </a:r>
          </a:p>
        </p:txBody>
      </p:sp>
      <p:sp>
        <p:nvSpPr>
          <p:cNvPr id="9" name="TextBox 8"/>
          <p:cNvSpPr txBox="1"/>
          <p:nvPr/>
        </p:nvSpPr>
        <p:spPr>
          <a:xfrm>
            <a:off x="777240" y="2377439"/>
            <a:ext cx="3108960" cy="118872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Phase 4 missed its target; Phase 4b ran on an exposed set; the sealed evaluation (spec Phase 5) has not been run</a:t>
            </a:r>
          </a:p>
        </p:txBody>
      </p:sp>
      <p:sp>
        <p:nvSpPr>
          <p:cNvPr id="10" name="card shadow"/>
          <p:cNvSpPr/>
          <p:nvPr/>
        </p:nvSpPr>
        <p:spPr>
          <a:xfrm>
            <a:off x="4361688" y="1344168"/>
            <a:ext cx="3566160" cy="2331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p:cNvSpPr/>
          <p:nvPr/>
        </p:nvSpPr>
        <p:spPr>
          <a:xfrm>
            <a:off x="4297679" y="1280160"/>
            <a:ext cx="3566160" cy="2331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03420" y="1485899"/>
            <a:ext cx="777240" cy="777240"/>
          </a:xfrm>
          <a:prstGeom prst="ellipse">
            <a:avLst/>
          </a:prstGeom>
          <a:solidFill>
            <a:srgbClr val="FFD23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181A"/>
                </a:solidFill>
                <a:latin typeface="Arial Black"/>
              </a:rPr>
              <a:t>0/4</a:t>
            </a:r>
          </a:p>
        </p:txBody>
      </p:sp>
      <p:sp>
        <p:nvSpPr>
          <p:cNvPr id="13" name="TextBox 12"/>
          <p:cNvSpPr txBox="1"/>
          <p:nvPr/>
        </p:nvSpPr>
        <p:spPr>
          <a:xfrm>
            <a:off x="5394959" y="1463039"/>
            <a:ext cx="2331720" cy="822960"/>
          </a:xfrm>
          <a:prstGeom prst="rect">
            <a:avLst/>
          </a:prstGeom>
          <a:noFill/>
        </p:spPr>
        <p:txBody>
          <a:bodyPr wrap="square" lIns="36576" rIns="36576" tIns="18288" bIns="18288" anchor="ctr">
            <a:spAutoFit/>
          </a:bodyPr>
          <a:lstStyle/>
          <a:p>
            <a:pPr algn="l">
              <a:spcAft>
                <a:spcPts val="0"/>
              </a:spcAft>
            </a:pPr>
            <a:r>
              <a:rPr sz="1700" b="1" i="0">
                <a:solidFill>
                  <a:srgbClr val="14181A"/>
                </a:solidFill>
                <a:latin typeface="Calibri"/>
              </a:rPr>
              <a:t>Loss and bandwidth</a:t>
            </a:r>
          </a:p>
        </p:txBody>
      </p:sp>
      <p:sp>
        <p:nvSpPr>
          <p:cNvPr id="14" name="TextBox 13"/>
          <p:cNvSpPr txBox="1"/>
          <p:nvPr/>
        </p:nvSpPr>
        <p:spPr>
          <a:xfrm>
            <a:off x="4526279" y="2377439"/>
            <a:ext cx="3108960" cy="118872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Not localized (held-out and tuning). Bandwidth observability with current probe load is unproven</a:t>
            </a:r>
          </a:p>
        </p:txBody>
      </p:sp>
      <p:sp>
        <p:nvSpPr>
          <p:cNvPr id="15" name="card shadow"/>
          <p:cNvSpPr/>
          <p:nvPr/>
        </p:nvSpPr>
        <p:spPr>
          <a:xfrm>
            <a:off x="8110727" y="1344168"/>
            <a:ext cx="3566160" cy="2331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p:cNvSpPr/>
          <p:nvPr/>
        </p:nvSpPr>
        <p:spPr>
          <a:xfrm>
            <a:off x="8046719" y="1280160"/>
            <a:ext cx="3566160" cy="2331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52459" y="1485899"/>
            <a:ext cx="777240" cy="777240"/>
          </a:xfrm>
          <a:prstGeom prst="ellipse">
            <a:avLst/>
          </a:prstGeom>
          <a:solidFill>
            <a:srgbClr val="2FD3E0"/>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a:t>
            </a:r>
          </a:p>
        </p:txBody>
      </p:sp>
      <p:sp>
        <p:nvSpPr>
          <p:cNvPr id="18" name="TextBox 17"/>
          <p:cNvSpPr txBox="1"/>
          <p:nvPr/>
        </p:nvSpPr>
        <p:spPr>
          <a:xfrm>
            <a:off x="9143999" y="1463039"/>
            <a:ext cx="2331720" cy="822960"/>
          </a:xfrm>
          <a:prstGeom prst="rect">
            <a:avLst/>
          </a:prstGeom>
          <a:noFill/>
        </p:spPr>
        <p:txBody>
          <a:bodyPr wrap="square" lIns="36576" rIns="36576" tIns="18288" bIns="18288" anchor="ctr">
            <a:spAutoFit/>
          </a:bodyPr>
          <a:lstStyle/>
          <a:p>
            <a:pPr algn="l">
              <a:spcAft>
                <a:spcPts val="0"/>
              </a:spcAft>
            </a:pPr>
            <a:r>
              <a:rPr sz="1700" b="1" i="0">
                <a:solidFill>
                  <a:srgbClr val="14181A"/>
                </a:solidFill>
                <a:latin typeface="Calibri"/>
              </a:rPr>
              <a:t>Confidence is a heuristic</a:t>
            </a:r>
          </a:p>
        </p:txBody>
      </p:sp>
      <p:sp>
        <p:nvSpPr>
          <p:cNvPr id="19" name="TextBox 18"/>
          <p:cNvSpPr txBox="1"/>
          <p:nvPr/>
        </p:nvSpPr>
        <p:spPr>
          <a:xfrm>
            <a:off x="8275319" y="2377439"/>
            <a:ext cx="3108960" cy="118872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Fixed formula, uncalibrated, not a probability; it falls only when hops are unknown</a:t>
            </a:r>
          </a:p>
        </p:txBody>
      </p:sp>
      <p:sp>
        <p:nvSpPr>
          <p:cNvPr id="20" name="card shadow"/>
          <p:cNvSpPr/>
          <p:nvPr/>
        </p:nvSpPr>
        <p:spPr>
          <a:xfrm>
            <a:off x="612647" y="3904487"/>
            <a:ext cx="3566160" cy="2331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d"/>
          <p:cNvSpPr/>
          <p:nvPr/>
        </p:nvSpPr>
        <p:spPr>
          <a:xfrm>
            <a:off x="548640" y="3840479"/>
            <a:ext cx="3566160" cy="2331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4380" y="4046220"/>
            <a:ext cx="777240" cy="777240"/>
          </a:xfrm>
          <a:prstGeom prst="ellipse">
            <a:avLst/>
          </a:prstGeom>
          <a:solidFill>
            <a:srgbClr val="B4FF3D"/>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a:t>
            </a:r>
          </a:p>
        </p:txBody>
      </p:sp>
      <p:sp>
        <p:nvSpPr>
          <p:cNvPr id="23" name="TextBox 22"/>
          <p:cNvSpPr txBox="1"/>
          <p:nvPr/>
        </p:nvSpPr>
        <p:spPr>
          <a:xfrm>
            <a:off x="1645919" y="4023359"/>
            <a:ext cx="2331720" cy="822960"/>
          </a:xfrm>
          <a:prstGeom prst="rect">
            <a:avLst/>
          </a:prstGeom>
          <a:noFill/>
        </p:spPr>
        <p:txBody>
          <a:bodyPr wrap="square" lIns="36576" rIns="36576" tIns="18288" bIns="18288" anchor="ctr">
            <a:spAutoFit/>
          </a:bodyPr>
          <a:lstStyle/>
          <a:p>
            <a:pPr algn="l">
              <a:spcAft>
                <a:spcPts val="0"/>
              </a:spcAft>
            </a:pPr>
            <a:r>
              <a:rPr sz="1700" b="1" i="0">
                <a:solidFill>
                  <a:srgbClr val="14181A"/>
                </a:solidFill>
                <a:latin typeface="Calibri"/>
              </a:rPr>
              <a:t>Unknown ≠ healthy</a:t>
            </a:r>
          </a:p>
        </p:txBody>
      </p:sp>
      <p:sp>
        <p:nvSpPr>
          <p:cNvPr id="24" name="TextBox 23"/>
          <p:cNvSpPr txBox="1"/>
          <p:nvPr/>
        </p:nvSpPr>
        <p:spPr>
          <a:xfrm>
            <a:off x="777240" y="4937759"/>
            <a:ext cx="3108960" cy="118872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No onset can mean healthy, a long fault, or too little data; there is no “insufficient data” state</a:t>
            </a:r>
          </a:p>
        </p:txBody>
      </p:sp>
      <p:sp>
        <p:nvSpPr>
          <p:cNvPr id="25" name="card shadow"/>
          <p:cNvSpPr/>
          <p:nvPr/>
        </p:nvSpPr>
        <p:spPr>
          <a:xfrm>
            <a:off x="4361688" y="3904487"/>
            <a:ext cx="3566160" cy="2331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
          <p:cNvSpPr/>
          <p:nvPr/>
        </p:nvSpPr>
        <p:spPr>
          <a:xfrm>
            <a:off x="4297679" y="3840479"/>
            <a:ext cx="3566160" cy="2331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03420" y="4046220"/>
            <a:ext cx="777240" cy="777240"/>
          </a:xfrm>
          <a:prstGeom prst="ellipse">
            <a:avLst/>
          </a:prstGeom>
          <a:solidFill>
            <a:srgbClr val="6A4D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Arial Black"/>
              </a:rPr>
              <a:t>→</a:t>
            </a:r>
          </a:p>
        </p:txBody>
      </p:sp>
      <p:sp>
        <p:nvSpPr>
          <p:cNvPr id="28" name="TextBox 27"/>
          <p:cNvSpPr txBox="1"/>
          <p:nvPr/>
        </p:nvSpPr>
        <p:spPr>
          <a:xfrm>
            <a:off x="5394959" y="4023359"/>
            <a:ext cx="2331720" cy="822960"/>
          </a:xfrm>
          <a:prstGeom prst="rect">
            <a:avLst/>
          </a:prstGeom>
          <a:noFill/>
        </p:spPr>
        <p:txBody>
          <a:bodyPr wrap="square" lIns="36576" rIns="36576" tIns="18288" bIns="18288" anchor="ctr">
            <a:spAutoFit/>
          </a:bodyPr>
          <a:lstStyle/>
          <a:p>
            <a:pPr algn="l">
              <a:spcAft>
                <a:spcPts val="0"/>
              </a:spcAft>
            </a:pPr>
            <a:r>
              <a:rPr sz="1700" b="1" i="0">
                <a:solidFill>
                  <a:srgbClr val="14181A"/>
                </a:solidFill>
                <a:latin typeface="Calibri"/>
              </a:rPr>
              <a:t>Correlation ≠ causation</a:t>
            </a:r>
          </a:p>
        </p:txBody>
      </p:sp>
      <p:sp>
        <p:nvSpPr>
          <p:cNvPr id="29" name="TextBox 28"/>
          <p:cNvSpPr txBox="1"/>
          <p:nvPr/>
        </p:nvSpPr>
        <p:spPr>
          <a:xfrm>
            <a:off x="4526279" y="4937759"/>
            <a:ext cx="3108960" cy="118872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Timing evidence only. The 1.5 s window and 500 ms resolution are fixed and unvalidated</a:t>
            </a:r>
          </a:p>
        </p:txBody>
      </p:sp>
      <p:sp>
        <p:nvSpPr>
          <p:cNvPr id="30" name="card shadow"/>
          <p:cNvSpPr/>
          <p:nvPr/>
        </p:nvSpPr>
        <p:spPr>
          <a:xfrm>
            <a:off x="8110727" y="3904487"/>
            <a:ext cx="3566160" cy="233172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ard"/>
          <p:cNvSpPr/>
          <p:nvPr/>
        </p:nvSpPr>
        <p:spPr>
          <a:xfrm>
            <a:off x="8046719" y="3840479"/>
            <a:ext cx="3566160" cy="233172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52459" y="4046220"/>
            <a:ext cx="777240" cy="777240"/>
          </a:xfrm>
          <a:prstGeom prst="ellipse">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4181A"/>
                </a:solidFill>
                <a:latin typeface="Arial Black"/>
              </a:rPr>
              <a:t>12</a:t>
            </a:r>
          </a:p>
        </p:txBody>
      </p:sp>
      <p:sp>
        <p:nvSpPr>
          <p:cNvPr id="33" name="TextBox 32"/>
          <p:cNvSpPr txBox="1"/>
          <p:nvPr/>
        </p:nvSpPr>
        <p:spPr>
          <a:xfrm>
            <a:off x="9143999" y="4023359"/>
            <a:ext cx="2331720" cy="822960"/>
          </a:xfrm>
          <a:prstGeom prst="rect">
            <a:avLst/>
          </a:prstGeom>
          <a:noFill/>
        </p:spPr>
        <p:txBody>
          <a:bodyPr wrap="square" lIns="36576" rIns="36576" tIns="18288" bIns="18288" anchor="ctr">
            <a:spAutoFit/>
          </a:bodyPr>
          <a:lstStyle/>
          <a:p>
            <a:pPr algn="l">
              <a:spcAft>
                <a:spcPts val="0"/>
              </a:spcAft>
            </a:pPr>
            <a:r>
              <a:rPr sz="1700" b="1" i="0">
                <a:solidFill>
                  <a:srgbClr val="14181A"/>
                </a:solidFill>
                <a:latin typeface="Calibri"/>
              </a:rPr>
              <a:t>Small, controlled setting</a:t>
            </a:r>
          </a:p>
        </p:txBody>
      </p:sp>
      <p:sp>
        <p:nvSpPr>
          <p:cNvPr id="34" name="TextBox 33"/>
          <p:cNvSpPr txBox="1"/>
          <p:nvPr/>
        </p:nvSpPr>
        <p:spPr>
          <a:xfrm>
            <a:off x="8275319" y="4937759"/>
            <a:ext cx="3108960" cy="1188720"/>
          </a:xfrm>
          <a:prstGeom prst="rect">
            <a:avLst/>
          </a:prstGeom>
          <a:noFill/>
        </p:spPr>
        <p:txBody>
          <a:bodyPr wrap="square" lIns="36576" rIns="36576" tIns="18288" bIns="18288" anchor="t">
            <a:spAutoFit/>
          </a:bodyPr>
          <a:lstStyle/>
          <a:p>
            <a:pPr algn="l">
              <a:spcAft>
                <a:spcPts val="0"/>
              </a:spcAft>
            </a:pPr>
            <a:r>
              <a:rPr sz="1500" b="0" i="0">
                <a:solidFill>
                  <a:srgbClr val="14181A"/>
                </a:solidFill>
                <a:latin typeface="Calibri"/>
              </a:rPr>
              <a:t>12 + 12 + 10 trials vs a 120-trial spec; one linear path; ICMP rate limit switched off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Conclusion and future work</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17</a:t>
            </a:r>
          </a:p>
        </p:txBody>
      </p:sp>
      <p:sp>
        <p:nvSpPr>
          <p:cNvPr id="5" name="conclusion shadow"/>
          <p:cNvSpPr/>
          <p:nvPr/>
        </p:nvSpPr>
        <p:spPr>
          <a:xfrm>
            <a:off x="612647" y="1389888"/>
            <a:ext cx="5486400" cy="49377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clusion"/>
          <p:cNvSpPr/>
          <p:nvPr/>
        </p:nvSpPr>
        <p:spPr>
          <a:xfrm>
            <a:off x="548640" y="1325880"/>
            <a:ext cx="5486400" cy="49377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89888"/>
            <a:ext cx="5029200" cy="411480"/>
          </a:xfrm>
          <a:prstGeom prst="rect">
            <a:avLst/>
          </a:prstGeom>
          <a:noFill/>
        </p:spPr>
        <p:txBody>
          <a:bodyPr wrap="square" lIns="36576" rIns="36576" tIns="18288" bIns="18288" anchor="t">
            <a:spAutoFit/>
          </a:bodyPr>
          <a:lstStyle/>
          <a:p>
            <a:pPr algn="l">
              <a:spcAft>
                <a:spcPts val="0"/>
              </a:spcAft>
            </a:pPr>
            <a:r>
              <a:rPr sz="2100" b="1" i="0">
                <a:solidFill>
                  <a:srgbClr val="14181A"/>
                </a:solidFill>
                <a:latin typeface="Calibri"/>
              </a:rPr>
              <a:t>What HOPTRACE shows</a:t>
            </a:r>
          </a:p>
        </p:txBody>
      </p:sp>
      <p:sp>
        <p:nvSpPr>
          <p:cNvPr id="8" name="TextBox 7"/>
          <p:cNvSpPr txBox="1"/>
          <p:nvPr/>
        </p:nvSpPr>
        <p:spPr>
          <a:xfrm>
            <a:off x="777240" y="1920240"/>
            <a:ext cx="5074920" cy="4297680"/>
          </a:xfrm>
          <a:prstGeom prst="rect">
            <a:avLst/>
          </a:prstGeom>
          <a:noFill/>
        </p:spPr>
        <p:txBody>
          <a:bodyPr wrap="square" lIns="36576" rIns="36576" tIns="18288" bIns="18288" anchor="t">
            <a:spAutoFit/>
          </a:bodyPr>
          <a:lstStyle/>
          <a:p>
            <a:pPr algn="l">
              <a:spcAft>
                <a:spcPts val="1200"/>
              </a:spcAft>
            </a:pPr>
            <a:r>
              <a:rPr sz="1800" b="1" i="0">
                <a:solidFill>
                  <a:srgbClr val="14181A"/>
                </a:solidFill>
                <a:latin typeface="Calibri"/>
              </a:rPr>
              <a:t>•  </a:t>
            </a:r>
            <a:r>
              <a:rPr sz="1800" b="0" i="0">
                <a:solidFill>
                  <a:srgbClr val="14181A"/>
                </a:solidFill>
                <a:latin typeface="Calibri"/>
              </a:rPr>
              <a:t>App RTT and per-hop RTT can be compared on one shared clock to estimate where degradation appears to begin</a:t>
            </a:r>
          </a:p>
          <a:p>
            <a:pPr algn="l">
              <a:spcAft>
                <a:spcPts val="1200"/>
              </a:spcAft>
            </a:pPr>
            <a:r>
              <a:rPr sz="1800" b="1" i="0">
                <a:solidFill>
                  <a:srgbClr val="14181A"/>
                </a:solidFill>
                <a:latin typeface="Calibri"/>
              </a:rPr>
              <a:t>•  </a:t>
            </a:r>
            <a:r>
              <a:rPr sz="1800" b="0" i="0">
                <a:solidFill>
                  <a:srgbClr val="14181A"/>
                </a:solidFill>
                <a:latin typeface="Calibri"/>
              </a:rPr>
              <a:t>It runs end to end: testbed, prober, WebSocket app, isolated fault controller, engine, dashboard</a:t>
            </a:r>
          </a:p>
          <a:p>
            <a:pPr algn="l">
              <a:spcAft>
                <a:spcPts val="1200"/>
              </a:spcAft>
            </a:pPr>
            <a:r>
              <a:rPr sz="1800" b="1" i="0">
                <a:solidFill>
                  <a:srgbClr val="14181A"/>
                </a:solidFill>
                <a:latin typeface="Calibri"/>
              </a:rPr>
              <a:t>•  </a:t>
            </a:r>
            <a:r>
              <a:rPr sz="1800" b="0" i="0">
                <a:solidFill>
                  <a:srgbClr val="14181A"/>
                </a:solidFill>
                <a:latin typeface="Calibri"/>
              </a:rPr>
              <a:t>It is honest about failure: the independent run missed its target and the interface says so</a:t>
            </a:r>
          </a:p>
          <a:p>
            <a:pPr algn="l">
              <a:spcAft>
                <a:spcPts val="1200"/>
              </a:spcAft>
            </a:pPr>
            <a:r>
              <a:rPr sz="1800" b="1" i="0">
                <a:solidFill>
                  <a:srgbClr val="14181A"/>
                </a:solidFill>
                <a:latin typeface="Calibri"/>
              </a:rPr>
              <a:t>•  </a:t>
            </a:r>
            <a:r>
              <a:rPr sz="1800" b="0" i="0">
                <a:solidFill>
                  <a:srgbClr val="14181A"/>
                </a:solidFill>
                <a:latin typeface="Calibri"/>
              </a:rPr>
              <a:t>It claims timing evidence, never a cause</a:t>
            </a:r>
          </a:p>
        </p:txBody>
      </p:sp>
      <p:sp>
        <p:nvSpPr>
          <p:cNvPr id="9" name="future shadow"/>
          <p:cNvSpPr/>
          <p:nvPr/>
        </p:nvSpPr>
        <p:spPr>
          <a:xfrm>
            <a:off x="6373368" y="1389888"/>
            <a:ext cx="5303520" cy="49377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uture"/>
          <p:cNvSpPr/>
          <p:nvPr/>
        </p:nvSpPr>
        <p:spPr>
          <a:xfrm>
            <a:off x="6309360" y="1325880"/>
            <a:ext cx="5303520" cy="4937760"/>
          </a:xfrm>
          <a:prstGeom prst="roundRect">
            <a:avLst>
              <a:gd name="adj" fmla="val 12000"/>
            </a:avLst>
          </a:prstGeom>
          <a:solidFill>
            <a:srgbClr val="D9F7F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389888"/>
            <a:ext cx="484632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Future work (recorded, not yet authorized)</a:t>
            </a:r>
          </a:p>
        </p:txBody>
      </p:sp>
      <p:sp>
        <p:nvSpPr>
          <p:cNvPr id="12" name="TextBox 11"/>
          <p:cNvSpPr txBox="1"/>
          <p:nvPr/>
        </p:nvSpPr>
        <p:spPr>
          <a:xfrm>
            <a:off x="6537960" y="1920240"/>
            <a:ext cx="4892040" cy="4297680"/>
          </a:xfrm>
          <a:prstGeom prst="rect">
            <a:avLst/>
          </a:prstGeom>
          <a:noFill/>
        </p:spPr>
        <p:txBody>
          <a:bodyPr wrap="square" lIns="36576" rIns="36576" tIns="18288" bIns="18288" anchor="t">
            <a:spAutoFit/>
          </a:bodyPr>
          <a:lstStyle/>
          <a:p>
            <a:pPr algn="l">
              <a:spcAft>
                <a:spcPts val="1200"/>
              </a:spcAft>
            </a:pPr>
            <a:r>
              <a:rPr sz="1800" b="1" i="0">
                <a:solidFill>
                  <a:srgbClr val="14181A"/>
                </a:solidFill>
                <a:latin typeface="Consolas"/>
              </a:rPr>
              <a:t>1  </a:t>
            </a:r>
            <a:r>
              <a:rPr sz="1800" b="0" i="0">
                <a:solidFill>
                  <a:srgbClr val="14181A"/>
                </a:solidFill>
                <a:latin typeface="Calibri"/>
              </a:rPr>
              <a:t>Sealed evaluation set + calibration check (spec Phase 5)</a:t>
            </a:r>
          </a:p>
          <a:p>
            <a:pPr algn="l">
              <a:spcAft>
                <a:spcPts val="1200"/>
              </a:spcAft>
            </a:pPr>
            <a:r>
              <a:rPr sz="1800" b="1" i="0">
                <a:solidFill>
                  <a:srgbClr val="14181A"/>
                </a:solidFill>
                <a:latin typeface="Consolas"/>
              </a:rPr>
              <a:t>2  </a:t>
            </a:r>
            <a:r>
              <a:rPr sz="1800" b="0" i="0">
                <a:solidFill>
                  <a:srgbClr val="14181A"/>
                </a:solidFill>
                <a:latin typeface="Calibri"/>
              </a:rPr>
              <a:t>Is bandwidth observable with controlled background traffic?</a:t>
            </a:r>
          </a:p>
          <a:p>
            <a:pPr algn="l">
              <a:spcAft>
                <a:spcPts val="1200"/>
              </a:spcAft>
            </a:pPr>
            <a:r>
              <a:rPr sz="1800" b="1" i="0">
                <a:solidFill>
                  <a:srgbClr val="14181A"/>
                </a:solidFill>
                <a:latin typeface="Consolas"/>
              </a:rPr>
              <a:t>3  </a:t>
            </a:r>
            <a:r>
              <a:rPr sz="1800" b="0" i="0">
                <a:solidFill>
                  <a:srgbClr val="14181A"/>
                </a:solidFill>
                <a:latin typeface="Calibri"/>
              </a:rPr>
              <a:t>An explicit “insufficient data” result state</a:t>
            </a:r>
          </a:p>
          <a:p>
            <a:pPr algn="l">
              <a:spcAft>
                <a:spcPts val="1200"/>
              </a:spcAft>
            </a:pPr>
            <a:r>
              <a:rPr sz="1800" b="1" i="0">
                <a:solidFill>
                  <a:srgbClr val="14181A"/>
                </a:solidFill>
                <a:latin typeface="Consolas"/>
              </a:rPr>
              <a:t>4  </a:t>
            </a:r>
            <a:r>
              <a:rPr sz="1800" b="0" i="0">
                <a:solidFill>
                  <a:srgbClr val="14181A"/>
                </a:solidFill>
                <a:latin typeface="Calibri"/>
              </a:rPr>
              <a:t>Validate the 1.5 s window and global-baseline assumption</a:t>
            </a:r>
          </a:p>
          <a:p>
            <a:pPr algn="l">
              <a:spcAft>
                <a:spcPts val="1200"/>
              </a:spcAft>
            </a:pPr>
            <a:r>
              <a:rPr sz="1800" b="1" i="0">
                <a:solidFill>
                  <a:srgbClr val="14181A"/>
                </a:solidFill>
                <a:latin typeface="Consolas"/>
              </a:rPr>
              <a:t>5  </a:t>
            </a:r>
            <a:r>
              <a:rPr sz="1800" b="0" i="0">
                <a:solidFill>
                  <a:srgbClr val="14181A"/>
                </a:solidFill>
                <a:latin typeface="Calibri"/>
              </a:rPr>
              <a:t>Offline, cross-browser and clean-clone tests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anchor="ctr" lIns="0" rIns="0"/>
          <a:lstStyle/>
          <a:p>
            <a:pPr algn="l"/>
            <a:r>
              <a:rPr sz="3200" b="0">
                <a:solidFill>
                  <a:srgbClr val="14181A"/>
                </a:solidFill>
                <a:latin typeface="Arial Black"/>
              </a:rPr>
              <a:t>References and questions</a:t>
            </a:r>
          </a:p>
        </p:txBody>
      </p:sp>
      <p:sp>
        <p:nvSpPr>
          <p:cNvPr id="3" name="TextBox 2"/>
          <p:cNvSpPr txBox="1"/>
          <p:nvPr/>
        </p:nvSpPr>
        <p:spPr>
          <a:xfrm>
            <a:off x="548640" y="6455664"/>
            <a:ext cx="8229600" cy="274320"/>
          </a:xfrm>
          <a:prstGeom prst="rect">
            <a:avLst/>
          </a:prstGeom>
          <a:noFill/>
        </p:spPr>
        <p:txBody>
          <a:bodyPr wrap="square" lIns="36576" rIns="36576" tIns="18288" bIns="18288" anchor="t">
            <a:spAutoFit/>
          </a:bodyPr>
          <a:lstStyle/>
          <a:p>
            <a:pPr algn="l">
              <a:spcAft>
                <a:spcPts val="0"/>
              </a:spcAft>
            </a:pPr>
            <a:r>
              <a:rPr sz="1000" b="0" i="0">
                <a:solidFill>
                  <a:srgbClr val="3D4D55"/>
                </a:solidFill>
                <a:latin typeface="Calibri"/>
              </a:rPr>
              <a:t>HOPTRACE · BCSE308P Computer Networks Lab · Krish Chirag Shah · 24BCE0624</a:t>
            </a:r>
          </a:p>
        </p:txBody>
      </p:sp>
      <p:sp>
        <p:nvSpPr>
          <p:cNvPr id="4" name="TextBox 3"/>
          <p:cNvSpPr txBox="1"/>
          <p:nvPr/>
        </p:nvSpPr>
        <p:spPr>
          <a:xfrm>
            <a:off x="10698480" y="6455664"/>
            <a:ext cx="941832" cy="274320"/>
          </a:xfrm>
          <a:prstGeom prst="rect">
            <a:avLst/>
          </a:prstGeom>
          <a:noFill/>
        </p:spPr>
        <p:txBody>
          <a:bodyPr wrap="square" lIns="36576" rIns="36576" tIns="18288" bIns="18288" anchor="t">
            <a:spAutoFit/>
          </a:bodyPr>
          <a:lstStyle/>
          <a:p>
            <a:pPr algn="r">
              <a:spcAft>
                <a:spcPts val="0"/>
              </a:spcAft>
            </a:pPr>
            <a:r>
              <a:rPr sz="1100" b="1" i="0">
                <a:solidFill>
                  <a:srgbClr val="14181A"/>
                </a:solidFill>
                <a:latin typeface="Consolas"/>
              </a:rPr>
              <a:t>18</a:t>
            </a:r>
          </a:p>
        </p:txBody>
      </p:sp>
      <p:sp>
        <p:nvSpPr>
          <p:cNvPr id="5" name="refs shadow"/>
          <p:cNvSpPr/>
          <p:nvPr/>
        </p:nvSpPr>
        <p:spPr>
          <a:xfrm>
            <a:off x="612647" y="1389888"/>
            <a:ext cx="6949440" cy="493776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fs"/>
          <p:cNvSpPr/>
          <p:nvPr/>
        </p:nvSpPr>
        <p:spPr>
          <a:xfrm>
            <a:off x="548640" y="1325880"/>
            <a:ext cx="6949440" cy="4937760"/>
          </a:xfrm>
          <a:prstGeom prst="roundRect">
            <a:avLst>
              <a:gd name="adj" fmla="val 12000"/>
            </a:avLst>
          </a:prstGeom>
          <a:solidFill>
            <a:srgbClr val="FFFFFF"/>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89888"/>
            <a:ext cx="649224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References (full list in the report)</a:t>
            </a:r>
          </a:p>
        </p:txBody>
      </p:sp>
      <p:sp>
        <p:nvSpPr>
          <p:cNvPr id="8" name="TextBox 7"/>
          <p:cNvSpPr txBox="1"/>
          <p:nvPr/>
        </p:nvSpPr>
        <p:spPr>
          <a:xfrm>
            <a:off x="777240" y="1874519"/>
            <a:ext cx="6537960" cy="4343400"/>
          </a:xfrm>
          <a:prstGeom prst="rect">
            <a:avLst/>
          </a:prstGeom>
          <a:noFill/>
        </p:spPr>
        <p:txBody>
          <a:bodyPr wrap="square" lIns="36576" rIns="36576" tIns="18288" bIns="18288" anchor="t">
            <a:spAutoFit/>
          </a:bodyPr>
          <a:lstStyle/>
          <a:p>
            <a:pPr algn="l">
              <a:spcAft>
                <a:spcPts val="800"/>
              </a:spcAft>
            </a:pPr>
            <a:r>
              <a:rPr sz="1600" b="1" i="0">
                <a:solidFill>
                  <a:srgbClr val="14181A"/>
                </a:solidFill>
                <a:latin typeface="Calibri"/>
              </a:rPr>
              <a:t>•  </a:t>
            </a:r>
            <a:r>
              <a:rPr sz="1600" b="0" i="0">
                <a:solidFill>
                  <a:srgbClr val="14181A"/>
                </a:solidFill>
                <a:latin typeface="Calibri"/>
              </a:rPr>
              <a:t>RFC 6455: The WebSocket Protocol (Fette, Melnikov), 2011</a:t>
            </a:r>
          </a:p>
          <a:p>
            <a:pPr algn="l">
              <a:spcAft>
                <a:spcPts val="800"/>
              </a:spcAft>
            </a:pPr>
            <a:r>
              <a:rPr sz="1600" b="1" i="0">
                <a:solidFill>
                  <a:srgbClr val="14181A"/>
                </a:solidFill>
                <a:latin typeface="Calibri"/>
              </a:rPr>
              <a:t>•  </a:t>
            </a:r>
            <a:r>
              <a:rPr sz="1600" b="0" i="0">
                <a:solidFill>
                  <a:srgbClr val="14181A"/>
                </a:solidFill>
                <a:latin typeface="Calibri"/>
              </a:rPr>
              <a:t>RFC 792: Internet Control Message Protocol (Postel), 1981</a:t>
            </a:r>
          </a:p>
          <a:p>
            <a:pPr algn="l">
              <a:spcAft>
                <a:spcPts val="800"/>
              </a:spcAft>
            </a:pPr>
            <a:r>
              <a:rPr sz="1600" b="1" i="0">
                <a:solidFill>
                  <a:srgbClr val="14181A"/>
                </a:solidFill>
                <a:latin typeface="Calibri"/>
              </a:rPr>
              <a:t>•  </a:t>
            </a:r>
            <a:r>
              <a:rPr sz="1600" b="0" i="0">
                <a:solidFill>
                  <a:srgbClr val="14181A"/>
                </a:solidFill>
                <a:latin typeface="Calibri"/>
              </a:rPr>
              <a:t>RFC 9293: Transmission Control Protocol; RFC 1071: Internet checksum</a:t>
            </a:r>
          </a:p>
          <a:p>
            <a:pPr algn="l">
              <a:spcAft>
                <a:spcPts val="800"/>
              </a:spcAft>
            </a:pPr>
            <a:r>
              <a:rPr sz="1600" b="1" i="0">
                <a:solidFill>
                  <a:srgbClr val="14181A"/>
                </a:solidFill>
                <a:latin typeface="Calibri"/>
              </a:rPr>
              <a:t>•  </a:t>
            </a:r>
            <a:r>
              <a:rPr sz="1600" b="0" i="0">
                <a:solidFill>
                  <a:srgbClr val="14181A"/>
                </a:solidFill>
                <a:latin typeface="Calibri"/>
              </a:rPr>
              <a:t>Linux tc-netem(8), tc-tbf(8), ip-netns(8), veth(4), clock_gettime(2)</a:t>
            </a:r>
          </a:p>
          <a:p>
            <a:pPr algn="l">
              <a:spcAft>
                <a:spcPts val="800"/>
              </a:spcAft>
            </a:pPr>
            <a:r>
              <a:rPr sz="1600" b="1" i="0">
                <a:solidFill>
                  <a:srgbClr val="14181A"/>
                </a:solidFill>
                <a:latin typeface="Calibri"/>
              </a:rPr>
              <a:t>•  </a:t>
            </a:r>
            <a:r>
              <a:rPr sz="1600" b="0" i="0">
                <a:solidFill>
                  <a:srgbClr val="14181A"/>
                </a:solidFill>
                <a:latin typeface="Calibri"/>
              </a:rPr>
              <a:t>Hampel 1974 (MAD); Page 1954 (CUSUM); Adams &amp; MacKay 2007 (BOCPD); Killick et al. 2012 (PELT)</a:t>
            </a:r>
          </a:p>
          <a:p>
            <a:pPr algn="l">
              <a:spcAft>
                <a:spcPts val="800"/>
              </a:spcAft>
            </a:pPr>
            <a:r>
              <a:rPr sz="1600" b="1" i="0">
                <a:solidFill>
                  <a:srgbClr val="14181A"/>
                </a:solidFill>
                <a:latin typeface="Calibri"/>
              </a:rPr>
              <a:t>•  </a:t>
            </a:r>
            <a:r>
              <a:rPr sz="1600" b="0" i="0">
                <a:solidFill>
                  <a:srgbClr val="14181A"/>
                </a:solidFill>
                <a:latin typeface="Calibri"/>
              </a:rPr>
              <a:t>Wilson 1927 (score interval); Brier 1950 (Brier score)</a:t>
            </a:r>
          </a:p>
          <a:p>
            <a:pPr algn="l">
              <a:spcAft>
                <a:spcPts val="800"/>
              </a:spcAft>
            </a:pPr>
            <a:r>
              <a:rPr sz="1600" b="1" i="0">
                <a:solidFill>
                  <a:srgbClr val="14181A"/>
                </a:solidFill>
                <a:latin typeface="Calibri"/>
              </a:rPr>
              <a:t>•  </a:t>
            </a:r>
            <a:r>
              <a:rPr sz="1600" b="0" i="0">
                <a:solidFill>
                  <a:srgbClr val="14181A"/>
                </a:solidFill>
                <a:latin typeface="Calibri"/>
              </a:rPr>
              <a:t>Project: hoptrace-phase-0-5-spec.html, docs/EVIDENCE_LEDGER.md</a:t>
            </a:r>
          </a:p>
        </p:txBody>
      </p:sp>
      <p:sp>
        <p:nvSpPr>
          <p:cNvPr id="9" name="deliverables shadow"/>
          <p:cNvSpPr/>
          <p:nvPr/>
        </p:nvSpPr>
        <p:spPr>
          <a:xfrm>
            <a:off x="7836408" y="1389888"/>
            <a:ext cx="3840480" cy="2377440"/>
          </a:xfrm>
          <a:prstGeom prst="roundRect">
            <a:avLst>
              <a:gd name="adj" fmla="val 12000"/>
            </a:avLst>
          </a:prstGeom>
          <a:solidFill>
            <a:srgbClr val="14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liverables"/>
          <p:cNvSpPr/>
          <p:nvPr/>
        </p:nvSpPr>
        <p:spPr>
          <a:xfrm>
            <a:off x="7772400" y="1325880"/>
            <a:ext cx="3840480" cy="2377440"/>
          </a:xfrm>
          <a:prstGeom prst="roundRect">
            <a:avLst>
              <a:gd name="adj" fmla="val 12000"/>
            </a:avLst>
          </a:prstGeom>
          <a:solidFill>
            <a:srgbClr val="E5DEFE"/>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1389888"/>
            <a:ext cx="3520440" cy="411480"/>
          </a:xfrm>
          <a:prstGeom prst="rect">
            <a:avLst/>
          </a:prstGeom>
          <a:noFill/>
        </p:spPr>
        <p:txBody>
          <a:bodyPr wrap="square" lIns="36576" rIns="36576" tIns="18288" bIns="18288" anchor="t">
            <a:spAutoFit/>
          </a:bodyPr>
          <a:lstStyle/>
          <a:p>
            <a:pPr algn="l">
              <a:spcAft>
                <a:spcPts val="0"/>
              </a:spcAft>
            </a:pPr>
            <a:r>
              <a:rPr sz="1900" b="1" i="0">
                <a:solidFill>
                  <a:srgbClr val="14181A"/>
                </a:solidFill>
                <a:latin typeface="Calibri"/>
              </a:rPr>
              <a:t>Deliverables</a:t>
            </a:r>
          </a:p>
        </p:txBody>
      </p:sp>
      <p:sp>
        <p:nvSpPr>
          <p:cNvPr id="12" name="TextBox 11"/>
          <p:cNvSpPr txBox="1"/>
          <p:nvPr/>
        </p:nvSpPr>
        <p:spPr>
          <a:xfrm>
            <a:off x="7955279" y="1874519"/>
            <a:ext cx="3520440" cy="1828800"/>
          </a:xfrm>
          <a:prstGeom prst="rect">
            <a:avLst/>
          </a:prstGeom>
          <a:noFill/>
        </p:spPr>
        <p:txBody>
          <a:bodyPr wrap="square" lIns="36576" rIns="36576" tIns="18288" bIns="18288" anchor="t">
            <a:spAutoFit/>
          </a:bodyPr>
          <a:lstStyle/>
          <a:p>
            <a:pPr algn="l">
              <a:spcAft>
                <a:spcPts val="800"/>
              </a:spcAft>
            </a:pPr>
            <a:r>
              <a:rPr sz="1600" b="1" i="0">
                <a:solidFill>
                  <a:srgbClr val="14181A"/>
                </a:solidFill>
                <a:latin typeface="Calibri"/>
              </a:rPr>
              <a:t>Report: </a:t>
            </a:r>
            <a:r>
              <a:rPr sz="1600" b="0" i="0">
                <a:solidFill>
                  <a:srgbClr val="14181A"/>
                </a:solidFill>
                <a:latin typeface="Calibri"/>
              </a:rPr>
              <a:t>PDF, Assignment 8</a:t>
            </a:r>
          </a:p>
          <a:p>
            <a:pPr algn="l">
              <a:spcAft>
                <a:spcPts val="800"/>
              </a:spcAft>
            </a:pPr>
            <a:r>
              <a:rPr sz="1600" b="1" i="0">
                <a:solidFill>
                  <a:srgbClr val="14181A"/>
                </a:solidFill>
                <a:latin typeface="Calibri"/>
              </a:rPr>
              <a:t>Deck: </a:t>
            </a:r>
            <a:r>
              <a:rPr sz="1600" b="0" i="0">
                <a:solidFill>
                  <a:srgbClr val="14181A"/>
                </a:solidFill>
                <a:latin typeface="Calibri"/>
              </a:rPr>
              <a:t>this file, Assignment 9</a:t>
            </a:r>
          </a:p>
          <a:p>
            <a:pPr algn="l">
              <a:spcAft>
                <a:spcPts val="800"/>
              </a:spcAft>
            </a:pPr>
            <a:r>
              <a:rPr sz="1600" b="1" i="0">
                <a:solidFill>
                  <a:srgbClr val="14181A"/>
                </a:solidFill>
                <a:latin typeface="Calibri"/>
              </a:rPr>
              <a:t>Code: </a:t>
            </a:r>
            <a:r>
              <a:rPr sz="1600" b="0" i="0">
                <a:solidFill>
                  <a:srgbClr val="14181A"/>
                </a:solidFill>
                <a:latin typeface="Calibri"/>
              </a:rPr>
              <a:t>GitHub repo F2_Team24, Assignment 10</a:t>
            </a:r>
          </a:p>
          <a:p>
            <a:pPr algn="l">
              <a:spcAft>
                <a:spcPts val="800"/>
              </a:spcAft>
            </a:pPr>
            <a:r>
              <a:rPr sz="1100" b="0" i="0">
                <a:solidFill>
                  <a:srgbClr val="14181A"/>
                </a:solidFill>
                <a:latin typeface="Consolas"/>
                <a:hlinkClick r:id="rId3"/>
              </a:rPr>
              <a:t>https://github.com/KrishUsesGit/F2_Team24</a:t>
            </a:r>
          </a:p>
        </p:txBody>
      </p:sp>
      <p:sp>
        <p:nvSpPr>
          <p:cNvPr id="13" name="questions"/>
          <p:cNvSpPr/>
          <p:nvPr/>
        </p:nvSpPr>
        <p:spPr>
          <a:xfrm>
            <a:off x="7772400" y="3931920"/>
            <a:ext cx="3840480" cy="2331720"/>
          </a:xfrm>
          <a:prstGeom prst="roundRect">
            <a:avLst>
              <a:gd name="adj" fmla="val 12000"/>
            </a:avLst>
          </a:prstGeom>
          <a:solidFill>
            <a:srgbClr val="14181A"/>
          </a:solidFill>
          <a:ln w="28575">
            <a:solidFill>
              <a:srgbClr val="141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4023360"/>
            <a:ext cx="3520440" cy="2103120"/>
          </a:xfrm>
          <a:prstGeom prst="rect">
            <a:avLst/>
          </a:prstGeom>
          <a:noFill/>
        </p:spPr>
        <p:txBody>
          <a:bodyPr wrap="square" lIns="36576" rIns="36576" tIns="18288" bIns="18288" anchor="ctr">
            <a:spAutoFit/>
          </a:bodyPr>
          <a:lstStyle/>
          <a:p>
            <a:pPr algn="l">
              <a:spcAft>
                <a:spcPts val="800"/>
              </a:spcAft>
            </a:pPr>
            <a:r>
              <a:rPr sz="3400" b="0" i="0">
                <a:solidFill>
                  <a:srgbClr val="FFFFFF"/>
                </a:solidFill>
                <a:latin typeface="Arial Black"/>
              </a:rPr>
              <a:t>Questions?</a:t>
            </a:r>
          </a:p>
          <a:p>
            <a:pPr algn="l">
              <a:spcAft>
                <a:spcPts val="800"/>
              </a:spcAft>
            </a:pPr>
            <a:r>
              <a:rPr sz="1400" b="0" i="0">
                <a:solidFill>
                  <a:srgbClr val="2FD3E0"/>
                </a:solidFill>
                <a:latin typeface="Consolas"/>
              </a:rPr>
              <a:t>Krish Chirag Shah · 24BCE0624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HOPTRACE: Network Path Fault Localization through Application-to-Hop Correlation</dc:title>
  <dc:subject>BCSE308P Computer Networks Lab, Assignment 9</dc:subject>
  <dc:creator>Krish Chirag Shah</dc:creator>
  <cp:keywords/>
  <dc:description/>
  <cp:lastModifiedBy>Krish Chirag Shah</cp:lastModifiedBy>
  <cp:revision>1</cp:revision>
  <dcterms:created xsi:type="dcterms:W3CDTF">2026-10-27T13:24:56Z</dcterms:created>
  <dcterms:modified xsi:type="dcterms:W3CDTF">2026-10-27T13:24:56Z</dcterms:modified>
  <cp:category/>
</cp:coreProperties>
</file>